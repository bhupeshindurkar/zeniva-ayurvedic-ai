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8" d="100"/>
          <a:sy n="98" d="100"/>
        </p:scale>
        <p:origin x="82"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996338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7.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21.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8.png"/><Relationship Id="rId4" Type="http://schemas.openxmlformats.org/officeDocument/2006/relationships/image" Target="../media/image16.png"/><Relationship Id="rId9" Type="http://schemas.openxmlformats.org/officeDocument/2006/relationships/image" Target="../media/image6.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3.png"/><Relationship Id="rId5" Type="http://schemas.openxmlformats.org/officeDocument/2006/relationships/image" Target="../media/image7.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2E"/>
        </a:solidFill>
        <a:effectLst/>
      </p:bgPr>
    </p:bg>
    <p:spTree>
      <p:nvGrpSpPr>
        <p:cNvPr id="1" name=""/>
        <p:cNvGrpSpPr/>
        <p:nvPr/>
      </p:nvGrpSpPr>
      <p:grpSpPr>
        <a:xfrm>
          <a:off x="0" y="0"/>
          <a:ext cx="0" cy="0"/>
          <a:chOff x="0" y="0"/>
          <a:chExt cx="0" cy="0"/>
        </a:xfrm>
      </p:grpSpPr>
      <p:sp>
        <p:nvSpPr>
          <p:cNvPr id="2" name="Text 0"/>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9FB8AE"/>
                </a:solidFill>
                <a:latin typeface="Calibri" pitchFamily="34" charset="0"/>
                <a:ea typeface="Calibri" pitchFamily="34" charset="-122"/>
                <a:cs typeface="Calibri" pitchFamily="34" charset="-120"/>
              </a:rPr>
              <a:t>ZENIVA | Dept. of Information Technology</a:t>
            </a:r>
            <a:endParaRPr lang="en-US" sz="1000" dirty="0"/>
          </a:p>
        </p:txBody>
      </p:sp>
      <p:sp>
        <p:nvSpPr>
          <p:cNvPr id="3" name="Text 1"/>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9FB8AE"/>
                </a:solidFill>
                <a:latin typeface="Calibri" pitchFamily="34" charset="0"/>
                <a:ea typeface="Calibri" pitchFamily="34" charset="-122"/>
                <a:cs typeface="Calibri" pitchFamily="34" charset="-120"/>
              </a:rPr>
              <a:t>1 / 14</a:t>
            </a:r>
            <a:endParaRPr lang="en-US" sz="1000" dirty="0"/>
          </a:p>
        </p:txBody>
      </p:sp>
      <p:sp>
        <p:nvSpPr>
          <p:cNvPr id="4" name="Text 2"/>
          <p:cNvSpPr txBox="1"/>
          <p:nvPr/>
        </p:nvSpPr>
        <p:spPr>
          <a:xfrm>
            <a:off x="640080" y="457200"/>
            <a:ext cx="7315200" cy="274320"/>
          </a:xfrm>
          <a:prstGeom prst="rect">
            <a:avLst/>
          </a:prstGeom>
          <a:noFill/>
          <a:ln/>
        </p:spPr>
        <p:txBody>
          <a:bodyPr wrap="square" lIns="0" tIns="0" rIns="0" bIns="0" rtlCol="0" anchor="t"/>
          <a:lstStyle/>
          <a:p>
            <a:pPr marL="0" indent="0">
              <a:buNone/>
            </a:pPr>
            <a:r>
              <a:rPr lang="en-US" sz="1200" b="1" kern="0" spc="300" dirty="0">
                <a:solidFill>
                  <a:srgbClr val="C9973B"/>
                </a:solidFill>
                <a:latin typeface="Calibri" pitchFamily="34" charset="0"/>
                <a:ea typeface="Calibri" pitchFamily="34" charset="-122"/>
                <a:cs typeface="Calibri" pitchFamily="34" charset="-120"/>
              </a:rPr>
              <a:t>NAAC ACCREDITED A+ GRADE</a:t>
            </a:r>
            <a:endParaRPr lang="en-US" sz="1200" dirty="0"/>
          </a:p>
        </p:txBody>
      </p:sp>
      <p:sp>
        <p:nvSpPr>
          <p:cNvPr id="5" name="Text 3"/>
          <p:cNvSpPr txBox="1"/>
          <p:nvPr/>
        </p:nvSpPr>
        <p:spPr>
          <a:xfrm>
            <a:off x="640080" y="777240"/>
            <a:ext cx="7680960" cy="82296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Tulsiramji Gaikwad-Patil College of Engineering &amp; Technology</a:t>
            </a:r>
            <a:endParaRPr lang="en-US" sz="2400" dirty="0"/>
          </a:p>
        </p:txBody>
      </p:sp>
      <p:sp>
        <p:nvSpPr>
          <p:cNvPr id="6" name="Text 4"/>
          <p:cNvSpPr txBox="1"/>
          <p:nvPr/>
        </p:nvSpPr>
        <p:spPr>
          <a:xfrm>
            <a:off x="640080" y="1691640"/>
            <a:ext cx="7315200" cy="274320"/>
          </a:xfrm>
          <a:prstGeom prst="rect">
            <a:avLst/>
          </a:prstGeom>
          <a:noFill/>
          <a:ln/>
        </p:spPr>
        <p:txBody>
          <a:bodyPr wrap="square" lIns="0" tIns="0" rIns="0" bIns="0" rtlCol="0" anchor="t"/>
          <a:lstStyle/>
          <a:p>
            <a:pPr marL="0" indent="0">
              <a:buNone/>
            </a:pPr>
            <a:r>
              <a:rPr lang="en-US" sz="1300" dirty="0">
                <a:solidFill>
                  <a:srgbClr val="BBD0C7"/>
                </a:solidFill>
                <a:latin typeface="Calibri" pitchFamily="34" charset="0"/>
                <a:ea typeface="Calibri" pitchFamily="34" charset="-122"/>
                <a:cs typeface="Calibri" pitchFamily="34" charset="-120"/>
              </a:rPr>
              <a:t>Department of Information Technology • (An Autonomous Institute), Nagpur</a:t>
            </a:r>
            <a:endParaRPr lang="en-US" sz="1300" dirty="0"/>
          </a:p>
        </p:txBody>
      </p:sp>
      <p:sp>
        <p:nvSpPr>
          <p:cNvPr id="7" name="Shape 5"/>
          <p:cNvSpPr/>
          <p:nvPr/>
        </p:nvSpPr>
        <p:spPr>
          <a:xfrm>
            <a:off x="640080" y="2377440"/>
            <a:ext cx="731520" cy="731520"/>
          </a:xfrm>
          <a:prstGeom prst="ellipse">
            <a:avLst/>
          </a:prstGeom>
          <a:solidFill>
            <a:srgbClr val="C9973B"/>
          </a:solidFill>
          <a:ln w="12700">
            <a:solidFill>
              <a:srgbClr val="C9973B"/>
            </a:solidFill>
            <a:prstDash val="solid"/>
          </a:ln>
        </p:spPr>
      </p:sp>
      <p:pic>
        <p:nvPicPr>
          <p:cNvPr id="8" name="Image 0" descr="preencoded.png"/>
          <p:cNvPicPr>
            <a:picLocks noChangeAspect="1"/>
          </p:cNvPicPr>
          <p:nvPr/>
        </p:nvPicPr>
        <p:blipFill>
          <a:blip r:embed="rId3"/>
          <a:stretch>
            <a:fillRect/>
          </a:stretch>
        </p:blipFill>
        <p:spPr>
          <a:xfrm>
            <a:off x="837590" y="2574950"/>
            <a:ext cx="336499" cy="336499"/>
          </a:xfrm>
          <a:prstGeom prst="rect">
            <a:avLst/>
          </a:prstGeom>
        </p:spPr>
      </p:pic>
      <p:sp>
        <p:nvSpPr>
          <p:cNvPr id="9" name="Text 6"/>
          <p:cNvSpPr txBox="1"/>
          <p:nvPr/>
        </p:nvSpPr>
        <p:spPr>
          <a:xfrm>
            <a:off x="1554480" y="2331720"/>
            <a:ext cx="5486400" cy="822960"/>
          </a:xfrm>
          <a:prstGeom prst="rect">
            <a:avLst/>
          </a:prstGeom>
          <a:noFill/>
          <a:ln/>
        </p:spPr>
        <p:txBody>
          <a:bodyPr wrap="square" lIns="0" tIns="0" rIns="0" bIns="0" rtlCol="0" anchor="ctr"/>
          <a:lstStyle/>
          <a:p>
            <a:pPr marL="0" indent="0">
              <a:buNone/>
            </a:pPr>
            <a:r>
              <a:rPr lang="en-US" sz="5400" b="1" dirty="0">
                <a:solidFill>
                  <a:srgbClr val="FFFFFF"/>
                </a:solidFill>
                <a:latin typeface="Cambria" pitchFamily="34" charset="0"/>
                <a:ea typeface="Cambria" pitchFamily="34" charset="-122"/>
                <a:cs typeface="Cambria" pitchFamily="34" charset="-120"/>
              </a:rPr>
              <a:t>ZENIVA</a:t>
            </a:r>
            <a:endParaRPr lang="en-US" sz="5400" dirty="0"/>
          </a:p>
        </p:txBody>
      </p:sp>
      <p:sp>
        <p:nvSpPr>
          <p:cNvPr id="10" name="Text 7"/>
          <p:cNvSpPr txBox="1"/>
          <p:nvPr/>
        </p:nvSpPr>
        <p:spPr>
          <a:xfrm>
            <a:off x="640080" y="3474720"/>
            <a:ext cx="6949440" cy="1005840"/>
          </a:xfrm>
          <a:prstGeom prst="rect">
            <a:avLst/>
          </a:prstGeom>
          <a:noFill/>
          <a:ln/>
        </p:spPr>
        <p:txBody>
          <a:bodyPr wrap="square" lIns="0" tIns="0" rIns="0" bIns="0" rtlCol="0" anchor="t"/>
          <a:lstStyle/>
          <a:p>
            <a:pPr marL="0" indent="0">
              <a:buNone/>
            </a:pPr>
            <a:r>
              <a:rPr lang="en-US" sz="1900" dirty="0">
                <a:solidFill>
                  <a:srgbClr val="E6F0EB"/>
                </a:solidFill>
                <a:latin typeface="Calibri" pitchFamily="34" charset="0"/>
                <a:ea typeface="Calibri" pitchFamily="34" charset="-122"/>
                <a:cs typeface="Calibri" pitchFamily="34" charset="-120"/>
              </a:rPr>
              <a:t>A RAG-Enhanced LLM Framework for Personalized Ayurvedic Patient Classification and Doctor–Patient Interaction</a:t>
            </a:r>
            <a:endParaRPr lang="en-US" sz="1900" dirty="0"/>
          </a:p>
        </p:txBody>
      </p:sp>
      <p:sp>
        <p:nvSpPr>
          <p:cNvPr id="11" name="Text 8"/>
          <p:cNvSpPr txBox="1"/>
          <p:nvPr/>
        </p:nvSpPr>
        <p:spPr>
          <a:xfrm>
            <a:off x="640080" y="4754880"/>
            <a:ext cx="7132320" cy="365760"/>
          </a:xfrm>
          <a:prstGeom prst="rect">
            <a:avLst/>
          </a:prstGeom>
          <a:noFill/>
          <a:ln/>
        </p:spPr>
        <p:txBody>
          <a:bodyPr wrap="square" lIns="0" tIns="0" rIns="0" bIns="0" rtlCol="0" anchor="t"/>
          <a:lstStyle/>
          <a:p>
            <a:pPr marL="0" indent="0">
              <a:buNone/>
            </a:pPr>
            <a:r>
              <a:rPr lang="en-US" sz="1300" b="1" dirty="0">
                <a:solidFill>
                  <a:srgbClr val="C9973B"/>
                </a:solidFill>
                <a:latin typeface="Calibri" pitchFamily="34" charset="0"/>
                <a:ea typeface="Calibri" pitchFamily="34" charset="-122"/>
                <a:cs typeface="Calibri" pitchFamily="34" charset="-120"/>
              </a:rPr>
              <a:t>RAG • LLM • NLP • TTS • Hospital ERP &amp; Pharmacy</a:t>
            </a:r>
            <a:endParaRPr lang="en-US" sz="1300" dirty="0"/>
          </a:p>
        </p:txBody>
      </p:sp>
      <p:sp>
        <p:nvSpPr>
          <p:cNvPr id="12" name="Shape 9"/>
          <p:cNvSpPr/>
          <p:nvPr/>
        </p:nvSpPr>
        <p:spPr>
          <a:xfrm>
            <a:off x="8046720" y="1005840"/>
            <a:ext cx="3566160" cy="4846320"/>
          </a:xfrm>
          <a:prstGeom prst="roundRect">
            <a:avLst>
              <a:gd name="adj" fmla="val 2564"/>
            </a:avLst>
          </a:prstGeom>
          <a:solidFill>
            <a:srgbClr val="14594A"/>
          </a:solidFill>
          <a:ln w="12700">
            <a:solidFill>
              <a:srgbClr val="2F7A66"/>
            </a:solidFill>
            <a:prstDash val="solid"/>
          </a:ln>
        </p:spPr>
      </p:sp>
      <p:sp>
        <p:nvSpPr>
          <p:cNvPr id="13" name="Text 10"/>
          <p:cNvSpPr txBox="1"/>
          <p:nvPr/>
        </p:nvSpPr>
        <p:spPr>
          <a:xfrm>
            <a:off x="8321040" y="1234440"/>
            <a:ext cx="3017520" cy="27432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TEAM MEMBERS</a:t>
            </a:r>
            <a:endParaRPr lang="en-US" sz="1100" dirty="0"/>
          </a:p>
        </p:txBody>
      </p:sp>
      <p:sp>
        <p:nvSpPr>
          <p:cNvPr id="14" name="Text 11"/>
          <p:cNvSpPr txBox="1"/>
          <p:nvPr/>
        </p:nvSpPr>
        <p:spPr>
          <a:xfrm>
            <a:off x="8321040" y="1600200"/>
            <a:ext cx="3017520" cy="2011680"/>
          </a:xfrm>
          <a:prstGeom prst="rect">
            <a:avLst/>
          </a:prstGeom>
          <a:noFill/>
          <a:ln/>
        </p:spPr>
        <p:txBody>
          <a:bodyPr wrap="square" lIns="0" tIns="0" rIns="0" bIns="0" rtlCol="0" anchor="t"/>
          <a:lstStyle/>
          <a:p>
            <a:pPr marL="0" indent="0">
              <a:spcAft>
                <a:spcPts val="600"/>
              </a:spcAft>
              <a:buNone/>
            </a:pPr>
            <a:r>
              <a:rPr lang="en-US" sz="1500" dirty="0">
                <a:solidFill>
                  <a:srgbClr val="FFFFFF"/>
                </a:solidFill>
                <a:latin typeface="Calibri" pitchFamily="34" charset="0"/>
                <a:ea typeface="Calibri" pitchFamily="34" charset="-122"/>
                <a:cs typeface="Calibri" pitchFamily="34" charset="-120"/>
              </a:rPr>
              <a:t>Bhupesh Indurkar</a:t>
            </a:r>
            <a:endParaRPr lang="en-US" sz="1500" dirty="0"/>
          </a:p>
          <a:p>
            <a:pPr marL="0" indent="0">
              <a:spcAft>
                <a:spcPts val="600"/>
              </a:spcAft>
              <a:buNone/>
            </a:pPr>
            <a:r>
              <a:rPr lang="en-US" sz="1500" dirty="0">
                <a:solidFill>
                  <a:srgbClr val="FFFFFF"/>
                </a:solidFill>
                <a:latin typeface="Calibri" pitchFamily="34" charset="0"/>
                <a:ea typeface="Calibri" pitchFamily="34" charset="-122"/>
                <a:cs typeface="Calibri" pitchFamily="34" charset="-120"/>
              </a:rPr>
              <a:t>Vivek Rathod</a:t>
            </a:r>
            <a:endParaRPr lang="en-US" sz="1500" dirty="0"/>
          </a:p>
          <a:p>
            <a:pPr marL="0" indent="0">
              <a:spcAft>
                <a:spcPts val="600"/>
              </a:spcAft>
              <a:buNone/>
            </a:pPr>
            <a:r>
              <a:rPr lang="en-US" sz="1500" dirty="0">
                <a:solidFill>
                  <a:srgbClr val="FFFFFF"/>
                </a:solidFill>
                <a:latin typeface="Calibri" pitchFamily="34" charset="0"/>
                <a:ea typeface="Calibri" pitchFamily="34" charset="-122"/>
                <a:cs typeface="Calibri" pitchFamily="34" charset="-120"/>
              </a:rPr>
              <a:t>Dhrup Sonkar</a:t>
            </a:r>
            <a:endParaRPr lang="en-US" sz="1500" dirty="0"/>
          </a:p>
          <a:p>
            <a:pPr marL="0" indent="0">
              <a:spcAft>
                <a:spcPts val="600"/>
              </a:spcAft>
              <a:buNone/>
            </a:pPr>
            <a:r>
              <a:rPr lang="en-US" sz="1500" dirty="0">
                <a:solidFill>
                  <a:srgbClr val="FFFFFF"/>
                </a:solidFill>
                <a:latin typeface="Calibri" pitchFamily="34" charset="0"/>
                <a:ea typeface="Calibri" pitchFamily="34" charset="-122"/>
                <a:cs typeface="Calibri" pitchFamily="34" charset="-120"/>
              </a:rPr>
              <a:t>Momita Lande</a:t>
            </a:r>
            <a:endParaRPr lang="en-US" sz="1500" dirty="0"/>
          </a:p>
          <a:p>
            <a:pPr marL="0" indent="0">
              <a:spcAft>
                <a:spcPts val="600"/>
              </a:spcAft>
              <a:buNone/>
            </a:pPr>
            <a:r>
              <a:rPr lang="en-US" sz="1500" dirty="0">
                <a:solidFill>
                  <a:srgbClr val="FFFFFF"/>
                </a:solidFill>
                <a:latin typeface="Calibri" pitchFamily="34" charset="0"/>
                <a:ea typeface="Calibri" pitchFamily="34" charset="-122"/>
                <a:cs typeface="Calibri" pitchFamily="34" charset="-120"/>
              </a:rPr>
              <a:t>Shreya Satpute</a:t>
            </a:r>
            <a:endParaRPr lang="en-US" sz="1500" dirty="0"/>
          </a:p>
          <a:p>
            <a:pPr marL="0" indent="0">
              <a:spcAft>
                <a:spcPts val="600"/>
              </a:spcAft>
              <a:buNone/>
            </a:pPr>
            <a:r>
              <a:rPr lang="en-US" sz="1500" dirty="0">
                <a:solidFill>
                  <a:srgbClr val="FFFFFF"/>
                </a:solidFill>
                <a:latin typeface="Calibri" pitchFamily="34" charset="0"/>
                <a:ea typeface="Calibri" pitchFamily="34" charset="-122"/>
                <a:cs typeface="Calibri" pitchFamily="34" charset="-120"/>
              </a:rPr>
              <a:t>Sachin Limbule</a:t>
            </a:r>
            <a:endParaRPr lang="en-US" sz="1500" dirty="0"/>
          </a:p>
        </p:txBody>
      </p:sp>
      <p:sp>
        <p:nvSpPr>
          <p:cNvPr id="15" name="Text 12"/>
          <p:cNvSpPr txBox="1"/>
          <p:nvPr/>
        </p:nvSpPr>
        <p:spPr>
          <a:xfrm>
            <a:off x="8321040" y="3840480"/>
            <a:ext cx="3017520" cy="27432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GUIDE</a:t>
            </a:r>
            <a:endParaRPr lang="en-US" sz="1100" dirty="0"/>
          </a:p>
        </p:txBody>
      </p:sp>
      <p:sp>
        <p:nvSpPr>
          <p:cNvPr id="16" name="Text 13"/>
          <p:cNvSpPr txBox="1"/>
          <p:nvPr/>
        </p:nvSpPr>
        <p:spPr>
          <a:xfrm>
            <a:off x="8321040" y="4114800"/>
            <a:ext cx="3017520" cy="3200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Prof. Jayesh Fating</a:t>
            </a:r>
            <a:endParaRPr lang="en-US" sz="1500" dirty="0"/>
          </a:p>
        </p:txBody>
      </p:sp>
      <p:sp>
        <p:nvSpPr>
          <p:cNvPr id="17" name="Text 14"/>
          <p:cNvSpPr txBox="1"/>
          <p:nvPr/>
        </p:nvSpPr>
        <p:spPr>
          <a:xfrm>
            <a:off x="8321040" y="4663440"/>
            <a:ext cx="3017520" cy="27432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PROJECT TYPE</a:t>
            </a:r>
            <a:endParaRPr lang="en-US" sz="1100" dirty="0"/>
          </a:p>
        </p:txBody>
      </p:sp>
      <p:sp>
        <p:nvSpPr>
          <p:cNvPr id="18" name="Text 15"/>
          <p:cNvSpPr txBox="1"/>
          <p:nvPr/>
        </p:nvSpPr>
        <p:spPr>
          <a:xfrm>
            <a:off x="8321040" y="4937760"/>
            <a:ext cx="3017520" cy="320040"/>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Pure Software Research Project</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AGENDA</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Presentation Roadmap</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2 / 14</a:t>
            </a:r>
            <a:endParaRPr lang="en-US" sz="1000" dirty="0"/>
          </a:p>
        </p:txBody>
      </p:sp>
      <p:sp>
        <p:nvSpPr>
          <p:cNvPr id="6" name="Shape 4"/>
          <p:cNvSpPr/>
          <p:nvPr/>
        </p:nvSpPr>
        <p:spPr>
          <a:xfrm>
            <a:off x="548640" y="146304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7" name="Shape 5"/>
          <p:cNvSpPr/>
          <p:nvPr/>
        </p:nvSpPr>
        <p:spPr>
          <a:xfrm>
            <a:off x="713232" y="1581912"/>
            <a:ext cx="402336" cy="402336"/>
          </a:xfrm>
          <a:prstGeom prst="ellipse">
            <a:avLst/>
          </a:prstGeom>
          <a:solidFill>
            <a:srgbClr val="0B3B2E"/>
          </a:solidFill>
          <a:ln w="12700">
            <a:solidFill>
              <a:srgbClr val="0B3B2E"/>
            </a:solidFill>
            <a:prstDash val="solid"/>
          </a:ln>
        </p:spPr>
      </p:sp>
      <p:sp>
        <p:nvSpPr>
          <p:cNvPr id="8" name="Text 6"/>
          <p:cNvSpPr txBox="1"/>
          <p:nvPr/>
        </p:nvSpPr>
        <p:spPr>
          <a:xfrm>
            <a:off x="713232" y="158191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01</a:t>
            </a:r>
            <a:endParaRPr lang="en-US" sz="1200" dirty="0"/>
          </a:p>
        </p:txBody>
      </p:sp>
      <p:sp>
        <p:nvSpPr>
          <p:cNvPr id="9" name="Text 7"/>
          <p:cNvSpPr txBox="1"/>
          <p:nvPr/>
        </p:nvSpPr>
        <p:spPr>
          <a:xfrm>
            <a:off x="1280160" y="146304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Problem Statement</a:t>
            </a:r>
            <a:endParaRPr lang="en-US" sz="1500" dirty="0"/>
          </a:p>
        </p:txBody>
      </p:sp>
      <p:sp>
        <p:nvSpPr>
          <p:cNvPr id="10" name="Shape 8"/>
          <p:cNvSpPr/>
          <p:nvPr/>
        </p:nvSpPr>
        <p:spPr>
          <a:xfrm>
            <a:off x="548640" y="224028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1" name="Shape 9"/>
          <p:cNvSpPr/>
          <p:nvPr/>
        </p:nvSpPr>
        <p:spPr>
          <a:xfrm>
            <a:off x="713232" y="2359152"/>
            <a:ext cx="402336" cy="402336"/>
          </a:xfrm>
          <a:prstGeom prst="ellipse">
            <a:avLst/>
          </a:prstGeom>
          <a:solidFill>
            <a:srgbClr val="0B3B2E"/>
          </a:solidFill>
          <a:ln w="12700">
            <a:solidFill>
              <a:srgbClr val="0B3B2E"/>
            </a:solidFill>
            <a:prstDash val="solid"/>
          </a:ln>
        </p:spPr>
      </p:sp>
      <p:sp>
        <p:nvSpPr>
          <p:cNvPr id="12" name="Text 10"/>
          <p:cNvSpPr txBox="1"/>
          <p:nvPr/>
        </p:nvSpPr>
        <p:spPr>
          <a:xfrm>
            <a:off x="713232" y="235915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13" name="Text 11"/>
          <p:cNvSpPr txBox="1"/>
          <p:nvPr/>
        </p:nvSpPr>
        <p:spPr>
          <a:xfrm>
            <a:off x="1280160" y="224028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Literature Survey &amp; Research Gap</a:t>
            </a:r>
            <a:endParaRPr lang="en-US" sz="1500" dirty="0"/>
          </a:p>
        </p:txBody>
      </p:sp>
      <p:sp>
        <p:nvSpPr>
          <p:cNvPr id="14" name="Shape 12"/>
          <p:cNvSpPr/>
          <p:nvPr/>
        </p:nvSpPr>
        <p:spPr>
          <a:xfrm>
            <a:off x="548640" y="301752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5" name="Shape 13"/>
          <p:cNvSpPr/>
          <p:nvPr/>
        </p:nvSpPr>
        <p:spPr>
          <a:xfrm>
            <a:off x="713232" y="3136392"/>
            <a:ext cx="402336" cy="402336"/>
          </a:xfrm>
          <a:prstGeom prst="ellipse">
            <a:avLst/>
          </a:prstGeom>
          <a:solidFill>
            <a:srgbClr val="0B3B2E"/>
          </a:solidFill>
          <a:ln w="12700">
            <a:solidFill>
              <a:srgbClr val="0B3B2E"/>
            </a:solidFill>
            <a:prstDash val="solid"/>
          </a:ln>
        </p:spPr>
      </p:sp>
      <p:sp>
        <p:nvSpPr>
          <p:cNvPr id="16" name="Text 14"/>
          <p:cNvSpPr txBox="1"/>
          <p:nvPr/>
        </p:nvSpPr>
        <p:spPr>
          <a:xfrm>
            <a:off x="713232" y="313639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17" name="Text 15"/>
          <p:cNvSpPr txBox="1"/>
          <p:nvPr/>
        </p:nvSpPr>
        <p:spPr>
          <a:xfrm>
            <a:off x="1280160" y="301752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Aim &amp; Objectives</a:t>
            </a:r>
            <a:endParaRPr lang="en-US" sz="1500" dirty="0"/>
          </a:p>
        </p:txBody>
      </p:sp>
      <p:sp>
        <p:nvSpPr>
          <p:cNvPr id="18" name="Shape 16"/>
          <p:cNvSpPr/>
          <p:nvPr/>
        </p:nvSpPr>
        <p:spPr>
          <a:xfrm>
            <a:off x="548640" y="379476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9" name="Shape 17"/>
          <p:cNvSpPr/>
          <p:nvPr/>
        </p:nvSpPr>
        <p:spPr>
          <a:xfrm>
            <a:off x="713232" y="3913632"/>
            <a:ext cx="402336" cy="402336"/>
          </a:xfrm>
          <a:prstGeom prst="ellipse">
            <a:avLst/>
          </a:prstGeom>
          <a:solidFill>
            <a:srgbClr val="0B3B2E"/>
          </a:solidFill>
          <a:ln w="12700">
            <a:solidFill>
              <a:srgbClr val="0B3B2E"/>
            </a:solidFill>
            <a:prstDash val="solid"/>
          </a:ln>
        </p:spPr>
      </p:sp>
      <p:sp>
        <p:nvSpPr>
          <p:cNvPr id="20" name="Text 18"/>
          <p:cNvSpPr txBox="1"/>
          <p:nvPr/>
        </p:nvSpPr>
        <p:spPr>
          <a:xfrm>
            <a:off x="713232" y="391363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21" name="Text 19"/>
          <p:cNvSpPr txBox="1"/>
          <p:nvPr/>
        </p:nvSpPr>
        <p:spPr>
          <a:xfrm>
            <a:off x="1280160" y="379476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Proposed System Architecture</a:t>
            </a:r>
            <a:endParaRPr lang="en-US" sz="1500" dirty="0"/>
          </a:p>
        </p:txBody>
      </p:sp>
      <p:sp>
        <p:nvSpPr>
          <p:cNvPr id="22" name="Shape 20"/>
          <p:cNvSpPr/>
          <p:nvPr/>
        </p:nvSpPr>
        <p:spPr>
          <a:xfrm>
            <a:off x="548640" y="457200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3" name="Shape 21"/>
          <p:cNvSpPr/>
          <p:nvPr/>
        </p:nvSpPr>
        <p:spPr>
          <a:xfrm>
            <a:off x="713232" y="4690872"/>
            <a:ext cx="402336" cy="402336"/>
          </a:xfrm>
          <a:prstGeom prst="ellipse">
            <a:avLst/>
          </a:prstGeom>
          <a:solidFill>
            <a:srgbClr val="0B3B2E"/>
          </a:solidFill>
          <a:ln w="12700">
            <a:solidFill>
              <a:srgbClr val="0B3B2E"/>
            </a:solidFill>
            <a:prstDash val="solid"/>
          </a:ln>
        </p:spPr>
      </p:sp>
      <p:sp>
        <p:nvSpPr>
          <p:cNvPr id="24" name="Text 22"/>
          <p:cNvSpPr txBox="1"/>
          <p:nvPr/>
        </p:nvSpPr>
        <p:spPr>
          <a:xfrm>
            <a:off x="713232" y="469087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25" name="Text 23"/>
          <p:cNvSpPr txBox="1"/>
          <p:nvPr/>
        </p:nvSpPr>
        <p:spPr>
          <a:xfrm>
            <a:off x="1280160" y="457200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RAG Working</a:t>
            </a:r>
            <a:endParaRPr lang="en-US" sz="1500" dirty="0"/>
          </a:p>
        </p:txBody>
      </p:sp>
      <p:sp>
        <p:nvSpPr>
          <p:cNvPr id="26" name="Shape 24"/>
          <p:cNvSpPr/>
          <p:nvPr/>
        </p:nvSpPr>
        <p:spPr>
          <a:xfrm>
            <a:off x="548640" y="5349240"/>
            <a:ext cx="5440680" cy="640080"/>
          </a:xfrm>
          <a:prstGeom prst="roundRect">
            <a:avLst>
              <a:gd name="adj" fmla="val 11429"/>
            </a:avLst>
          </a:prstGeom>
          <a:solidFill>
            <a:srgbClr val="FBF3E3"/>
          </a:solidFill>
          <a:ln w="9525">
            <a:solidFill>
              <a:srgbClr val="DDE5E1"/>
            </a:solidFill>
            <a:prstDash val="solid"/>
          </a:ln>
          <a:effectLst>
            <a:outerShdw blurRad="101600" dist="25400" dir="5400000" algn="bl" rotWithShape="0">
              <a:srgbClr val="000000">
                <a:alpha val="8000"/>
              </a:srgbClr>
            </a:outerShdw>
          </a:effectLst>
        </p:spPr>
      </p:sp>
      <p:sp>
        <p:nvSpPr>
          <p:cNvPr id="27" name="Shape 25"/>
          <p:cNvSpPr/>
          <p:nvPr/>
        </p:nvSpPr>
        <p:spPr>
          <a:xfrm>
            <a:off x="713232" y="5468112"/>
            <a:ext cx="402336" cy="402336"/>
          </a:xfrm>
          <a:prstGeom prst="ellipse">
            <a:avLst/>
          </a:prstGeom>
          <a:solidFill>
            <a:srgbClr val="C9973B"/>
          </a:solidFill>
          <a:ln w="12700">
            <a:solidFill>
              <a:srgbClr val="C9973B"/>
            </a:solidFill>
            <a:prstDash val="solid"/>
          </a:ln>
        </p:spPr>
      </p:sp>
      <p:sp>
        <p:nvSpPr>
          <p:cNvPr id="28" name="Text 26"/>
          <p:cNvSpPr txBox="1"/>
          <p:nvPr/>
        </p:nvSpPr>
        <p:spPr>
          <a:xfrm>
            <a:off x="713232" y="546811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29" name="Text 27"/>
          <p:cNvSpPr txBox="1"/>
          <p:nvPr/>
        </p:nvSpPr>
        <p:spPr>
          <a:xfrm>
            <a:off x="1280160" y="5349240"/>
            <a:ext cx="4572000" cy="640080"/>
          </a:xfrm>
          <a:prstGeom prst="rect">
            <a:avLst/>
          </a:prstGeom>
          <a:noFill/>
          <a:ln/>
        </p:spPr>
        <p:txBody>
          <a:bodyPr wrap="square" lIns="0" tIns="0" rIns="0" bIns="0" rtlCol="0" anchor="ctr"/>
          <a:lstStyle/>
          <a:p>
            <a:pPr marL="0" indent="0">
              <a:buNone/>
            </a:pPr>
            <a:r>
              <a:rPr lang="en-US" sz="1500" b="1" dirty="0">
                <a:solidFill>
                  <a:srgbClr val="1F2A27"/>
                </a:solidFill>
                <a:latin typeface="Calibri" pitchFamily="34" charset="0"/>
                <a:ea typeface="Calibri" pitchFamily="34" charset="-122"/>
                <a:cs typeface="Calibri" pitchFamily="34" charset="-120"/>
              </a:rPr>
              <a:t>Doctor Portal: Hospital ERP &amp; Pharmacy</a:t>
            </a:r>
            <a:endParaRPr lang="en-US" sz="1500" dirty="0"/>
          </a:p>
        </p:txBody>
      </p:sp>
      <p:sp>
        <p:nvSpPr>
          <p:cNvPr id="30" name="Shape 28"/>
          <p:cNvSpPr/>
          <p:nvPr/>
        </p:nvSpPr>
        <p:spPr>
          <a:xfrm>
            <a:off x="6172200" y="146304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1" name="Shape 29"/>
          <p:cNvSpPr/>
          <p:nvPr/>
        </p:nvSpPr>
        <p:spPr>
          <a:xfrm>
            <a:off x="6336792" y="1581912"/>
            <a:ext cx="402336" cy="402336"/>
          </a:xfrm>
          <a:prstGeom prst="ellipse">
            <a:avLst/>
          </a:prstGeom>
          <a:solidFill>
            <a:srgbClr val="0B3B2E"/>
          </a:solidFill>
          <a:ln w="12700">
            <a:solidFill>
              <a:srgbClr val="0B3B2E"/>
            </a:solidFill>
            <a:prstDash val="solid"/>
          </a:ln>
        </p:spPr>
      </p:sp>
      <p:sp>
        <p:nvSpPr>
          <p:cNvPr id="32" name="Text 30"/>
          <p:cNvSpPr txBox="1"/>
          <p:nvPr/>
        </p:nvSpPr>
        <p:spPr>
          <a:xfrm>
            <a:off x="6336792" y="158191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33" name="Text 31"/>
          <p:cNvSpPr txBox="1"/>
          <p:nvPr/>
        </p:nvSpPr>
        <p:spPr>
          <a:xfrm>
            <a:off x="6903720" y="146304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Comparative Analysis &amp; Software Stack</a:t>
            </a:r>
            <a:endParaRPr lang="en-US" sz="1500" dirty="0"/>
          </a:p>
        </p:txBody>
      </p:sp>
      <p:sp>
        <p:nvSpPr>
          <p:cNvPr id="34" name="Shape 32"/>
          <p:cNvSpPr/>
          <p:nvPr/>
        </p:nvSpPr>
        <p:spPr>
          <a:xfrm>
            <a:off x="6172200" y="224028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5" name="Shape 33"/>
          <p:cNvSpPr/>
          <p:nvPr/>
        </p:nvSpPr>
        <p:spPr>
          <a:xfrm>
            <a:off x="6336792" y="2359152"/>
            <a:ext cx="402336" cy="402336"/>
          </a:xfrm>
          <a:prstGeom prst="ellipse">
            <a:avLst/>
          </a:prstGeom>
          <a:solidFill>
            <a:srgbClr val="0B3B2E"/>
          </a:solidFill>
          <a:ln w="12700">
            <a:solidFill>
              <a:srgbClr val="0B3B2E"/>
            </a:solidFill>
            <a:prstDash val="solid"/>
          </a:ln>
        </p:spPr>
      </p:sp>
      <p:sp>
        <p:nvSpPr>
          <p:cNvPr id="36" name="Text 34"/>
          <p:cNvSpPr txBox="1"/>
          <p:nvPr/>
        </p:nvSpPr>
        <p:spPr>
          <a:xfrm>
            <a:off x="6336792" y="235915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37" name="Text 35"/>
          <p:cNvSpPr txBox="1"/>
          <p:nvPr/>
        </p:nvSpPr>
        <p:spPr>
          <a:xfrm>
            <a:off x="6903720" y="224028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Expected Outcomes</a:t>
            </a:r>
            <a:endParaRPr lang="en-US" sz="1500" dirty="0"/>
          </a:p>
        </p:txBody>
      </p:sp>
      <p:sp>
        <p:nvSpPr>
          <p:cNvPr id="38" name="Shape 36"/>
          <p:cNvSpPr/>
          <p:nvPr/>
        </p:nvSpPr>
        <p:spPr>
          <a:xfrm>
            <a:off x="6172200" y="301752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9" name="Shape 37"/>
          <p:cNvSpPr/>
          <p:nvPr/>
        </p:nvSpPr>
        <p:spPr>
          <a:xfrm>
            <a:off x="6336792" y="3136392"/>
            <a:ext cx="402336" cy="402336"/>
          </a:xfrm>
          <a:prstGeom prst="ellipse">
            <a:avLst/>
          </a:prstGeom>
          <a:solidFill>
            <a:srgbClr val="0B3B2E"/>
          </a:solidFill>
          <a:ln w="12700">
            <a:solidFill>
              <a:srgbClr val="0B3B2E"/>
            </a:solidFill>
            <a:prstDash val="solid"/>
          </a:ln>
        </p:spPr>
      </p:sp>
      <p:sp>
        <p:nvSpPr>
          <p:cNvPr id="40" name="Text 38"/>
          <p:cNvSpPr txBox="1"/>
          <p:nvPr/>
        </p:nvSpPr>
        <p:spPr>
          <a:xfrm>
            <a:off x="6336792" y="313639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41" name="Text 39"/>
          <p:cNvSpPr txBox="1"/>
          <p:nvPr/>
        </p:nvSpPr>
        <p:spPr>
          <a:xfrm>
            <a:off x="6903720" y="301752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Implementation Timeline</a:t>
            </a:r>
            <a:endParaRPr lang="en-US" sz="1500" dirty="0"/>
          </a:p>
        </p:txBody>
      </p:sp>
      <p:sp>
        <p:nvSpPr>
          <p:cNvPr id="42" name="Shape 40"/>
          <p:cNvSpPr/>
          <p:nvPr/>
        </p:nvSpPr>
        <p:spPr>
          <a:xfrm>
            <a:off x="6172200" y="379476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43" name="Shape 41"/>
          <p:cNvSpPr/>
          <p:nvPr/>
        </p:nvSpPr>
        <p:spPr>
          <a:xfrm>
            <a:off x="6336792" y="3913632"/>
            <a:ext cx="402336" cy="402336"/>
          </a:xfrm>
          <a:prstGeom prst="ellipse">
            <a:avLst/>
          </a:prstGeom>
          <a:solidFill>
            <a:srgbClr val="0B3B2E"/>
          </a:solidFill>
          <a:ln w="12700">
            <a:solidFill>
              <a:srgbClr val="0B3B2E"/>
            </a:solidFill>
            <a:prstDash val="solid"/>
          </a:ln>
        </p:spPr>
      </p:sp>
      <p:sp>
        <p:nvSpPr>
          <p:cNvPr id="44" name="Text 42"/>
          <p:cNvSpPr txBox="1"/>
          <p:nvPr/>
        </p:nvSpPr>
        <p:spPr>
          <a:xfrm>
            <a:off x="6336792" y="391363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5" name="Text 43"/>
          <p:cNvSpPr txBox="1"/>
          <p:nvPr/>
        </p:nvSpPr>
        <p:spPr>
          <a:xfrm>
            <a:off x="6903720" y="379476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Conclusion &amp; Future Scope</a:t>
            </a:r>
            <a:endParaRPr lang="en-US" sz="1500" dirty="0"/>
          </a:p>
        </p:txBody>
      </p:sp>
      <p:sp>
        <p:nvSpPr>
          <p:cNvPr id="46" name="Shape 44"/>
          <p:cNvSpPr/>
          <p:nvPr/>
        </p:nvSpPr>
        <p:spPr>
          <a:xfrm>
            <a:off x="6172200" y="4572000"/>
            <a:ext cx="5440680" cy="640080"/>
          </a:xfrm>
          <a:prstGeom prst="roundRect">
            <a:avLst>
              <a:gd name="adj" fmla="val 1142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47" name="Shape 45"/>
          <p:cNvSpPr/>
          <p:nvPr/>
        </p:nvSpPr>
        <p:spPr>
          <a:xfrm>
            <a:off x="6336792" y="4690872"/>
            <a:ext cx="402336" cy="402336"/>
          </a:xfrm>
          <a:prstGeom prst="ellipse">
            <a:avLst/>
          </a:prstGeom>
          <a:solidFill>
            <a:srgbClr val="0B3B2E"/>
          </a:solidFill>
          <a:ln w="12700">
            <a:solidFill>
              <a:srgbClr val="0B3B2E"/>
            </a:solidFill>
            <a:prstDash val="solid"/>
          </a:ln>
        </p:spPr>
      </p:sp>
      <p:sp>
        <p:nvSpPr>
          <p:cNvPr id="48" name="Text 46"/>
          <p:cNvSpPr txBox="1"/>
          <p:nvPr/>
        </p:nvSpPr>
        <p:spPr>
          <a:xfrm>
            <a:off x="6336792" y="4690872"/>
            <a:ext cx="402336" cy="40233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9" name="Text 47"/>
          <p:cNvSpPr txBox="1"/>
          <p:nvPr/>
        </p:nvSpPr>
        <p:spPr>
          <a:xfrm>
            <a:off x="6903720" y="4572000"/>
            <a:ext cx="4572000" cy="6400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Our Idea — Visualization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THE CHALLENGE</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Problem Statement</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3 / 14</a:t>
            </a:r>
            <a:endParaRPr lang="en-US" sz="1000" dirty="0"/>
          </a:p>
        </p:txBody>
      </p:sp>
      <p:sp>
        <p:nvSpPr>
          <p:cNvPr id="6" name="Shape 4"/>
          <p:cNvSpPr/>
          <p:nvPr/>
        </p:nvSpPr>
        <p:spPr>
          <a:xfrm>
            <a:off x="548640" y="1463040"/>
            <a:ext cx="3657600" cy="4663440"/>
          </a:xfrm>
          <a:prstGeom prst="roundRect">
            <a:avLst>
              <a:gd name="adj" fmla="val 2000"/>
            </a:avLst>
          </a:prstGeom>
          <a:solidFill>
            <a:srgbClr val="0B3B2E"/>
          </a:solidFill>
          <a:ln w="12700">
            <a:solidFill>
              <a:srgbClr val="0B3B2E"/>
            </a:solidFill>
            <a:prstDash val="solid"/>
          </a:ln>
        </p:spPr>
      </p:sp>
      <p:sp>
        <p:nvSpPr>
          <p:cNvPr id="7" name="Shape 5"/>
          <p:cNvSpPr/>
          <p:nvPr/>
        </p:nvSpPr>
        <p:spPr>
          <a:xfrm>
            <a:off x="822960" y="1783080"/>
            <a:ext cx="548640" cy="548640"/>
          </a:xfrm>
          <a:prstGeom prst="ellipse">
            <a:avLst/>
          </a:prstGeom>
          <a:solidFill>
            <a:srgbClr val="14594A"/>
          </a:solidFill>
          <a:ln w="12700">
            <a:solidFill>
              <a:srgbClr val="14594A"/>
            </a:solidFill>
            <a:prstDash val="solid"/>
          </a:ln>
        </p:spPr>
      </p:sp>
      <p:pic>
        <p:nvPicPr>
          <p:cNvPr id="8" name="Image 0" descr="preencoded.png"/>
          <p:cNvPicPr>
            <a:picLocks noChangeAspect="1"/>
          </p:cNvPicPr>
          <p:nvPr/>
        </p:nvPicPr>
        <p:blipFill>
          <a:blip r:embed="rId3"/>
          <a:stretch>
            <a:fillRect/>
          </a:stretch>
        </p:blipFill>
        <p:spPr>
          <a:xfrm>
            <a:off x="971093" y="1931213"/>
            <a:ext cx="252374" cy="252374"/>
          </a:xfrm>
          <a:prstGeom prst="rect">
            <a:avLst/>
          </a:prstGeom>
        </p:spPr>
      </p:pic>
      <p:sp>
        <p:nvSpPr>
          <p:cNvPr id="9" name="Text 6"/>
          <p:cNvSpPr txBox="1"/>
          <p:nvPr/>
        </p:nvSpPr>
        <p:spPr>
          <a:xfrm>
            <a:off x="1554480" y="1783080"/>
            <a:ext cx="24688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Generic, poorly contextualized information</a:t>
            </a:r>
            <a:endParaRPr lang="en-US" sz="1400" dirty="0"/>
          </a:p>
        </p:txBody>
      </p:sp>
      <p:sp>
        <p:nvSpPr>
          <p:cNvPr id="10" name="Shape 7"/>
          <p:cNvSpPr/>
          <p:nvPr/>
        </p:nvSpPr>
        <p:spPr>
          <a:xfrm>
            <a:off x="822960" y="2834640"/>
            <a:ext cx="548640" cy="548640"/>
          </a:xfrm>
          <a:prstGeom prst="ellipse">
            <a:avLst/>
          </a:prstGeom>
          <a:solidFill>
            <a:srgbClr val="14594A"/>
          </a:solidFill>
          <a:ln w="12700">
            <a:solidFill>
              <a:srgbClr val="14594A"/>
            </a:solidFill>
            <a:prstDash val="solid"/>
          </a:ln>
        </p:spPr>
      </p:sp>
      <p:pic>
        <p:nvPicPr>
          <p:cNvPr id="11" name="Image 1" descr="preencoded.png"/>
          <p:cNvPicPr>
            <a:picLocks noChangeAspect="1"/>
          </p:cNvPicPr>
          <p:nvPr/>
        </p:nvPicPr>
        <p:blipFill>
          <a:blip r:embed="rId4"/>
          <a:stretch>
            <a:fillRect/>
          </a:stretch>
        </p:blipFill>
        <p:spPr>
          <a:xfrm>
            <a:off x="971093" y="2982773"/>
            <a:ext cx="252374" cy="252374"/>
          </a:xfrm>
          <a:prstGeom prst="rect">
            <a:avLst/>
          </a:prstGeom>
        </p:spPr>
      </p:pic>
      <p:sp>
        <p:nvSpPr>
          <p:cNvPr id="12" name="Text 8"/>
          <p:cNvSpPr txBox="1"/>
          <p:nvPr/>
        </p:nvSpPr>
        <p:spPr>
          <a:xfrm>
            <a:off x="1554480" y="2834640"/>
            <a:ext cx="24688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Specialized Ayurvedic terminology</a:t>
            </a:r>
            <a:endParaRPr lang="en-US" sz="1400" dirty="0"/>
          </a:p>
        </p:txBody>
      </p:sp>
      <p:sp>
        <p:nvSpPr>
          <p:cNvPr id="13" name="Shape 9"/>
          <p:cNvSpPr/>
          <p:nvPr/>
        </p:nvSpPr>
        <p:spPr>
          <a:xfrm>
            <a:off x="822960" y="3886200"/>
            <a:ext cx="548640" cy="548640"/>
          </a:xfrm>
          <a:prstGeom prst="ellipse">
            <a:avLst/>
          </a:prstGeom>
          <a:solidFill>
            <a:srgbClr val="14594A"/>
          </a:solidFill>
          <a:ln w="12700">
            <a:solidFill>
              <a:srgbClr val="14594A"/>
            </a:solidFill>
            <a:prstDash val="solid"/>
          </a:ln>
        </p:spPr>
      </p:sp>
      <p:pic>
        <p:nvPicPr>
          <p:cNvPr id="14" name="Image 2" descr="preencoded.png"/>
          <p:cNvPicPr>
            <a:picLocks noChangeAspect="1"/>
          </p:cNvPicPr>
          <p:nvPr/>
        </p:nvPicPr>
        <p:blipFill>
          <a:blip r:embed="rId5"/>
          <a:stretch>
            <a:fillRect/>
          </a:stretch>
        </p:blipFill>
        <p:spPr>
          <a:xfrm>
            <a:off x="971093" y="4034333"/>
            <a:ext cx="252374" cy="252374"/>
          </a:xfrm>
          <a:prstGeom prst="rect">
            <a:avLst/>
          </a:prstGeom>
        </p:spPr>
      </p:pic>
      <p:sp>
        <p:nvSpPr>
          <p:cNvPr id="15" name="Text 10"/>
          <p:cNvSpPr txBox="1"/>
          <p:nvPr/>
        </p:nvSpPr>
        <p:spPr>
          <a:xfrm>
            <a:off x="1554480" y="3886200"/>
            <a:ext cx="24688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Hard to find a qualified practitioner</a:t>
            </a:r>
            <a:endParaRPr lang="en-US" sz="1400" dirty="0"/>
          </a:p>
        </p:txBody>
      </p:sp>
      <p:sp>
        <p:nvSpPr>
          <p:cNvPr id="16" name="Shape 11"/>
          <p:cNvSpPr/>
          <p:nvPr/>
        </p:nvSpPr>
        <p:spPr>
          <a:xfrm>
            <a:off x="822960" y="4937760"/>
            <a:ext cx="548640" cy="548640"/>
          </a:xfrm>
          <a:prstGeom prst="ellipse">
            <a:avLst/>
          </a:prstGeom>
          <a:solidFill>
            <a:srgbClr val="14594A"/>
          </a:solidFill>
          <a:ln w="12700">
            <a:solidFill>
              <a:srgbClr val="14594A"/>
            </a:solidFill>
            <a:prstDash val="solid"/>
          </a:ln>
        </p:spPr>
      </p:sp>
      <p:pic>
        <p:nvPicPr>
          <p:cNvPr id="17" name="Image 3" descr="preencoded.png"/>
          <p:cNvPicPr>
            <a:picLocks noChangeAspect="1"/>
          </p:cNvPicPr>
          <p:nvPr/>
        </p:nvPicPr>
        <p:blipFill>
          <a:blip r:embed="rId6"/>
          <a:stretch>
            <a:fillRect/>
          </a:stretch>
        </p:blipFill>
        <p:spPr>
          <a:xfrm>
            <a:off x="971093" y="5085893"/>
            <a:ext cx="252374" cy="252374"/>
          </a:xfrm>
          <a:prstGeom prst="rect">
            <a:avLst/>
          </a:prstGeom>
        </p:spPr>
      </p:pic>
      <p:sp>
        <p:nvSpPr>
          <p:cNvPr id="18" name="Text 12"/>
          <p:cNvSpPr txBox="1"/>
          <p:nvPr/>
        </p:nvSpPr>
        <p:spPr>
          <a:xfrm>
            <a:off x="1554480" y="4937760"/>
            <a:ext cx="2468880" cy="54864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Text-only interaction limits listeners</a:t>
            </a:r>
            <a:endParaRPr lang="en-US" sz="1400" dirty="0"/>
          </a:p>
        </p:txBody>
      </p:sp>
      <p:sp>
        <p:nvSpPr>
          <p:cNvPr id="19" name="Shape 13"/>
          <p:cNvSpPr/>
          <p:nvPr/>
        </p:nvSpPr>
        <p:spPr>
          <a:xfrm>
            <a:off x="4480560" y="1463040"/>
            <a:ext cx="7132320" cy="1783080"/>
          </a:xfrm>
          <a:prstGeom prst="roundRect">
            <a:avLst>
              <a:gd name="adj" fmla="val 4103"/>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0" name="Shape 14"/>
          <p:cNvSpPr/>
          <p:nvPr/>
        </p:nvSpPr>
        <p:spPr>
          <a:xfrm>
            <a:off x="4480560" y="3383280"/>
            <a:ext cx="7132320" cy="1783080"/>
          </a:xfrm>
          <a:prstGeom prst="roundRect">
            <a:avLst>
              <a:gd name="adj" fmla="val 4103"/>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1" name="Text 15"/>
          <p:cNvSpPr txBox="1"/>
          <p:nvPr/>
        </p:nvSpPr>
        <p:spPr>
          <a:xfrm>
            <a:off x="4709160" y="1600200"/>
            <a:ext cx="6675120" cy="15544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Patients often search for health information using natural language but may receive generic or poorly contextualized information. Ayurvedic knowledge can contain specialized terminology requiring careful explanation, and users may have difficulty finding a suitable qualified practitioner. Text-only interaction can also be less convenient for users who prefer listening.</a:t>
            </a:r>
            <a:endParaRPr lang="en-US" sz="1500" dirty="0"/>
          </a:p>
        </p:txBody>
      </p:sp>
      <p:sp>
        <p:nvSpPr>
          <p:cNvPr id="22" name="Text 16"/>
          <p:cNvSpPr txBox="1"/>
          <p:nvPr/>
        </p:nvSpPr>
        <p:spPr>
          <a:xfrm>
            <a:off x="4709160" y="3520440"/>
            <a:ext cx="6675120" cy="1554480"/>
          </a:xfrm>
          <a:prstGeom prst="rect">
            <a:avLst/>
          </a:prstGeom>
          <a:noFill/>
          <a:ln/>
        </p:spPr>
        <p:txBody>
          <a:bodyPr wrap="square" lIns="0" tIns="0" rIns="0" bIns="0" rtlCol="0" anchor="ctr"/>
          <a:lstStyle/>
          <a:p>
            <a:pPr marL="0" indent="0">
              <a:buNone/>
            </a:pPr>
            <a:r>
              <a:rPr lang="en-US" sz="1500" dirty="0">
                <a:solidFill>
                  <a:srgbClr val="1F2A27"/>
                </a:solidFill>
                <a:latin typeface="Calibri" pitchFamily="34" charset="0"/>
                <a:ea typeface="Calibri" pitchFamily="34" charset="-122"/>
                <a:cs typeface="Calibri" pitchFamily="34" charset="-120"/>
              </a:rPr>
              <a:t>Zeniva addresses these issues by combining symptom understanding, preliminary classification, RAG-based knowledge retrieval, personalized guidance, TTS output and doctor recommendation in one software platform. Security is required to protect patient information against interception, unauthorized access and inappropriate disclosure.</a:t>
            </a:r>
            <a:endParaRPr lang="en-US" sz="1500" dirty="0"/>
          </a:p>
        </p:txBody>
      </p:sp>
      <p:sp>
        <p:nvSpPr>
          <p:cNvPr id="23" name="Shape 17"/>
          <p:cNvSpPr/>
          <p:nvPr/>
        </p:nvSpPr>
        <p:spPr>
          <a:xfrm>
            <a:off x="4480560" y="5303520"/>
            <a:ext cx="7132320" cy="822960"/>
          </a:xfrm>
          <a:prstGeom prst="roundRect">
            <a:avLst>
              <a:gd name="adj" fmla="val 8889"/>
            </a:avLst>
          </a:prstGeom>
          <a:solidFill>
            <a:srgbClr val="FBF3E3"/>
          </a:solidFill>
          <a:ln w="9525">
            <a:solidFill>
              <a:srgbClr val="C9973B"/>
            </a:solidFill>
            <a:prstDash val="solid"/>
          </a:ln>
        </p:spPr>
      </p:sp>
      <p:sp>
        <p:nvSpPr>
          <p:cNvPr id="24" name="Shape 18"/>
          <p:cNvSpPr/>
          <p:nvPr/>
        </p:nvSpPr>
        <p:spPr>
          <a:xfrm>
            <a:off x="4617720" y="5440680"/>
            <a:ext cx="548640" cy="548640"/>
          </a:xfrm>
          <a:prstGeom prst="ellipse">
            <a:avLst/>
          </a:prstGeom>
          <a:solidFill>
            <a:srgbClr val="C9973B"/>
          </a:solidFill>
          <a:ln w="12700">
            <a:solidFill>
              <a:srgbClr val="C9973B"/>
            </a:solidFill>
            <a:prstDash val="solid"/>
          </a:ln>
        </p:spPr>
      </p:sp>
      <p:pic>
        <p:nvPicPr>
          <p:cNvPr id="25" name="Image 4" descr="preencoded.png"/>
          <p:cNvPicPr>
            <a:picLocks noChangeAspect="1"/>
          </p:cNvPicPr>
          <p:nvPr/>
        </p:nvPicPr>
        <p:blipFill>
          <a:blip r:embed="rId7"/>
          <a:stretch>
            <a:fillRect/>
          </a:stretch>
        </p:blipFill>
        <p:spPr>
          <a:xfrm>
            <a:off x="4765853" y="5588813"/>
            <a:ext cx="252374" cy="252374"/>
          </a:xfrm>
          <a:prstGeom prst="rect">
            <a:avLst/>
          </a:prstGeom>
        </p:spPr>
      </p:pic>
      <p:sp>
        <p:nvSpPr>
          <p:cNvPr id="26" name="Text 19"/>
          <p:cNvSpPr txBox="1"/>
          <p:nvPr/>
        </p:nvSpPr>
        <p:spPr>
          <a:xfrm>
            <a:off x="5349240" y="5303520"/>
            <a:ext cx="6126480" cy="822960"/>
          </a:xfrm>
          <a:prstGeom prst="rect">
            <a:avLst/>
          </a:prstGeom>
          <a:noFill/>
          <a:ln/>
        </p:spPr>
        <p:txBody>
          <a:bodyPr wrap="square" lIns="0" tIns="0" rIns="0" bIns="0" rtlCol="0" anchor="ctr"/>
          <a:lstStyle/>
          <a:p>
            <a:pPr marL="0" indent="0">
              <a:buNone/>
            </a:pPr>
            <a:r>
              <a:rPr lang="en-US" sz="1350" b="1" dirty="0">
                <a:solidFill>
                  <a:srgbClr val="0B3B2E"/>
                </a:solidFill>
                <a:latin typeface="Calibri" pitchFamily="34" charset="0"/>
                <a:ea typeface="Calibri" pitchFamily="34" charset="-122"/>
                <a:cs typeface="Calibri" pitchFamily="34" charset="-120"/>
              </a:rPr>
              <a:t>Practitioner tools: </a:t>
            </a:r>
            <a:r>
              <a:rPr lang="en-US" sz="1350" dirty="0">
                <a:solidFill>
                  <a:srgbClr val="1F2A27"/>
                </a:solidFill>
                <a:latin typeface="Calibri" pitchFamily="34" charset="0"/>
                <a:ea typeface="Calibri" pitchFamily="34" charset="-122"/>
                <a:cs typeface="Calibri" pitchFamily="34" charset="-120"/>
              </a:rPr>
              <a:t>the Doctor Portal adds a Hospital ERP &amp; Pharmacy to manage patients, prescriptions and dispensing.</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PRIOR WORK</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Literature Survey &amp; Research Gap</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4 / 14</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28600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gridCol w="3383280">
                  <a:extLst>
                    <a:ext uri="{9D8B030D-6E8A-4147-A177-3AD203B41FA5}">
                      <a16:colId xmlns:a16="http://schemas.microsoft.com/office/drawing/2014/main" val="20003"/>
                    </a:ext>
                  </a:extLst>
                </a:gridCol>
              </a:tblGrid>
              <a:tr h="45720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Source</a:t>
                      </a:r>
                      <a:endParaRPr lang="en-US" sz="12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Focus</a:t>
                      </a:r>
                      <a:endParaRPr lang="en-US" sz="12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Contribution</a:t>
                      </a:r>
                      <a:endParaRPr lang="en-US" sz="12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Limitation / Gap</a:t>
                      </a:r>
                      <a:endParaRPr lang="en-US" sz="12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extLst>
                  <a:ext uri="{0D108BD9-81ED-4DB2-BD59-A6C34878D82A}">
                    <a16:rowId xmlns:a16="http://schemas.microsoft.com/office/drawing/2014/main" val="10000"/>
                  </a:ext>
                </a:extLst>
              </a:tr>
              <a:tr h="457200">
                <a:tc>
                  <a:txBody>
                    <a:bodyPr/>
                    <a:lstStyle/>
                    <a:p>
                      <a:pPr marL="0" indent="0">
                        <a:buNone/>
                      </a:pPr>
                      <a:r>
                        <a:rPr lang="en-US" sz="1100" b="1" dirty="0">
                          <a:solidFill>
                            <a:srgbClr val="0B3B2E"/>
                          </a:solidFill>
                          <a:latin typeface="Calibri" pitchFamily="34" charset="0"/>
                          <a:ea typeface="Calibri" pitchFamily="34" charset="-122"/>
                          <a:cs typeface="Calibri" pitchFamily="34" charset="-120"/>
                        </a:rPr>
                        <a:t>Lewis et al., NeurIPS 2020</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Retrieval-Augmented Generation</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Shows grounding LLM output in retrieved documents reduces hallucination</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Not applied to a domain-specific, Ayurvedic healthcare setting</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00" b="1" dirty="0">
                          <a:solidFill>
                            <a:srgbClr val="0B3B2E"/>
                          </a:solidFill>
                          <a:latin typeface="Calibri" pitchFamily="34" charset="0"/>
                          <a:ea typeface="Calibri" pitchFamily="34" charset="-122"/>
                          <a:cs typeface="Calibri" pitchFamily="34" charset="-120"/>
                        </a:rPr>
                        <a:t>Vaswani et al., NeurIPS 2017</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Transformer architecture</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Foundational attention-based model underlying modern LLMs</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General-purpose; no healthcare, RAG or security framing</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extLst>
                  <a:ext uri="{0D108BD9-81ED-4DB2-BD59-A6C34878D82A}">
                    <a16:rowId xmlns:a16="http://schemas.microsoft.com/office/drawing/2014/main" val="10002"/>
                  </a:ext>
                </a:extLst>
              </a:tr>
              <a:tr h="457200">
                <a:tc>
                  <a:txBody>
                    <a:bodyPr/>
                    <a:lstStyle/>
                    <a:p>
                      <a:pPr marL="0" indent="0">
                        <a:buNone/>
                      </a:pPr>
                      <a:r>
                        <a:rPr lang="en-US" sz="1100" b="1" dirty="0">
                          <a:solidFill>
                            <a:srgbClr val="0B3B2E"/>
                          </a:solidFill>
                          <a:latin typeface="Calibri" pitchFamily="34" charset="0"/>
                          <a:ea typeface="Calibri" pitchFamily="34" charset="-122"/>
                          <a:cs typeface="Calibri" pitchFamily="34" charset="-120"/>
                        </a:rPr>
                        <a:t>OWASP TLS Cheat Sheet</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Transport-layer security</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Defines secure TLS configuration practices for web/API traffic</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Generic guidance, not woven into an AI health platform</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buNone/>
                      </a:pPr>
                      <a:r>
                        <a:rPr lang="en-US" sz="1100" b="1" dirty="0">
                          <a:solidFill>
                            <a:srgbClr val="0B3B2E"/>
                          </a:solidFill>
                          <a:latin typeface="Calibri" pitchFamily="34" charset="0"/>
                          <a:ea typeface="Calibri" pitchFamily="34" charset="-122"/>
                          <a:cs typeface="Calibri" pitchFamily="34" charset="-120"/>
                        </a:rPr>
                        <a:t>OWASP Password Storage</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Credential security</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Recommends Argon2id / bcrypt-class password hashing</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Needs RBAC and session controls layered on top for healthcare use</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extLst>
                  <a:ext uri="{0D108BD9-81ED-4DB2-BD59-A6C34878D82A}">
                    <a16:rowId xmlns:a16="http://schemas.microsoft.com/office/drawing/2014/main" val="10004"/>
                  </a:ext>
                </a:extLst>
              </a:tr>
              <a:tr h="457200">
                <a:tc>
                  <a:txBody>
                    <a:bodyPr/>
                    <a:lstStyle/>
                    <a:p>
                      <a:pPr marL="0" indent="0">
                        <a:buNone/>
                      </a:pPr>
                      <a:r>
                        <a:rPr lang="en-US" sz="1100" b="1" dirty="0">
                          <a:solidFill>
                            <a:srgbClr val="0B3B2E"/>
                          </a:solidFill>
                          <a:latin typeface="Calibri" pitchFamily="34" charset="0"/>
                          <a:ea typeface="Calibri" pitchFamily="34" charset="-122"/>
                          <a:cs typeface="Calibri" pitchFamily="34" charset="-120"/>
                        </a:rPr>
                        <a:t>NIST SP 800-52 Rev.2</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TLS implementation</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Federal guidelines for selecting and configuring TLS versions</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00" dirty="0">
                          <a:solidFill>
                            <a:srgbClr val="1F2A27"/>
                          </a:solidFill>
                          <a:latin typeface="Calibri" pitchFamily="34" charset="0"/>
                          <a:ea typeface="Calibri" pitchFamily="34" charset="-122"/>
                          <a:cs typeface="Calibri" pitchFamily="34" charset="-120"/>
                        </a:rPr>
                        <a:t>Not tailored to patient – AI conversational systems</a:t>
                      </a:r>
                      <a:endParaRPr lang="en-US" sz="1100" dirty="0">
                        <a:latin typeface="Calibri" charset="0"/>
                        <a:ea typeface="Calibri" charset="0"/>
                        <a:cs typeface="Calibri" charset="0"/>
                      </a:endParaRPr>
                    </a:p>
                  </a:txBody>
                  <a:tcPr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48640" y="4617720"/>
            <a:ext cx="11064240" cy="1554480"/>
          </a:xfrm>
          <a:prstGeom prst="roundRect">
            <a:avLst>
              <a:gd name="adj" fmla="val 4706"/>
            </a:avLst>
          </a:prstGeom>
          <a:solidFill>
            <a:srgbClr val="0B3B2E"/>
          </a:solidFill>
          <a:ln w="12700">
            <a:solidFill>
              <a:srgbClr val="0B3B2E"/>
            </a:solidFill>
            <a:prstDash val="solid"/>
          </a:ln>
        </p:spPr>
      </p:sp>
      <p:sp>
        <p:nvSpPr>
          <p:cNvPr id="8" name="Shape 5"/>
          <p:cNvSpPr/>
          <p:nvPr/>
        </p:nvSpPr>
        <p:spPr>
          <a:xfrm>
            <a:off x="822960" y="4846320"/>
            <a:ext cx="548640" cy="548640"/>
          </a:xfrm>
          <a:prstGeom prst="ellipse">
            <a:avLst/>
          </a:prstGeom>
          <a:solidFill>
            <a:srgbClr val="C9973B"/>
          </a:solidFill>
          <a:ln w="12700">
            <a:solidFill>
              <a:srgbClr val="C9973B"/>
            </a:solidFill>
            <a:prstDash val="solid"/>
          </a:ln>
        </p:spPr>
      </p:sp>
      <p:pic>
        <p:nvPicPr>
          <p:cNvPr id="9" name="Image 0" descr="preencoded.png"/>
          <p:cNvPicPr>
            <a:picLocks noChangeAspect="1"/>
          </p:cNvPicPr>
          <p:nvPr/>
        </p:nvPicPr>
        <p:blipFill>
          <a:blip r:embed="rId3"/>
          <a:stretch>
            <a:fillRect/>
          </a:stretch>
        </p:blipFill>
        <p:spPr>
          <a:xfrm>
            <a:off x="971093" y="4994453"/>
            <a:ext cx="252374" cy="252374"/>
          </a:xfrm>
          <a:prstGeom prst="rect">
            <a:avLst/>
          </a:prstGeom>
        </p:spPr>
      </p:pic>
      <p:sp>
        <p:nvSpPr>
          <p:cNvPr id="10" name="Text 6"/>
          <p:cNvSpPr txBox="1"/>
          <p:nvPr/>
        </p:nvSpPr>
        <p:spPr>
          <a:xfrm>
            <a:off x="1600200" y="4754880"/>
            <a:ext cx="3657600" cy="320040"/>
          </a:xfrm>
          <a:prstGeom prst="rect">
            <a:avLst/>
          </a:prstGeom>
          <a:noFill/>
          <a:ln/>
        </p:spPr>
        <p:txBody>
          <a:bodyPr wrap="square" lIns="0" tIns="0" rIns="0" bIns="0" rtlCol="0" anchor="t"/>
          <a:lstStyle/>
          <a:p>
            <a:pPr marL="0" indent="0">
              <a:buNone/>
            </a:pPr>
            <a:r>
              <a:rPr lang="en-US" sz="1600" b="1" dirty="0">
                <a:solidFill>
                  <a:srgbClr val="C9973B"/>
                </a:solidFill>
                <a:latin typeface="Cambria" pitchFamily="34" charset="0"/>
                <a:ea typeface="Cambria" pitchFamily="34" charset="-122"/>
                <a:cs typeface="Cambria" pitchFamily="34" charset="-120"/>
              </a:rPr>
              <a:t>Research Gap</a:t>
            </a:r>
            <a:endParaRPr lang="en-US" sz="1600" dirty="0"/>
          </a:p>
        </p:txBody>
      </p:sp>
      <p:sp>
        <p:nvSpPr>
          <p:cNvPr id="11" name="Text 7"/>
          <p:cNvSpPr txBox="1"/>
          <p:nvPr/>
        </p:nvSpPr>
        <p:spPr>
          <a:xfrm>
            <a:off x="1600200" y="5120640"/>
            <a:ext cx="9784080" cy="960120"/>
          </a:xfrm>
          <a:prstGeom prst="rect">
            <a:avLst/>
          </a:prstGeom>
          <a:noFill/>
          <a:ln/>
        </p:spPr>
        <p:txBody>
          <a:bodyPr wrap="square" lIns="0" tIns="0" rIns="0" bIns="0" rtlCol="0" anchor="t"/>
          <a:lstStyle/>
          <a:p>
            <a:pPr marL="0" indent="0">
              <a:buNone/>
            </a:pPr>
            <a:r>
              <a:rPr lang="en-US" sz="1250" dirty="0">
                <a:solidFill>
                  <a:srgbClr val="FFFFFF"/>
                </a:solidFill>
                <a:latin typeface="Calibri" pitchFamily="34" charset="0"/>
                <a:ea typeface="Calibri" pitchFamily="34" charset="-122"/>
                <a:cs typeface="Calibri" pitchFamily="34" charset="-120"/>
              </a:rPr>
              <a:t>No existing system combines RAG-grounded LLM guidance for the Ayurvedic domain, source-transparent responses, TTS-based humanized delivery, and a defense-in-depth security architecture (authentication, RBAC, encryption, audit logging and AI/RAG-specific controls) inside one pure-software healthcare platform. This is the white space Zeniva targets.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PURPOSE</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Aim &amp; Objectives</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5 / 14</a:t>
            </a:r>
            <a:endParaRPr lang="en-US" sz="1000" dirty="0"/>
          </a:p>
        </p:txBody>
      </p:sp>
      <p:sp>
        <p:nvSpPr>
          <p:cNvPr id="6" name="Shape 4"/>
          <p:cNvSpPr/>
          <p:nvPr/>
        </p:nvSpPr>
        <p:spPr>
          <a:xfrm>
            <a:off x="548640" y="1371600"/>
            <a:ext cx="11064240" cy="960120"/>
          </a:xfrm>
          <a:prstGeom prst="roundRect">
            <a:avLst>
              <a:gd name="adj" fmla="val 7619"/>
            </a:avLst>
          </a:prstGeom>
          <a:solidFill>
            <a:srgbClr val="0B3B2E"/>
          </a:solidFill>
          <a:ln w="12700">
            <a:solidFill>
              <a:srgbClr val="0B3B2E"/>
            </a:solidFill>
            <a:prstDash val="solid"/>
          </a:ln>
        </p:spPr>
      </p:sp>
      <p:sp>
        <p:nvSpPr>
          <p:cNvPr id="7" name="Text 5"/>
          <p:cNvSpPr txBox="1"/>
          <p:nvPr/>
        </p:nvSpPr>
        <p:spPr>
          <a:xfrm>
            <a:off x="822960" y="1371600"/>
            <a:ext cx="731520" cy="960120"/>
          </a:xfrm>
          <a:prstGeom prst="rect">
            <a:avLst/>
          </a:prstGeom>
          <a:noFill/>
          <a:ln/>
        </p:spPr>
        <p:txBody>
          <a:bodyPr wrap="square" lIns="0" tIns="0" rIns="0" bIns="0" rtlCol="0" anchor="ctr"/>
          <a:lstStyle/>
          <a:p>
            <a:pPr marL="0" indent="0">
              <a:buNone/>
            </a:pPr>
            <a:r>
              <a:rPr lang="en-US" sz="1400" b="1" kern="0" spc="200" dirty="0">
                <a:solidFill>
                  <a:srgbClr val="C9973B"/>
                </a:solidFill>
                <a:latin typeface="Calibri" pitchFamily="34" charset="0"/>
                <a:ea typeface="Calibri" pitchFamily="34" charset="-122"/>
                <a:cs typeface="Calibri" pitchFamily="34" charset="-120"/>
              </a:rPr>
              <a:t>AIM</a:t>
            </a:r>
            <a:endParaRPr lang="en-US" sz="1400" dirty="0"/>
          </a:p>
        </p:txBody>
      </p:sp>
      <p:sp>
        <p:nvSpPr>
          <p:cNvPr id="8" name="Text 6"/>
          <p:cNvSpPr txBox="1"/>
          <p:nvPr/>
        </p:nvSpPr>
        <p:spPr>
          <a:xfrm>
            <a:off x="1554480" y="1371600"/>
            <a:ext cx="9784080" cy="96012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To build Zeniva, a pure software, RAG-enhanced LLM platform that delivers grounded, source-transparent Ayurvedic health guidance — spoken aloud through TTS — within a secure, human-in-the-loop doctor–patient system.</a:t>
            </a:r>
            <a:endParaRPr lang="en-US" sz="1400" dirty="0"/>
          </a:p>
        </p:txBody>
      </p:sp>
      <p:sp>
        <p:nvSpPr>
          <p:cNvPr id="9" name="Shape 7"/>
          <p:cNvSpPr/>
          <p:nvPr/>
        </p:nvSpPr>
        <p:spPr>
          <a:xfrm>
            <a:off x="548640" y="2514600"/>
            <a:ext cx="3566160" cy="173736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0" name="Shape 8"/>
          <p:cNvSpPr/>
          <p:nvPr/>
        </p:nvSpPr>
        <p:spPr>
          <a:xfrm>
            <a:off x="731520" y="2697480"/>
            <a:ext cx="502920" cy="502920"/>
          </a:xfrm>
          <a:prstGeom prst="ellipse">
            <a:avLst/>
          </a:prstGeom>
          <a:solidFill>
            <a:srgbClr val="0B3B2E"/>
          </a:solidFill>
          <a:ln w="12700">
            <a:solidFill>
              <a:srgbClr val="0B3B2E"/>
            </a:solidFill>
            <a:prstDash val="solid"/>
          </a:ln>
        </p:spPr>
      </p:sp>
      <p:pic>
        <p:nvPicPr>
          <p:cNvPr id="11" name="Image 0" descr="preencoded.png"/>
          <p:cNvPicPr>
            <a:picLocks noChangeAspect="1"/>
          </p:cNvPicPr>
          <p:nvPr/>
        </p:nvPicPr>
        <p:blipFill>
          <a:blip r:embed="rId3"/>
          <a:stretch>
            <a:fillRect/>
          </a:stretch>
        </p:blipFill>
        <p:spPr>
          <a:xfrm>
            <a:off x="867308" y="2833268"/>
            <a:ext cx="231343" cy="231343"/>
          </a:xfrm>
          <a:prstGeom prst="rect">
            <a:avLst/>
          </a:prstGeom>
        </p:spPr>
      </p:pic>
      <p:sp>
        <p:nvSpPr>
          <p:cNvPr id="12" name="Text 9"/>
          <p:cNvSpPr txBox="1"/>
          <p:nvPr/>
        </p:nvSpPr>
        <p:spPr>
          <a:xfrm>
            <a:off x="1371600" y="2697480"/>
            <a:ext cx="2606040" cy="502920"/>
          </a:xfrm>
          <a:prstGeom prst="rect">
            <a:avLst/>
          </a:prstGeom>
          <a:noFill/>
          <a:ln/>
        </p:spPr>
        <p:txBody>
          <a:bodyPr wrap="square" lIns="0" tIns="0" rIns="0" bIns="0" rtlCol="0" anchor="ctr"/>
          <a:lstStyle/>
          <a:p>
            <a:pPr marL="0" indent="0">
              <a:buNone/>
            </a:pPr>
            <a:r>
              <a:rPr lang="en-US" sz="1500" b="1" dirty="0">
                <a:solidFill>
                  <a:srgbClr val="0B3B2E"/>
                </a:solidFill>
                <a:latin typeface="Calibri" pitchFamily="34" charset="0"/>
                <a:ea typeface="Calibri" pitchFamily="34" charset="-122"/>
                <a:cs typeface="Calibri" pitchFamily="34" charset="-120"/>
              </a:rPr>
              <a:t>Symptom Analysis</a:t>
            </a:r>
            <a:endParaRPr lang="en-US" sz="1500" dirty="0"/>
          </a:p>
        </p:txBody>
      </p:sp>
      <p:sp>
        <p:nvSpPr>
          <p:cNvPr id="13" name="Text 10"/>
          <p:cNvSpPr txBox="1"/>
          <p:nvPr/>
        </p:nvSpPr>
        <p:spPr>
          <a:xfrm>
            <a:off x="731520" y="3337560"/>
            <a:ext cx="3200400" cy="86868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Process free-text symptoms, duration and lifestyle context using NLP.</a:t>
            </a:r>
            <a:endParaRPr lang="en-US" sz="1200" dirty="0"/>
          </a:p>
        </p:txBody>
      </p:sp>
      <p:sp>
        <p:nvSpPr>
          <p:cNvPr id="14" name="Shape 11"/>
          <p:cNvSpPr/>
          <p:nvPr/>
        </p:nvSpPr>
        <p:spPr>
          <a:xfrm>
            <a:off x="4297680" y="2514600"/>
            <a:ext cx="3566160" cy="173736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5" name="Shape 12"/>
          <p:cNvSpPr/>
          <p:nvPr/>
        </p:nvSpPr>
        <p:spPr>
          <a:xfrm>
            <a:off x="4480560" y="2697480"/>
            <a:ext cx="502920" cy="502920"/>
          </a:xfrm>
          <a:prstGeom prst="ellipse">
            <a:avLst/>
          </a:prstGeom>
          <a:solidFill>
            <a:srgbClr val="0B3B2E"/>
          </a:solidFill>
          <a:ln w="12700">
            <a:solidFill>
              <a:srgbClr val="0B3B2E"/>
            </a:solidFill>
            <a:prstDash val="solid"/>
          </a:ln>
        </p:spPr>
      </p:sp>
      <p:pic>
        <p:nvPicPr>
          <p:cNvPr id="16" name="Image 1" descr="preencoded.png"/>
          <p:cNvPicPr>
            <a:picLocks noChangeAspect="1"/>
          </p:cNvPicPr>
          <p:nvPr/>
        </p:nvPicPr>
        <p:blipFill>
          <a:blip r:embed="rId4"/>
          <a:stretch>
            <a:fillRect/>
          </a:stretch>
        </p:blipFill>
        <p:spPr>
          <a:xfrm>
            <a:off x="4616348" y="2833268"/>
            <a:ext cx="231343" cy="231343"/>
          </a:xfrm>
          <a:prstGeom prst="rect">
            <a:avLst/>
          </a:prstGeom>
        </p:spPr>
      </p:pic>
      <p:sp>
        <p:nvSpPr>
          <p:cNvPr id="17" name="Text 13"/>
          <p:cNvSpPr txBox="1"/>
          <p:nvPr/>
        </p:nvSpPr>
        <p:spPr>
          <a:xfrm>
            <a:off x="5120640" y="2697480"/>
            <a:ext cx="2606040" cy="502920"/>
          </a:xfrm>
          <a:prstGeom prst="rect">
            <a:avLst/>
          </a:prstGeom>
          <a:noFill/>
          <a:ln/>
        </p:spPr>
        <p:txBody>
          <a:bodyPr wrap="square" lIns="0" tIns="0" rIns="0" bIns="0" rtlCol="0" anchor="ctr"/>
          <a:lstStyle/>
          <a:p>
            <a:pPr marL="0" indent="0">
              <a:buNone/>
            </a:pPr>
            <a:r>
              <a:rPr lang="en-US" sz="1500" b="1" dirty="0">
                <a:solidFill>
                  <a:srgbClr val="0B3B2E"/>
                </a:solidFill>
                <a:latin typeface="Calibri" pitchFamily="34" charset="0"/>
                <a:ea typeface="Calibri" pitchFamily="34" charset="-122"/>
                <a:cs typeface="Calibri" pitchFamily="34" charset="-120"/>
              </a:rPr>
              <a:t>RAG-based Ayurvedic Guidance</a:t>
            </a:r>
            <a:endParaRPr lang="en-US" sz="1500" dirty="0"/>
          </a:p>
        </p:txBody>
      </p:sp>
      <p:sp>
        <p:nvSpPr>
          <p:cNvPr id="18" name="Text 14"/>
          <p:cNvSpPr txBox="1"/>
          <p:nvPr/>
        </p:nvSpPr>
        <p:spPr>
          <a:xfrm>
            <a:off x="4480560" y="3337560"/>
            <a:ext cx="3200400" cy="86868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Build a curated Ayurvedic knowledge base and retrieve relevant content via RAG.</a:t>
            </a:r>
            <a:endParaRPr lang="en-US" sz="1200" dirty="0"/>
          </a:p>
        </p:txBody>
      </p:sp>
      <p:sp>
        <p:nvSpPr>
          <p:cNvPr id="19" name="Shape 15"/>
          <p:cNvSpPr/>
          <p:nvPr/>
        </p:nvSpPr>
        <p:spPr>
          <a:xfrm>
            <a:off x="8046720" y="2514600"/>
            <a:ext cx="3566160" cy="173736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0" name="Shape 16"/>
          <p:cNvSpPr/>
          <p:nvPr/>
        </p:nvSpPr>
        <p:spPr>
          <a:xfrm>
            <a:off x="8229600" y="2697480"/>
            <a:ext cx="502920" cy="502920"/>
          </a:xfrm>
          <a:prstGeom prst="ellipse">
            <a:avLst/>
          </a:prstGeom>
          <a:solidFill>
            <a:srgbClr val="0B3B2E"/>
          </a:solidFill>
          <a:ln w="12700">
            <a:solidFill>
              <a:srgbClr val="0B3B2E"/>
            </a:solidFill>
            <a:prstDash val="solid"/>
          </a:ln>
        </p:spPr>
      </p:sp>
      <p:pic>
        <p:nvPicPr>
          <p:cNvPr id="21" name="Image 2" descr="preencoded.png"/>
          <p:cNvPicPr>
            <a:picLocks noChangeAspect="1"/>
          </p:cNvPicPr>
          <p:nvPr/>
        </p:nvPicPr>
        <p:blipFill>
          <a:blip r:embed="rId5"/>
          <a:stretch>
            <a:fillRect/>
          </a:stretch>
        </p:blipFill>
        <p:spPr>
          <a:xfrm>
            <a:off x="8365388" y="2833268"/>
            <a:ext cx="231343" cy="231343"/>
          </a:xfrm>
          <a:prstGeom prst="rect">
            <a:avLst/>
          </a:prstGeom>
        </p:spPr>
      </p:pic>
      <p:sp>
        <p:nvSpPr>
          <p:cNvPr id="22" name="Text 17"/>
          <p:cNvSpPr txBox="1"/>
          <p:nvPr/>
        </p:nvSpPr>
        <p:spPr>
          <a:xfrm>
            <a:off x="8869680" y="2697480"/>
            <a:ext cx="2606040" cy="502920"/>
          </a:xfrm>
          <a:prstGeom prst="rect">
            <a:avLst/>
          </a:prstGeom>
          <a:noFill/>
          <a:ln/>
        </p:spPr>
        <p:txBody>
          <a:bodyPr wrap="square" lIns="0" tIns="0" rIns="0" bIns="0" rtlCol="0" anchor="ctr"/>
          <a:lstStyle/>
          <a:p>
            <a:pPr marL="0" indent="0">
              <a:buNone/>
            </a:pPr>
            <a:r>
              <a:rPr lang="en-US" sz="1500" b="1" dirty="0">
                <a:solidFill>
                  <a:srgbClr val="0B3B2E"/>
                </a:solidFill>
                <a:latin typeface="Calibri" pitchFamily="34" charset="0"/>
                <a:ea typeface="Calibri" pitchFamily="34" charset="-122"/>
                <a:cs typeface="Calibri" pitchFamily="34" charset="-120"/>
              </a:rPr>
              <a:t>Personalized Response</a:t>
            </a:r>
            <a:endParaRPr lang="en-US" sz="1500" dirty="0"/>
          </a:p>
        </p:txBody>
      </p:sp>
      <p:sp>
        <p:nvSpPr>
          <p:cNvPr id="23" name="Text 18"/>
          <p:cNvSpPr txBox="1"/>
          <p:nvPr/>
        </p:nvSpPr>
        <p:spPr>
          <a:xfrm>
            <a:off x="8229600" y="3337560"/>
            <a:ext cx="3200400" cy="86868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Generate LLM responses that prioritise retrieved evidence over unsupported claims.</a:t>
            </a:r>
            <a:endParaRPr lang="en-US" sz="1200" dirty="0"/>
          </a:p>
        </p:txBody>
      </p:sp>
      <p:sp>
        <p:nvSpPr>
          <p:cNvPr id="24" name="Shape 19"/>
          <p:cNvSpPr/>
          <p:nvPr/>
        </p:nvSpPr>
        <p:spPr>
          <a:xfrm>
            <a:off x="548640" y="4389120"/>
            <a:ext cx="3566160" cy="173736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5" name="Shape 20"/>
          <p:cNvSpPr/>
          <p:nvPr/>
        </p:nvSpPr>
        <p:spPr>
          <a:xfrm>
            <a:off x="731520" y="4572000"/>
            <a:ext cx="502920" cy="502920"/>
          </a:xfrm>
          <a:prstGeom prst="ellipse">
            <a:avLst/>
          </a:prstGeom>
          <a:solidFill>
            <a:srgbClr val="0B3B2E"/>
          </a:solidFill>
          <a:ln w="12700">
            <a:solidFill>
              <a:srgbClr val="0B3B2E"/>
            </a:solidFill>
            <a:prstDash val="solid"/>
          </a:ln>
        </p:spPr>
      </p:sp>
      <p:pic>
        <p:nvPicPr>
          <p:cNvPr id="26" name="Image 3" descr="preencoded.png"/>
          <p:cNvPicPr>
            <a:picLocks noChangeAspect="1"/>
          </p:cNvPicPr>
          <p:nvPr/>
        </p:nvPicPr>
        <p:blipFill>
          <a:blip r:embed="rId6"/>
          <a:stretch>
            <a:fillRect/>
          </a:stretch>
        </p:blipFill>
        <p:spPr>
          <a:xfrm>
            <a:off x="867308" y="4707788"/>
            <a:ext cx="231343" cy="231343"/>
          </a:xfrm>
          <a:prstGeom prst="rect">
            <a:avLst/>
          </a:prstGeom>
        </p:spPr>
      </p:pic>
      <p:sp>
        <p:nvSpPr>
          <p:cNvPr id="27" name="Text 21"/>
          <p:cNvSpPr txBox="1"/>
          <p:nvPr/>
        </p:nvSpPr>
        <p:spPr>
          <a:xfrm>
            <a:off x="1371600" y="4572000"/>
            <a:ext cx="2606040" cy="502920"/>
          </a:xfrm>
          <a:prstGeom prst="rect">
            <a:avLst/>
          </a:prstGeom>
          <a:noFill/>
          <a:ln/>
        </p:spPr>
        <p:txBody>
          <a:bodyPr wrap="square" lIns="0" tIns="0" rIns="0" bIns="0" rtlCol="0" anchor="ctr"/>
          <a:lstStyle/>
          <a:p>
            <a:pPr marL="0" indent="0">
              <a:buNone/>
            </a:pPr>
            <a:r>
              <a:rPr lang="en-US" sz="1500" b="1" dirty="0">
                <a:solidFill>
                  <a:srgbClr val="0B3B2E"/>
                </a:solidFill>
                <a:latin typeface="Calibri" pitchFamily="34" charset="0"/>
                <a:ea typeface="Calibri" pitchFamily="34" charset="-122"/>
                <a:cs typeface="Calibri" pitchFamily="34" charset="-120"/>
              </a:rPr>
              <a:t>Text to Speech (TTS)</a:t>
            </a:r>
            <a:endParaRPr lang="en-US" sz="1500" dirty="0"/>
          </a:p>
        </p:txBody>
      </p:sp>
      <p:sp>
        <p:nvSpPr>
          <p:cNvPr id="28" name="Text 22"/>
          <p:cNvSpPr txBox="1"/>
          <p:nvPr/>
        </p:nvSpPr>
        <p:spPr>
          <a:xfrm>
            <a:off x="731520" y="5212080"/>
            <a:ext cx="3200400" cy="86868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Convert AI-generated responses into speech for a natural, accessible and humanized interaction.</a:t>
            </a:r>
            <a:endParaRPr lang="en-US" sz="1200" dirty="0"/>
          </a:p>
        </p:txBody>
      </p:sp>
      <p:sp>
        <p:nvSpPr>
          <p:cNvPr id="29" name="Shape 23"/>
          <p:cNvSpPr/>
          <p:nvPr/>
        </p:nvSpPr>
        <p:spPr>
          <a:xfrm>
            <a:off x="4297680" y="4389120"/>
            <a:ext cx="3566160" cy="1737360"/>
          </a:xfrm>
          <a:prstGeom prst="roundRect">
            <a:avLst>
              <a:gd name="adj" fmla="val 4211"/>
            </a:avLst>
          </a:prstGeom>
          <a:solidFill>
            <a:srgbClr val="FBF3E3"/>
          </a:solidFill>
          <a:ln w="9525">
            <a:solidFill>
              <a:srgbClr val="DDE5E1"/>
            </a:solidFill>
            <a:prstDash val="solid"/>
          </a:ln>
          <a:effectLst>
            <a:outerShdw blurRad="101600" dist="25400" dir="5400000" algn="bl" rotWithShape="0">
              <a:srgbClr val="000000">
                <a:alpha val="8000"/>
              </a:srgbClr>
            </a:outerShdw>
          </a:effectLst>
        </p:spPr>
      </p:sp>
      <p:sp>
        <p:nvSpPr>
          <p:cNvPr id="30" name="Shape 24"/>
          <p:cNvSpPr/>
          <p:nvPr/>
        </p:nvSpPr>
        <p:spPr>
          <a:xfrm>
            <a:off x="4480560" y="4572000"/>
            <a:ext cx="502920" cy="502920"/>
          </a:xfrm>
          <a:prstGeom prst="ellipse">
            <a:avLst/>
          </a:prstGeom>
          <a:solidFill>
            <a:srgbClr val="C9973B"/>
          </a:solidFill>
          <a:ln w="12700">
            <a:solidFill>
              <a:srgbClr val="C9973B"/>
            </a:solidFill>
            <a:prstDash val="solid"/>
          </a:ln>
        </p:spPr>
      </p:sp>
      <p:pic>
        <p:nvPicPr>
          <p:cNvPr id="31" name="Image 4" descr="preencoded.png"/>
          <p:cNvPicPr>
            <a:picLocks noChangeAspect="1"/>
          </p:cNvPicPr>
          <p:nvPr/>
        </p:nvPicPr>
        <p:blipFill>
          <a:blip r:embed="rId7"/>
          <a:stretch>
            <a:fillRect/>
          </a:stretch>
        </p:blipFill>
        <p:spPr>
          <a:xfrm>
            <a:off x="4616348" y="4707788"/>
            <a:ext cx="231343" cy="231343"/>
          </a:xfrm>
          <a:prstGeom prst="rect">
            <a:avLst/>
          </a:prstGeom>
        </p:spPr>
      </p:pic>
      <p:sp>
        <p:nvSpPr>
          <p:cNvPr id="32" name="Text 25"/>
          <p:cNvSpPr txBox="1"/>
          <p:nvPr/>
        </p:nvSpPr>
        <p:spPr>
          <a:xfrm>
            <a:off x="5120640" y="4572000"/>
            <a:ext cx="2606040" cy="502920"/>
          </a:xfrm>
          <a:prstGeom prst="rect">
            <a:avLst/>
          </a:prstGeom>
          <a:noFill/>
          <a:ln/>
        </p:spPr>
        <p:txBody>
          <a:bodyPr wrap="square" lIns="0" tIns="0" rIns="0" bIns="0" rtlCol="0" anchor="ctr"/>
          <a:lstStyle/>
          <a:p>
            <a:pPr marL="0" indent="0">
              <a:buNone/>
            </a:pPr>
            <a:r>
              <a:rPr lang="en-US" sz="1500" b="1" dirty="0">
                <a:solidFill>
                  <a:srgbClr val="0B3B2E"/>
                </a:solidFill>
                <a:latin typeface="Calibri" pitchFamily="34" charset="0"/>
                <a:ea typeface="Calibri" pitchFamily="34" charset="-122"/>
                <a:cs typeface="Calibri" pitchFamily="34" charset="-120"/>
              </a:rPr>
              <a:t>Doctor Connect</a:t>
            </a:r>
            <a:endParaRPr lang="en-US" sz="1500" dirty="0"/>
          </a:p>
        </p:txBody>
      </p:sp>
      <p:sp>
        <p:nvSpPr>
          <p:cNvPr id="33" name="Text 26"/>
          <p:cNvSpPr txBox="1"/>
          <p:nvPr/>
        </p:nvSpPr>
        <p:spPr>
          <a:xfrm>
            <a:off x="4480560" y="5212080"/>
            <a:ext cx="3200400" cy="86868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Recommend qualified practitioners, support consultation workflows, and give doctors a Hospital ERP &amp; Pharmacy module.</a:t>
            </a:r>
            <a:endParaRPr lang="en-US" sz="1200" dirty="0"/>
          </a:p>
        </p:txBody>
      </p:sp>
      <p:sp>
        <p:nvSpPr>
          <p:cNvPr id="34" name="Shape 27"/>
          <p:cNvSpPr/>
          <p:nvPr/>
        </p:nvSpPr>
        <p:spPr>
          <a:xfrm>
            <a:off x="8046720" y="4389120"/>
            <a:ext cx="3566160" cy="173736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5" name="Shape 28"/>
          <p:cNvSpPr/>
          <p:nvPr/>
        </p:nvSpPr>
        <p:spPr>
          <a:xfrm>
            <a:off x="8229600" y="4572000"/>
            <a:ext cx="502920" cy="502920"/>
          </a:xfrm>
          <a:prstGeom prst="ellipse">
            <a:avLst/>
          </a:prstGeom>
          <a:solidFill>
            <a:srgbClr val="0B3B2E"/>
          </a:solidFill>
          <a:ln w="12700">
            <a:solidFill>
              <a:srgbClr val="0B3B2E"/>
            </a:solidFill>
            <a:prstDash val="solid"/>
          </a:ln>
        </p:spPr>
      </p:sp>
      <p:pic>
        <p:nvPicPr>
          <p:cNvPr id="36" name="Image 5" descr="preencoded.png"/>
          <p:cNvPicPr>
            <a:picLocks noChangeAspect="1"/>
          </p:cNvPicPr>
          <p:nvPr/>
        </p:nvPicPr>
        <p:blipFill>
          <a:blip r:embed="rId8"/>
          <a:stretch>
            <a:fillRect/>
          </a:stretch>
        </p:blipFill>
        <p:spPr>
          <a:xfrm>
            <a:off x="8365388" y="4707788"/>
            <a:ext cx="231343" cy="231343"/>
          </a:xfrm>
          <a:prstGeom prst="rect">
            <a:avLst/>
          </a:prstGeom>
        </p:spPr>
      </p:pic>
      <p:sp>
        <p:nvSpPr>
          <p:cNvPr id="37" name="Text 29"/>
          <p:cNvSpPr txBox="1"/>
          <p:nvPr/>
        </p:nvSpPr>
        <p:spPr>
          <a:xfrm>
            <a:off x="8869680" y="4572000"/>
            <a:ext cx="2606040" cy="502920"/>
          </a:xfrm>
          <a:prstGeom prst="rect">
            <a:avLst/>
          </a:prstGeom>
          <a:noFill/>
          <a:ln/>
        </p:spPr>
        <p:txBody>
          <a:bodyPr wrap="square" lIns="0" tIns="0" rIns="0" bIns="0" rtlCol="0" anchor="ctr"/>
          <a:lstStyle/>
          <a:p>
            <a:pPr marL="0" indent="0">
              <a:buNone/>
            </a:pPr>
            <a:r>
              <a:rPr lang="en-US" sz="1500" b="1" dirty="0">
                <a:solidFill>
                  <a:srgbClr val="0B3B2E"/>
                </a:solidFill>
                <a:latin typeface="Calibri" pitchFamily="34" charset="0"/>
                <a:ea typeface="Calibri" pitchFamily="34" charset="-122"/>
                <a:cs typeface="Calibri" pitchFamily="34" charset="-120"/>
              </a:rPr>
              <a:t>Security by Design</a:t>
            </a:r>
            <a:endParaRPr lang="en-US" sz="1500" dirty="0"/>
          </a:p>
        </p:txBody>
      </p:sp>
      <p:sp>
        <p:nvSpPr>
          <p:cNvPr id="38" name="Text 30"/>
          <p:cNvSpPr txBox="1"/>
          <p:nvPr/>
        </p:nvSpPr>
        <p:spPr>
          <a:xfrm>
            <a:off x="8229600" y="5212080"/>
            <a:ext cx="3200400" cy="86868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State Council MCIM Verification, OTP Auth, SHA-256 Audit Trail</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HOW IT WORKS</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Proposed System Architecture</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6 / 14</a:t>
            </a:r>
            <a:endParaRPr lang="en-US" sz="1000" dirty="0"/>
          </a:p>
        </p:txBody>
      </p:sp>
      <p:sp>
        <p:nvSpPr>
          <p:cNvPr id="6" name="Shape 4"/>
          <p:cNvSpPr/>
          <p:nvPr/>
        </p:nvSpPr>
        <p:spPr>
          <a:xfrm>
            <a:off x="548640" y="1417320"/>
            <a:ext cx="2011680" cy="2377440"/>
          </a:xfrm>
          <a:prstGeom prst="roundRect">
            <a:avLst>
              <a:gd name="adj" fmla="val 3636"/>
            </a:avLst>
          </a:prstGeom>
          <a:solidFill>
            <a:srgbClr val="FFFFFF"/>
          </a:solidFill>
          <a:ln w="19050">
            <a:solidFill>
              <a:srgbClr val="0F766E"/>
            </a:solidFill>
            <a:prstDash val="solid"/>
          </a:ln>
        </p:spPr>
      </p:sp>
      <p:sp>
        <p:nvSpPr>
          <p:cNvPr id="7" name="Text 5"/>
          <p:cNvSpPr txBox="1"/>
          <p:nvPr/>
        </p:nvSpPr>
        <p:spPr>
          <a:xfrm>
            <a:off x="548640" y="1508760"/>
            <a:ext cx="2011680" cy="320040"/>
          </a:xfrm>
          <a:prstGeom prst="rect">
            <a:avLst/>
          </a:prstGeom>
          <a:noFill/>
          <a:ln/>
        </p:spPr>
        <p:txBody>
          <a:bodyPr wrap="square" lIns="0" tIns="0" rIns="0" bIns="0" rtlCol="0" anchor="ctr"/>
          <a:lstStyle/>
          <a:p>
            <a:pPr marL="0" indent="0" algn="ctr">
              <a:buNone/>
            </a:pPr>
            <a:r>
              <a:rPr lang="en-US" sz="1150" b="1" dirty="0">
                <a:solidFill>
                  <a:srgbClr val="0F766E"/>
                </a:solidFill>
                <a:latin typeface="Calibri" pitchFamily="34" charset="0"/>
                <a:ea typeface="Calibri" pitchFamily="34" charset="-122"/>
                <a:cs typeface="Calibri" pitchFamily="34" charset="-120"/>
              </a:rPr>
              <a:t>Presentation Layer</a:t>
            </a:r>
            <a:endParaRPr lang="en-US" sz="1150" dirty="0"/>
          </a:p>
        </p:txBody>
      </p:sp>
      <p:sp>
        <p:nvSpPr>
          <p:cNvPr id="8" name="Shape 6"/>
          <p:cNvSpPr/>
          <p:nvPr/>
        </p:nvSpPr>
        <p:spPr>
          <a:xfrm>
            <a:off x="685800" y="1920240"/>
            <a:ext cx="1737360" cy="365760"/>
          </a:xfrm>
          <a:prstGeom prst="roundRect">
            <a:avLst>
              <a:gd name="adj" fmla="val 15000"/>
            </a:avLst>
          </a:prstGeom>
          <a:solidFill>
            <a:srgbClr val="F3F6F4"/>
          </a:solidFill>
          <a:ln w="9525">
            <a:solidFill>
              <a:srgbClr val="DDE5E1"/>
            </a:solidFill>
            <a:prstDash val="solid"/>
          </a:ln>
        </p:spPr>
      </p:sp>
      <p:sp>
        <p:nvSpPr>
          <p:cNvPr id="9" name="Text 7"/>
          <p:cNvSpPr txBox="1"/>
          <p:nvPr/>
        </p:nvSpPr>
        <p:spPr>
          <a:xfrm>
            <a:off x="685800" y="19202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Patient Portal</a:t>
            </a:r>
            <a:endParaRPr lang="en-US" sz="1050" dirty="0"/>
          </a:p>
        </p:txBody>
      </p:sp>
      <p:sp>
        <p:nvSpPr>
          <p:cNvPr id="10" name="Shape 8"/>
          <p:cNvSpPr/>
          <p:nvPr/>
        </p:nvSpPr>
        <p:spPr>
          <a:xfrm>
            <a:off x="685800" y="2377440"/>
            <a:ext cx="1737360" cy="365760"/>
          </a:xfrm>
          <a:prstGeom prst="roundRect">
            <a:avLst>
              <a:gd name="adj" fmla="val 15000"/>
            </a:avLst>
          </a:prstGeom>
          <a:solidFill>
            <a:srgbClr val="F3F6F4"/>
          </a:solidFill>
          <a:ln w="9525">
            <a:solidFill>
              <a:srgbClr val="DDE5E1"/>
            </a:solidFill>
            <a:prstDash val="solid"/>
          </a:ln>
        </p:spPr>
      </p:sp>
      <p:sp>
        <p:nvSpPr>
          <p:cNvPr id="11" name="Text 9"/>
          <p:cNvSpPr txBox="1"/>
          <p:nvPr/>
        </p:nvSpPr>
        <p:spPr>
          <a:xfrm>
            <a:off x="685800" y="23774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Doctor Portal</a:t>
            </a:r>
            <a:endParaRPr lang="en-US" sz="1050" dirty="0"/>
          </a:p>
        </p:txBody>
      </p:sp>
      <p:sp>
        <p:nvSpPr>
          <p:cNvPr id="12" name="Shape 10"/>
          <p:cNvSpPr/>
          <p:nvPr/>
        </p:nvSpPr>
        <p:spPr>
          <a:xfrm>
            <a:off x="685800" y="2834640"/>
            <a:ext cx="1737360" cy="365760"/>
          </a:xfrm>
          <a:prstGeom prst="roundRect">
            <a:avLst>
              <a:gd name="adj" fmla="val 15000"/>
            </a:avLst>
          </a:prstGeom>
          <a:solidFill>
            <a:srgbClr val="F3F6F4"/>
          </a:solidFill>
          <a:ln w="9525">
            <a:solidFill>
              <a:srgbClr val="DDE5E1"/>
            </a:solidFill>
            <a:prstDash val="solid"/>
          </a:ln>
        </p:spPr>
      </p:sp>
      <p:sp>
        <p:nvSpPr>
          <p:cNvPr id="13" name="Text 11"/>
          <p:cNvSpPr txBox="1"/>
          <p:nvPr/>
        </p:nvSpPr>
        <p:spPr>
          <a:xfrm>
            <a:off x="685800" y="28346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Admin Dashboard</a:t>
            </a:r>
            <a:endParaRPr lang="en-US" sz="1050" dirty="0"/>
          </a:p>
        </p:txBody>
      </p:sp>
      <p:sp>
        <p:nvSpPr>
          <p:cNvPr id="14" name="Shape 12"/>
          <p:cNvSpPr/>
          <p:nvPr/>
        </p:nvSpPr>
        <p:spPr>
          <a:xfrm>
            <a:off x="685800" y="3291840"/>
            <a:ext cx="1737360" cy="365760"/>
          </a:xfrm>
          <a:prstGeom prst="roundRect">
            <a:avLst>
              <a:gd name="adj" fmla="val 15000"/>
            </a:avLst>
          </a:prstGeom>
          <a:solidFill>
            <a:srgbClr val="F3F6F4"/>
          </a:solidFill>
          <a:ln w="9525">
            <a:solidFill>
              <a:srgbClr val="DDE5E1"/>
            </a:solidFill>
            <a:prstDash val="solid"/>
          </a:ln>
        </p:spPr>
      </p:sp>
      <p:sp>
        <p:nvSpPr>
          <p:cNvPr id="15" name="Text 13"/>
          <p:cNvSpPr txBox="1"/>
          <p:nvPr/>
        </p:nvSpPr>
        <p:spPr>
          <a:xfrm>
            <a:off x="685800" y="32918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Chat Interface</a:t>
            </a:r>
            <a:endParaRPr lang="en-US" sz="1050" dirty="0"/>
          </a:p>
        </p:txBody>
      </p:sp>
      <p:sp>
        <p:nvSpPr>
          <p:cNvPr id="16" name="Shape 14"/>
          <p:cNvSpPr/>
          <p:nvPr/>
        </p:nvSpPr>
        <p:spPr>
          <a:xfrm>
            <a:off x="2811780" y="1417320"/>
            <a:ext cx="2011680" cy="2377440"/>
          </a:xfrm>
          <a:prstGeom prst="roundRect">
            <a:avLst>
              <a:gd name="adj" fmla="val 3636"/>
            </a:avLst>
          </a:prstGeom>
          <a:solidFill>
            <a:srgbClr val="FFFFFF"/>
          </a:solidFill>
          <a:ln w="19050">
            <a:solidFill>
              <a:srgbClr val="0E7490"/>
            </a:solidFill>
            <a:prstDash val="solid"/>
          </a:ln>
        </p:spPr>
      </p:sp>
      <p:sp>
        <p:nvSpPr>
          <p:cNvPr id="17" name="Text 15"/>
          <p:cNvSpPr txBox="1"/>
          <p:nvPr/>
        </p:nvSpPr>
        <p:spPr>
          <a:xfrm>
            <a:off x="2811780" y="1508760"/>
            <a:ext cx="2011680" cy="320040"/>
          </a:xfrm>
          <a:prstGeom prst="rect">
            <a:avLst/>
          </a:prstGeom>
          <a:noFill/>
          <a:ln/>
        </p:spPr>
        <p:txBody>
          <a:bodyPr wrap="square" lIns="0" tIns="0" rIns="0" bIns="0" rtlCol="0" anchor="ctr"/>
          <a:lstStyle/>
          <a:p>
            <a:pPr marL="0" indent="0" algn="ctr">
              <a:buNone/>
            </a:pPr>
            <a:r>
              <a:rPr lang="en-US" sz="1150" b="1" dirty="0">
                <a:solidFill>
                  <a:srgbClr val="0E7490"/>
                </a:solidFill>
                <a:latin typeface="Calibri" pitchFamily="34" charset="0"/>
                <a:ea typeface="Calibri" pitchFamily="34" charset="-122"/>
                <a:cs typeface="Calibri" pitchFamily="34" charset="-120"/>
              </a:rPr>
              <a:t>Application Layer</a:t>
            </a:r>
            <a:endParaRPr lang="en-US" sz="1150" dirty="0"/>
          </a:p>
        </p:txBody>
      </p:sp>
      <p:sp>
        <p:nvSpPr>
          <p:cNvPr id="18" name="Shape 16"/>
          <p:cNvSpPr/>
          <p:nvPr/>
        </p:nvSpPr>
        <p:spPr>
          <a:xfrm>
            <a:off x="2948940" y="1920240"/>
            <a:ext cx="1737360" cy="365760"/>
          </a:xfrm>
          <a:prstGeom prst="roundRect">
            <a:avLst>
              <a:gd name="adj" fmla="val 15000"/>
            </a:avLst>
          </a:prstGeom>
          <a:solidFill>
            <a:srgbClr val="F3F6F4"/>
          </a:solidFill>
          <a:ln w="9525">
            <a:solidFill>
              <a:srgbClr val="DDE5E1"/>
            </a:solidFill>
            <a:prstDash val="solid"/>
          </a:ln>
        </p:spPr>
      </p:sp>
      <p:sp>
        <p:nvSpPr>
          <p:cNvPr id="19" name="Text 17"/>
          <p:cNvSpPr txBox="1"/>
          <p:nvPr/>
        </p:nvSpPr>
        <p:spPr>
          <a:xfrm>
            <a:off x="2948940" y="19202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Authentication</a:t>
            </a:r>
            <a:endParaRPr lang="en-US" sz="1050" dirty="0"/>
          </a:p>
        </p:txBody>
      </p:sp>
      <p:sp>
        <p:nvSpPr>
          <p:cNvPr id="20" name="Shape 18"/>
          <p:cNvSpPr/>
          <p:nvPr/>
        </p:nvSpPr>
        <p:spPr>
          <a:xfrm>
            <a:off x="2948940" y="2377440"/>
            <a:ext cx="1737360" cy="365760"/>
          </a:xfrm>
          <a:prstGeom prst="roundRect">
            <a:avLst>
              <a:gd name="adj" fmla="val 15000"/>
            </a:avLst>
          </a:prstGeom>
          <a:solidFill>
            <a:srgbClr val="F3F6F4"/>
          </a:solidFill>
          <a:ln w="9525">
            <a:solidFill>
              <a:srgbClr val="DDE5E1"/>
            </a:solidFill>
            <a:prstDash val="solid"/>
          </a:ln>
        </p:spPr>
      </p:sp>
      <p:sp>
        <p:nvSpPr>
          <p:cNvPr id="21" name="Text 19"/>
          <p:cNvSpPr txBox="1"/>
          <p:nvPr/>
        </p:nvSpPr>
        <p:spPr>
          <a:xfrm>
            <a:off x="2948940" y="23774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User Management</a:t>
            </a:r>
            <a:endParaRPr lang="en-US" sz="1050" dirty="0"/>
          </a:p>
        </p:txBody>
      </p:sp>
      <p:sp>
        <p:nvSpPr>
          <p:cNvPr id="22" name="Shape 20"/>
          <p:cNvSpPr/>
          <p:nvPr/>
        </p:nvSpPr>
        <p:spPr>
          <a:xfrm>
            <a:off x="2948940" y="2834640"/>
            <a:ext cx="1737360" cy="365760"/>
          </a:xfrm>
          <a:prstGeom prst="roundRect">
            <a:avLst>
              <a:gd name="adj" fmla="val 15000"/>
            </a:avLst>
          </a:prstGeom>
          <a:solidFill>
            <a:srgbClr val="F3F6F4"/>
          </a:solidFill>
          <a:ln w="9525">
            <a:solidFill>
              <a:srgbClr val="DDE5E1"/>
            </a:solidFill>
            <a:prstDash val="solid"/>
          </a:ln>
        </p:spPr>
      </p:sp>
      <p:sp>
        <p:nvSpPr>
          <p:cNvPr id="23" name="Text 21"/>
          <p:cNvSpPr txBox="1"/>
          <p:nvPr/>
        </p:nvSpPr>
        <p:spPr>
          <a:xfrm>
            <a:off x="2948940" y="28346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Appointments</a:t>
            </a:r>
            <a:endParaRPr lang="en-US" sz="1050" dirty="0"/>
          </a:p>
        </p:txBody>
      </p:sp>
      <p:sp>
        <p:nvSpPr>
          <p:cNvPr id="24" name="Shape 22"/>
          <p:cNvSpPr/>
          <p:nvPr/>
        </p:nvSpPr>
        <p:spPr>
          <a:xfrm>
            <a:off x="2948940" y="3291840"/>
            <a:ext cx="1737360" cy="365760"/>
          </a:xfrm>
          <a:prstGeom prst="roundRect">
            <a:avLst>
              <a:gd name="adj" fmla="val 15000"/>
            </a:avLst>
          </a:prstGeom>
          <a:solidFill>
            <a:srgbClr val="FBF3E3"/>
          </a:solidFill>
          <a:ln w="9525">
            <a:solidFill>
              <a:srgbClr val="C9973B"/>
            </a:solidFill>
            <a:prstDash val="solid"/>
          </a:ln>
        </p:spPr>
      </p:sp>
      <p:sp>
        <p:nvSpPr>
          <p:cNvPr id="25" name="Text 23"/>
          <p:cNvSpPr txBox="1"/>
          <p:nvPr/>
        </p:nvSpPr>
        <p:spPr>
          <a:xfrm>
            <a:off x="2948940" y="3291840"/>
            <a:ext cx="1737360" cy="365760"/>
          </a:xfrm>
          <a:prstGeom prst="rect">
            <a:avLst/>
          </a:prstGeom>
          <a:noFill/>
          <a:ln/>
        </p:spPr>
        <p:txBody>
          <a:bodyPr wrap="square" lIns="0" tIns="0" rIns="0" bIns="0" rtlCol="0" anchor="ctr"/>
          <a:lstStyle/>
          <a:p>
            <a:pPr marL="0" indent="0" algn="ctr">
              <a:buNone/>
            </a:pPr>
            <a:r>
              <a:rPr lang="en-US" sz="950" b="1" dirty="0">
                <a:solidFill>
                  <a:srgbClr val="8A5F12"/>
                </a:solidFill>
                <a:latin typeface="Calibri" pitchFamily="34" charset="0"/>
                <a:ea typeface="Calibri" pitchFamily="34" charset="-122"/>
                <a:cs typeface="Calibri" pitchFamily="34" charset="-120"/>
              </a:rPr>
              <a:t>Hospital ERP &amp; Pharmacy</a:t>
            </a:r>
            <a:endParaRPr lang="en-US" sz="950" dirty="0"/>
          </a:p>
        </p:txBody>
      </p:sp>
      <p:sp>
        <p:nvSpPr>
          <p:cNvPr id="26" name="Shape 24"/>
          <p:cNvSpPr/>
          <p:nvPr/>
        </p:nvSpPr>
        <p:spPr>
          <a:xfrm>
            <a:off x="5074920" y="1417320"/>
            <a:ext cx="2011680" cy="2377440"/>
          </a:xfrm>
          <a:prstGeom prst="roundRect">
            <a:avLst>
              <a:gd name="adj" fmla="val 3636"/>
            </a:avLst>
          </a:prstGeom>
          <a:solidFill>
            <a:srgbClr val="FFFFFF"/>
          </a:solidFill>
          <a:ln w="19050">
            <a:solidFill>
              <a:srgbClr val="1D4ED8"/>
            </a:solidFill>
            <a:prstDash val="solid"/>
          </a:ln>
        </p:spPr>
      </p:sp>
      <p:sp>
        <p:nvSpPr>
          <p:cNvPr id="27" name="Text 25"/>
          <p:cNvSpPr txBox="1"/>
          <p:nvPr/>
        </p:nvSpPr>
        <p:spPr>
          <a:xfrm>
            <a:off x="5074920" y="1508760"/>
            <a:ext cx="2011680" cy="320040"/>
          </a:xfrm>
          <a:prstGeom prst="rect">
            <a:avLst/>
          </a:prstGeom>
          <a:noFill/>
          <a:ln/>
        </p:spPr>
        <p:txBody>
          <a:bodyPr wrap="square" lIns="0" tIns="0" rIns="0" bIns="0" rtlCol="0" anchor="ctr"/>
          <a:lstStyle/>
          <a:p>
            <a:pPr marL="0" indent="0" algn="ctr">
              <a:buNone/>
            </a:pPr>
            <a:r>
              <a:rPr lang="en-US" sz="1150" b="1" dirty="0">
                <a:solidFill>
                  <a:srgbClr val="1D4ED8"/>
                </a:solidFill>
                <a:latin typeface="Calibri" pitchFamily="34" charset="0"/>
                <a:ea typeface="Calibri" pitchFamily="34" charset="-122"/>
                <a:cs typeface="Calibri" pitchFamily="34" charset="-120"/>
              </a:rPr>
              <a:t>NLP &amp; Classification</a:t>
            </a:r>
            <a:endParaRPr lang="en-US" sz="1150" dirty="0"/>
          </a:p>
        </p:txBody>
      </p:sp>
      <p:sp>
        <p:nvSpPr>
          <p:cNvPr id="28" name="Shape 26"/>
          <p:cNvSpPr/>
          <p:nvPr/>
        </p:nvSpPr>
        <p:spPr>
          <a:xfrm>
            <a:off x="5212080" y="1920240"/>
            <a:ext cx="1737360" cy="365760"/>
          </a:xfrm>
          <a:prstGeom prst="roundRect">
            <a:avLst>
              <a:gd name="adj" fmla="val 15000"/>
            </a:avLst>
          </a:prstGeom>
          <a:solidFill>
            <a:srgbClr val="F3F6F4"/>
          </a:solidFill>
          <a:ln w="9525">
            <a:solidFill>
              <a:srgbClr val="DDE5E1"/>
            </a:solidFill>
            <a:prstDash val="solid"/>
          </a:ln>
        </p:spPr>
      </p:sp>
      <p:sp>
        <p:nvSpPr>
          <p:cNvPr id="29" name="Text 27"/>
          <p:cNvSpPr txBox="1"/>
          <p:nvPr/>
        </p:nvSpPr>
        <p:spPr>
          <a:xfrm>
            <a:off x="5212080" y="19202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Symptom Extraction</a:t>
            </a:r>
            <a:endParaRPr lang="en-US" sz="1050" dirty="0"/>
          </a:p>
        </p:txBody>
      </p:sp>
      <p:sp>
        <p:nvSpPr>
          <p:cNvPr id="30" name="Shape 28"/>
          <p:cNvSpPr/>
          <p:nvPr/>
        </p:nvSpPr>
        <p:spPr>
          <a:xfrm>
            <a:off x="5212080" y="2377440"/>
            <a:ext cx="1737360" cy="365760"/>
          </a:xfrm>
          <a:prstGeom prst="roundRect">
            <a:avLst>
              <a:gd name="adj" fmla="val 15000"/>
            </a:avLst>
          </a:prstGeom>
          <a:solidFill>
            <a:srgbClr val="F3F6F4"/>
          </a:solidFill>
          <a:ln w="9525">
            <a:solidFill>
              <a:srgbClr val="DDE5E1"/>
            </a:solidFill>
            <a:prstDash val="solid"/>
          </a:ln>
        </p:spPr>
      </p:sp>
      <p:sp>
        <p:nvSpPr>
          <p:cNvPr id="31" name="Text 29"/>
          <p:cNvSpPr txBox="1"/>
          <p:nvPr/>
        </p:nvSpPr>
        <p:spPr>
          <a:xfrm>
            <a:off x="5212080" y="23774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Duration Analysis</a:t>
            </a:r>
            <a:endParaRPr lang="en-US" sz="1050" dirty="0"/>
          </a:p>
        </p:txBody>
      </p:sp>
      <p:sp>
        <p:nvSpPr>
          <p:cNvPr id="32" name="Shape 30"/>
          <p:cNvSpPr/>
          <p:nvPr/>
        </p:nvSpPr>
        <p:spPr>
          <a:xfrm>
            <a:off x="5212080" y="2834640"/>
            <a:ext cx="1737360" cy="365760"/>
          </a:xfrm>
          <a:prstGeom prst="roundRect">
            <a:avLst>
              <a:gd name="adj" fmla="val 15000"/>
            </a:avLst>
          </a:prstGeom>
          <a:solidFill>
            <a:srgbClr val="F3F6F4"/>
          </a:solidFill>
          <a:ln w="9525">
            <a:solidFill>
              <a:srgbClr val="DDE5E1"/>
            </a:solidFill>
            <a:prstDash val="solid"/>
          </a:ln>
        </p:spPr>
      </p:sp>
      <p:sp>
        <p:nvSpPr>
          <p:cNvPr id="33" name="Text 31"/>
          <p:cNvSpPr txBox="1"/>
          <p:nvPr/>
        </p:nvSpPr>
        <p:spPr>
          <a:xfrm>
            <a:off x="5212080" y="28346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Context Modeling</a:t>
            </a:r>
            <a:endParaRPr lang="en-US" sz="1050" dirty="0"/>
          </a:p>
        </p:txBody>
      </p:sp>
      <p:sp>
        <p:nvSpPr>
          <p:cNvPr id="34" name="Shape 32"/>
          <p:cNvSpPr/>
          <p:nvPr/>
        </p:nvSpPr>
        <p:spPr>
          <a:xfrm>
            <a:off x="7338060" y="1417320"/>
            <a:ext cx="2011680" cy="2377440"/>
          </a:xfrm>
          <a:prstGeom prst="roundRect">
            <a:avLst>
              <a:gd name="adj" fmla="val 3636"/>
            </a:avLst>
          </a:prstGeom>
          <a:solidFill>
            <a:srgbClr val="FFFFFF"/>
          </a:solidFill>
          <a:ln w="19050">
            <a:solidFill>
              <a:srgbClr val="6D28D9"/>
            </a:solidFill>
            <a:prstDash val="solid"/>
          </a:ln>
        </p:spPr>
      </p:sp>
      <p:sp>
        <p:nvSpPr>
          <p:cNvPr id="35" name="Text 33"/>
          <p:cNvSpPr txBox="1"/>
          <p:nvPr/>
        </p:nvSpPr>
        <p:spPr>
          <a:xfrm>
            <a:off x="7338060" y="1508760"/>
            <a:ext cx="2011680" cy="320040"/>
          </a:xfrm>
          <a:prstGeom prst="rect">
            <a:avLst/>
          </a:prstGeom>
          <a:noFill/>
          <a:ln/>
        </p:spPr>
        <p:txBody>
          <a:bodyPr wrap="square" lIns="0" tIns="0" rIns="0" bIns="0" rtlCol="0" anchor="ctr"/>
          <a:lstStyle/>
          <a:p>
            <a:pPr marL="0" indent="0" algn="ctr">
              <a:buNone/>
            </a:pPr>
            <a:r>
              <a:rPr lang="en-US" sz="1150" b="1" dirty="0">
                <a:solidFill>
                  <a:srgbClr val="6D28D9"/>
                </a:solidFill>
                <a:latin typeface="Calibri" pitchFamily="34" charset="0"/>
                <a:ea typeface="Calibri" pitchFamily="34" charset="-122"/>
                <a:cs typeface="Calibri" pitchFamily="34" charset="-120"/>
              </a:rPr>
              <a:t>RAG</a:t>
            </a:r>
            <a:endParaRPr lang="en-US" sz="1150" dirty="0"/>
          </a:p>
        </p:txBody>
      </p:sp>
      <p:sp>
        <p:nvSpPr>
          <p:cNvPr id="36" name="Shape 34"/>
          <p:cNvSpPr/>
          <p:nvPr/>
        </p:nvSpPr>
        <p:spPr>
          <a:xfrm>
            <a:off x="7475220" y="1920240"/>
            <a:ext cx="1737360" cy="365760"/>
          </a:xfrm>
          <a:prstGeom prst="roundRect">
            <a:avLst>
              <a:gd name="adj" fmla="val 15000"/>
            </a:avLst>
          </a:prstGeom>
          <a:solidFill>
            <a:srgbClr val="F3F6F4"/>
          </a:solidFill>
          <a:ln w="9525">
            <a:solidFill>
              <a:srgbClr val="DDE5E1"/>
            </a:solidFill>
            <a:prstDash val="solid"/>
          </a:ln>
        </p:spPr>
      </p:sp>
      <p:sp>
        <p:nvSpPr>
          <p:cNvPr id="37" name="Text 35"/>
          <p:cNvSpPr txBox="1"/>
          <p:nvPr/>
        </p:nvSpPr>
        <p:spPr>
          <a:xfrm>
            <a:off x="7475220" y="19202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Knowledge Base</a:t>
            </a:r>
            <a:endParaRPr lang="en-US" sz="1050" dirty="0"/>
          </a:p>
        </p:txBody>
      </p:sp>
      <p:sp>
        <p:nvSpPr>
          <p:cNvPr id="38" name="Shape 36"/>
          <p:cNvSpPr/>
          <p:nvPr/>
        </p:nvSpPr>
        <p:spPr>
          <a:xfrm>
            <a:off x="7475220" y="2377440"/>
            <a:ext cx="1737360" cy="365760"/>
          </a:xfrm>
          <a:prstGeom prst="roundRect">
            <a:avLst>
              <a:gd name="adj" fmla="val 15000"/>
            </a:avLst>
          </a:prstGeom>
          <a:solidFill>
            <a:srgbClr val="F3F6F4"/>
          </a:solidFill>
          <a:ln w="9525">
            <a:solidFill>
              <a:srgbClr val="DDE5E1"/>
            </a:solidFill>
            <a:prstDash val="solid"/>
          </a:ln>
        </p:spPr>
      </p:sp>
      <p:sp>
        <p:nvSpPr>
          <p:cNvPr id="39" name="Text 37"/>
          <p:cNvSpPr txBox="1"/>
          <p:nvPr/>
        </p:nvSpPr>
        <p:spPr>
          <a:xfrm>
            <a:off x="7475220" y="23774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Embeddings</a:t>
            </a:r>
            <a:endParaRPr lang="en-US" sz="1050" dirty="0"/>
          </a:p>
        </p:txBody>
      </p:sp>
      <p:sp>
        <p:nvSpPr>
          <p:cNvPr id="40" name="Shape 38"/>
          <p:cNvSpPr/>
          <p:nvPr/>
        </p:nvSpPr>
        <p:spPr>
          <a:xfrm>
            <a:off x="7475220" y="2834640"/>
            <a:ext cx="1737360" cy="365760"/>
          </a:xfrm>
          <a:prstGeom prst="roundRect">
            <a:avLst>
              <a:gd name="adj" fmla="val 15000"/>
            </a:avLst>
          </a:prstGeom>
          <a:solidFill>
            <a:srgbClr val="F3F6F4"/>
          </a:solidFill>
          <a:ln w="9525">
            <a:solidFill>
              <a:srgbClr val="DDE5E1"/>
            </a:solidFill>
            <a:prstDash val="solid"/>
          </a:ln>
        </p:spPr>
      </p:sp>
      <p:sp>
        <p:nvSpPr>
          <p:cNvPr id="41" name="Text 39"/>
          <p:cNvSpPr txBox="1"/>
          <p:nvPr/>
        </p:nvSpPr>
        <p:spPr>
          <a:xfrm>
            <a:off x="7475220" y="2834640"/>
            <a:ext cx="1737360" cy="365760"/>
          </a:xfrm>
          <a:prstGeom prst="rect">
            <a:avLst/>
          </a:prstGeom>
          <a:noFill/>
          <a:ln/>
        </p:spPr>
        <p:txBody>
          <a:bodyPr wrap="square" lIns="0" tIns="0" rIns="0" bIns="0" rtlCol="0" anchor="ctr"/>
          <a:lstStyle/>
          <a:p>
            <a:pPr marL="0" indent="0" algn="ctr">
              <a:buNone/>
            </a:pPr>
            <a:r>
              <a:rPr lang="en-US" sz="1050" dirty="0">
                <a:solidFill>
                  <a:srgbClr val="1F2A27"/>
                </a:solidFill>
                <a:latin typeface="Calibri" pitchFamily="34" charset="0"/>
                <a:ea typeface="Calibri" pitchFamily="34" charset="-122"/>
                <a:cs typeface="Calibri" pitchFamily="34" charset="-120"/>
              </a:rPr>
              <a:t>Semantic Search</a:t>
            </a:r>
            <a:endParaRPr lang="en-US" sz="1050" dirty="0"/>
          </a:p>
        </p:txBody>
      </p:sp>
      <p:sp>
        <p:nvSpPr>
          <p:cNvPr id="42" name="Shape 40"/>
          <p:cNvSpPr/>
          <p:nvPr/>
        </p:nvSpPr>
        <p:spPr>
          <a:xfrm>
            <a:off x="2560320" y="2606040"/>
            <a:ext cx="251460" cy="0"/>
          </a:xfrm>
          <a:prstGeom prst="line">
            <a:avLst/>
          </a:prstGeom>
          <a:noFill/>
          <a:ln w="19050">
            <a:solidFill>
              <a:srgbClr val="334155"/>
            </a:solidFill>
            <a:prstDash val="solid"/>
            <a:tailEnd type="triangle"/>
          </a:ln>
        </p:spPr>
      </p:sp>
      <p:sp>
        <p:nvSpPr>
          <p:cNvPr id="43" name="Shape 41"/>
          <p:cNvSpPr/>
          <p:nvPr/>
        </p:nvSpPr>
        <p:spPr>
          <a:xfrm>
            <a:off x="4823460" y="2606040"/>
            <a:ext cx="251460" cy="0"/>
          </a:xfrm>
          <a:prstGeom prst="line">
            <a:avLst/>
          </a:prstGeom>
          <a:noFill/>
          <a:ln w="19050">
            <a:solidFill>
              <a:srgbClr val="334155"/>
            </a:solidFill>
            <a:prstDash val="solid"/>
            <a:tailEnd type="triangle"/>
          </a:ln>
        </p:spPr>
      </p:sp>
      <p:sp>
        <p:nvSpPr>
          <p:cNvPr id="44" name="Shape 42"/>
          <p:cNvSpPr/>
          <p:nvPr/>
        </p:nvSpPr>
        <p:spPr>
          <a:xfrm>
            <a:off x="7086600" y="2606040"/>
            <a:ext cx="251460" cy="0"/>
          </a:xfrm>
          <a:prstGeom prst="line">
            <a:avLst/>
          </a:prstGeom>
          <a:noFill/>
          <a:ln w="19050">
            <a:solidFill>
              <a:srgbClr val="334155"/>
            </a:solidFill>
            <a:prstDash val="solid"/>
            <a:tailEnd type="triangle"/>
          </a:ln>
        </p:spPr>
      </p:sp>
      <p:sp>
        <p:nvSpPr>
          <p:cNvPr id="45" name="Shape 43"/>
          <p:cNvSpPr/>
          <p:nvPr/>
        </p:nvSpPr>
        <p:spPr>
          <a:xfrm>
            <a:off x="9349740" y="2606040"/>
            <a:ext cx="251460" cy="0"/>
          </a:xfrm>
          <a:prstGeom prst="line">
            <a:avLst/>
          </a:prstGeom>
          <a:noFill/>
          <a:ln w="19050">
            <a:solidFill>
              <a:srgbClr val="334155"/>
            </a:solidFill>
            <a:prstDash val="solid"/>
            <a:tailEnd type="triangle"/>
          </a:ln>
        </p:spPr>
      </p:sp>
      <p:sp>
        <p:nvSpPr>
          <p:cNvPr id="46" name="Shape 44"/>
          <p:cNvSpPr/>
          <p:nvPr/>
        </p:nvSpPr>
        <p:spPr>
          <a:xfrm>
            <a:off x="9601200" y="1417320"/>
            <a:ext cx="2011680" cy="2377440"/>
          </a:xfrm>
          <a:prstGeom prst="roundRect">
            <a:avLst>
              <a:gd name="adj" fmla="val 3636"/>
            </a:avLst>
          </a:prstGeom>
          <a:solidFill>
            <a:srgbClr val="FFFFFF"/>
          </a:solidFill>
          <a:ln w="19050">
            <a:solidFill>
              <a:srgbClr val="B91C1C"/>
            </a:solidFill>
            <a:prstDash val="solid"/>
          </a:ln>
        </p:spPr>
      </p:sp>
      <p:sp>
        <p:nvSpPr>
          <p:cNvPr id="47" name="Text 45"/>
          <p:cNvSpPr txBox="1"/>
          <p:nvPr/>
        </p:nvSpPr>
        <p:spPr>
          <a:xfrm>
            <a:off x="9601200" y="1508760"/>
            <a:ext cx="2011680" cy="320040"/>
          </a:xfrm>
          <a:prstGeom prst="rect">
            <a:avLst/>
          </a:prstGeom>
          <a:noFill/>
          <a:ln/>
        </p:spPr>
        <p:txBody>
          <a:bodyPr wrap="square" lIns="0" tIns="0" rIns="0" bIns="0" rtlCol="0" anchor="t"/>
          <a:lstStyle/>
          <a:p>
            <a:pPr marL="0" indent="0" algn="ctr">
              <a:buNone/>
            </a:pPr>
            <a:r>
              <a:rPr lang="en-US" sz="1150" b="1" dirty="0">
                <a:solidFill>
                  <a:srgbClr val="B91C1C"/>
                </a:solidFill>
                <a:latin typeface="Calibri" pitchFamily="34" charset="0"/>
                <a:ea typeface="Calibri" pitchFamily="34" charset="-122"/>
                <a:cs typeface="Calibri" pitchFamily="34" charset="-120"/>
              </a:rPr>
              <a:t>LLM</a:t>
            </a:r>
            <a:endParaRPr lang="en-US" sz="1150" dirty="0"/>
          </a:p>
        </p:txBody>
      </p:sp>
      <p:sp>
        <p:nvSpPr>
          <p:cNvPr id="48" name="Text 46"/>
          <p:cNvSpPr txBox="1"/>
          <p:nvPr/>
        </p:nvSpPr>
        <p:spPr>
          <a:xfrm>
            <a:off x="9738360" y="2103120"/>
            <a:ext cx="1737360" cy="731520"/>
          </a:xfrm>
          <a:prstGeom prst="rect">
            <a:avLst/>
          </a:prstGeom>
          <a:noFill/>
          <a:ln/>
        </p:spPr>
        <p:txBody>
          <a:bodyPr wrap="square" lIns="0" tIns="0" rIns="0" bIns="0" rtlCol="0" anchor="t"/>
          <a:lstStyle/>
          <a:p>
            <a:pPr marL="0" indent="0" algn="ctr">
              <a:buNone/>
            </a:pPr>
            <a:r>
              <a:rPr lang="en-US" sz="1100" dirty="0">
                <a:solidFill>
                  <a:srgbClr val="1F2A27"/>
                </a:solidFill>
                <a:latin typeface="Calibri" pitchFamily="34" charset="0"/>
                <a:ea typeface="Calibri" pitchFamily="34" charset="-122"/>
                <a:cs typeface="Calibri" pitchFamily="34" charset="-120"/>
              </a:rPr>
              <a:t>Grounded Response Generation</a:t>
            </a:r>
            <a:endParaRPr lang="en-US" sz="1100" dirty="0"/>
          </a:p>
        </p:txBody>
      </p:sp>
      <p:sp>
        <p:nvSpPr>
          <p:cNvPr id="49" name="Shape 47"/>
          <p:cNvSpPr/>
          <p:nvPr/>
        </p:nvSpPr>
        <p:spPr>
          <a:xfrm>
            <a:off x="11338560" y="3794760"/>
            <a:ext cx="0" cy="320040"/>
          </a:xfrm>
          <a:prstGeom prst="line">
            <a:avLst/>
          </a:prstGeom>
          <a:noFill/>
          <a:ln w="19050">
            <a:solidFill>
              <a:srgbClr val="334155"/>
            </a:solidFill>
            <a:prstDash val="solid"/>
            <a:tailEnd type="triangle"/>
          </a:ln>
        </p:spPr>
      </p:sp>
      <p:sp>
        <p:nvSpPr>
          <p:cNvPr id="50" name="Shape 48"/>
          <p:cNvSpPr/>
          <p:nvPr/>
        </p:nvSpPr>
        <p:spPr>
          <a:xfrm>
            <a:off x="548640" y="4114800"/>
            <a:ext cx="4480560" cy="1463040"/>
          </a:xfrm>
          <a:prstGeom prst="roundRect">
            <a:avLst>
              <a:gd name="adj" fmla="val 5000"/>
            </a:avLst>
          </a:prstGeom>
          <a:solidFill>
            <a:srgbClr val="FFFFFF"/>
          </a:solidFill>
          <a:ln w="19050">
            <a:solidFill>
              <a:srgbClr val="1F2937"/>
            </a:solidFill>
            <a:prstDash val="solid"/>
          </a:ln>
        </p:spPr>
      </p:sp>
      <p:sp>
        <p:nvSpPr>
          <p:cNvPr id="51" name="Text 49"/>
          <p:cNvSpPr txBox="1"/>
          <p:nvPr/>
        </p:nvSpPr>
        <p:spPr>
          <a:xfrm>
            <a:off x="548640" y="4206240"/>
            <a:ext cx="4480560" cy="320040"/>
          </a:xfrm>
          <a:prstGeom prst="rect">
            <a:avLst/>
          </a:prstGeom>
          <a:noFill/>
          <a:ln/>
        </p:spPr>
        <p:txBody>
          <a:bodyPr wrap="square" lIns="0" tIns="0" rIns="0" bIns="0" rtlCol="0" anchor="ctr"/>
          <a:lstStyle/>
          <a:p>
            <a:pPr marL="0" indent="0" algn="ctr">
              <a:buNone/>
            </a:pPr>
            <a:r>
              <a:rPr lang="en-US" sz="1150" b="1" dirty="0">
                <a:solidFill>
                  <a:srgbClr val="1F2937"/>
                </a:solidFill>
                <a:latin typeface="Calibri" pitchFamily="34" charset="0"/>
                <a:ea typeface="Calibri" pitchFamily="34" charset="-122"/>
                <a:cs typeface="Calibri" pitchFamily="34" charset="-120"/>
              </a:rPr>
              <a:t>DATA + SECURITY LAYER</a:t>
            </a:r>
            <a:endParaRPr lang="en-US" sz="1150" dirty="0"/>
          </a:p>
        </p:txBody>
      </p:sp>
      <p:sp>
        <p:nvSpPr>
          <p:cNvPr id="52" name="Shape 50"/>
          <p:cNvSpPr/>
          <p:nvPr/>
        </p:nvSpPr>
        <p:spPr>
          <a:xfrm>
            <a:off x="685800" y="4663440"/>
            <a:ext cx="987552" cy="411480"/>
          </a:xfrm>
          <a:prstGeom prst="roundRect">
            <a:avLst>
              <a:gd name="adj" fmla="val 13333"/>
            </a:avLst>
          </a:prstGeom>
          <a:solidFill>
            <a:srgbClr val="F3F6F4"/>
          </a:solidFill>
          <a:ln w="12700">
            <a:solidFill>
              <a:srgbClr val="DDE5E1"/>
            </a:solidFill>
            <a:prstDash val="solid"/>
          </a:ln>
        </p:spPr>
      </p:sp>
      <p:sp>
        <p:nvSpPr>
          <p:cNvPr id="53" name="Text 51"/>
          <p:cNvSpPr txBox="1"/>
          <p:nvPr/>
        </p:nvSpPr>
        <p:spPr>
          <a:xfrm>
            <a:off x="685800" y="4663440"/>
            <a:ext cx="987552" cy="411480"/>
          </a:xfrm>
          <a:prstGeom prst="rect">
            <a:avLst/>
          </a:prstGeom>
          <a:noFill/>
          <a:ln/>
        </p:spPr>
        <p:txBody>
          <a:bodyPr wrap="square" lIns="0" tIns="0" rIns="0" bIns="0" rtlCol="0" anchor="ctr"/>
          <a:lstStyle/>
          <a:p>
            <a:pPr marL="0" indent="0" algn="ctr">
              <a:buNone/>
            </a:pPr>
            <a:r>
              <a:rPr lang="en-US" sz="1000" dirty="0">
                <a:solidFill>
                  <a:srgbClr val="1F2A27"/>
                </a:solidFill>
                <a:latin typeface="Calibri" pitchFamily="34" charset="0"/>
                <a:ea typeface="Calibri" pitchFamily="34" charset="-122"/>
                <a:cs typeface="Calibri" pitchFamily="34" charset="-120"/>
              </a:rPr>
              <a:t>Database</a:t>
            </a:r>
            <a:endParaRPr lang="en-US" sz="1000" dirty="0"/>
          </a:p>
        </p:txBody>
      </p:sp>
      <p:sp>
        <p:nvSpPr>
          <p:cNvPr id="54" name="Shape 52"/>
          <p:cNvSpPr/>
          <p:nvPr/>
        </p:nvSpPr>
        <p:spPr>
          <a:xfrm>
            <a:off x="1755648" y="4663440"/>
            <a:ext cx="987552" cy="411480"/>
          </a:xfrm>
          <a:prstGeom prst="roundRect">
            <a:avLst>
              <a:gd name="adj" fmla="val 13333"/>
            </a:avLst>
          </a:prstGeom>
          <a:solidFill>
            <a:srgbClr val="F3F6F4"/>
          </a:solidFill>
          <a:ln w="12700">
            <a:solidFill>
              <a:srgbClr val="DDE5E1"/>
            </a:solidFill>
            <a:prstDash val="solid"/>
          </a:ln>
        </p:spPr>
      </p:sp>
      <p:sp>
        <p:nvSpPr>
          <p:cNvPr id="55" name="Text 53"/>
          <p:cNvSpPr txBox="1"/>
          <p:nvPr/>
        </p:nvSpPr>
        <p:spPr>
          <a:xfrm>
            <a:off x="1755648" y="4663440"/>
            <a:ext cx="987552" cy="411480"/>
          </a:xfrm>
          <a:prstGeom prst="rect">
            <a:avLst/>
          </a:prstGeom>
          <a:noFill/>
          <a:ln/>
        </p:spPr>
        <p:txBody>
          <a:bodyPr wrap="square" lIns="0" tIns="0" rIns="0" bIns="0" rtlCol="0" anchor="ctr"/>
          <a:lstStyle/>
          <a:p>
            <a:pPr marL="0" indent="0" algn="ctr">
              <a:buNone/>
            </a:pPr>
            <a:r>
              <a:rPr lang="en-US" sz="1000" dirty="0">
                <a:solidFill>
                  <a:srgbClr val="1F2A27"/>
                </a:solidFill>
                <a:latin typeface="Calibri" pitchFamily="34" charset="0"/>
                <a:ea typeface="Calibri" pitchFamily="34" charset="-122"/>
                <a:cs typeface="Calibri" pitchFamily="34" charset="-120"/>
              </a:rPr>
              <a:t>Encryption</a:t>
            </a:r>
            <a:endParaRPr lang="en-US" sz="1000" dirty="0"/>
          </a:p>
        </p:txBody>
      </p:sp>
      <p:sp>
        <p:nvSpPr>
          <p:cNvPr id="56" name="Shape 54"/>
          <p:cNvSpPr/>
          <p:nvPr/>
        </p:nvSpPr>
        <p:spPr>
          <a:xfrm>
            <a:off x="2825496" y="4663440"/>
            <a:ext cx="987552" cy="411480"/>
          </a:xfrm>
          <a:prstGeom prst="roundRect">
            <a:avLst>
              <a:gd name="adj" fmla="val 13333"/>
            </a:avLst>
          </a:prstGeom>
          <a:solidFill>
            <a:srgbClr val="F3F6F4"/>
          </a:solidFill>
          <a:ln w="12700">
            <a:solidFill>
              <a:srgbClr val="DDE5E1"/>
            </a:solidFill>
            <a:prstDash val="solid"/>
          </a:ln>
        </p:spPr>
      </p:sp>
      <p:sp>
        <p:nvSpPr>
          <p:cNvPr id="57" name="Text 55"/>
          <p:cNvSpPr txBox="1"/>
          <p:nvPr/>
        </p:nvSpPr>
        <p:spPr>
          <a:xfrm>
            <a:off x="2825496" y="4663440"/>
            <a:ext cx="987552" cy="411480"/>
          </a:xfrm>
          <a:prstGeom prst="rect">
            <a:avLst/>
          </a:prstGeom>
          <a:noFill/>
          <a:ln/>
        </p:spPr>
        <p:txBody>
          <a:bodyPr wrap="square" lIns="0" tIns="0" rIns="0" bIns="0" rtlCol="0" anchor="ctr"/>
          <a:lstStyle/>
          <a:p>
            <a:pPr marL="0" indent="0" algn="ctr">
              <a:buNone/>
            </a:pPr>
            <a:r>
              <a:rPr lang="en-US" sz="1000" dirty="0">
                <a:solidFill>
                  <a:srgbClr val="1F2A27"/>
                </a:solidFill>
                <a:latin typeface="Calibri" pitchFamily="34" charset="0"/>
                <a:ea typeface="Calibri" pitchFamily="34" charset="-122"/>
                <a:cs typeface="Calibri" pitchFamily="34" charset="-120"/>
              </a:rPr>
              <a:t>RBAC</a:t>
            </a:r>
            <a:endParaRPr lang="en-US" sz="1000" dirty="0"/>
          </a:p>
        </p:txBody>
      </p:sp>
      <p:sp>
        <p:nvSpPr>
          <p:cNvPr id="58" name="Shape 56"/>
          <p:cNvSpPr/>
          <p:nvPr/>
        </p:nvSpPr>
        <p:spPr>
          <a:xfrm>
            <a:off x="3895344" y="4663440"/>
            <a:ext cx="987552" cy="411480"/>
          </a:xfrm>
          <a:prstGeom prst="roundRect">
            <a:avLst>
              <a:gd name="adj" fmla="val 13333"/>
            </a:avLst>
          </a:prstGeom>
          <a:solidFill>
            <a:srgbClr val="F3F6F4"/>
          </a:solidFill>
          <a:ln w="12700">
            <a:solidFill>
              <a:srgbClr val="DDE5E1"/>
            </a:solidFill>
            <a:prstDash val="solid"/>
          </a:ln>
        </p:spPr>
      </p:sp>
      <p:sp>
        <p:nvSpPr>
          <p:cNvPr id="59" name="Text 57"/>
          <p:cNvSpPr txBox="1"/>
          <p:nvPr/>
        </p:nvSpPr>
        <p:spPr>
          <a:xfrm>
            <a:off x="3895344" y="4663440"/>
            <a:ext cx="987552" cy="411480"/>
          </a:xfrm>
          <a:prstGeom prst="rect">
            <a:avLst/>
          </a:prstGeom>
          <a:noFill/>
          <a:ln/>
        </p:spPr>
        <p:txBody>
          <a:bodyPr wrap="square" lIns="0" tIns="0" rIns="0" bIns="0" rtlCol="0" anchor="ctr"/>
          <a:lstStyle/>
          <a:p>
            <a:pPr marL="0" indent="0" algn="ctr">
              <a:buNone/>
            </a:pPr>
            <a:r>
              <a:rPr lang="en-US" sz="1000" dirty="0">
                <a:solidFill>
                  <a:srgbClr val="1F2A27"/>
                </a:solidFill>
                <a:latin typeface="Calibri" pitchFamily="34" charset="0"/>
                <a:ea typeface="Calibri" pitchFamily="34" charset="-122"/>
                <a:cs typeface="Calibri" pitchFamily="34" charset="-120"/>
              </a:rPr>
              <a:t>Audit Logs</a:t>
            </a:r>
            <a:endParaRPr lang="en-US" sz="1000" dirty="0"/>
          </a:p>
        </p:txBody>
      </p:sp>
      <p:sp>
        <p:nvSpPr>
          <p:cNvPr id="60" name="Shape 58"/>
          <p:cNvSpPr/>
          <p:nvPr/>
        </p:nvSpPr>
        <p:spPr>
          <a:xfrm>
            <a:off x="5212080" y="4114800"/>
            <a:ext cx="2926080" cy="1463040"/>
          </a:xfrm>
          <a:prstGeom prst="roundRect">
            <a:avLst>
              <a:gd name="adj" fmla="val 5000"/>
            </a:avLst>
          </a:prstGeom>
          <a:solidFill>
            <a:srgbClr val="FFFFFF"/>
          </a:solidFill>
          <a:ln w="19050">
            <a:solidFill>
              <a:srgbClr val="B0245F"/>
            </a:solidFill>
            <a:prstDash val="solid"/>
          </a:ln>
        </p:spPr>
      </p:sp>
      <p:sp>
        <p:nvSpPr>
          <p:cNvPr id="61" name="Text 59"/>
          <p:cNvSpPr txBox="1"/>
          <p:nvPr/>
        </p:nvSpPr>
        <p:spPr>
          <a:xfrm>
            <a:off x="5212080" y="4206240"/>
            <a:ext cx="2926080" cy="320040"/>
          </a:xfrm>
          <a:prstGeom prst="rect">
            <a:avLst/>
          </a:prstGeom>
          <a:noFill/>
          <a:ln/>
        </p:spPr>
        <p:txBody>
          <a:bodyPr wrap="square" lIns="0" tIns="0" rIns="0" bIns="0" rtlCol="0" anchor="ctr"/>
          <a:lstStyle/>
          <a:p>
            <a:pPr marL="0" indent="0" algn="ctr">
              <a:buNone/>
            </a:pPr>
            <a:r>
              <a:rPr lang="en-US" sz="1150" b="1" dirty="0">
                <a:solidFill>
                  <a:srgbClr val="B0245F"/>
                </a:solidFill>
                <a:latin typeface="Calibri" pitchFamily="34" charset="0"/>
                <a:ea typeface="Calibri" pitchFamily="34" charset="-122"/>
                <a:cs typeface="Calibri" pitchFamily="34" charset="-120"/>
              </a:rPr>
              <a:t>RECOMMENDATION &amp; CONSULTATION</a:t>
            </a:r>
            <a:endParaRPr lang="en-US" sz="1150" dirty="0"/>
          </a:p>
        </p:txBody>
      </p:sp>
      <p:sp>
        <p:nvSpPr>
          <p:cNvPr id="62" name="Shape 60"/>
          <p:cNvSpPr/>
          <p:nvPr/>
        </p:nvSpPr>
        <p:spPr>
          <a:xfrm>
            <a:off x="5349240" y="4663440"/>
            <a:ext cx="1280160" cy="411480"/>
          </a:xfrm>
          <a:prstGeom prst="roundRect">
            <a:avLst>
              <a:gd name="adj" fmla="val 13333"/>
            </a:avLst>
          </a:prstGeom>
          <a:solidFill>
            <a:srgbClr val="FDF2F8"/>
          </a:solidFill>
          <a:ln w="12700">
            <a:solidFill>
              <a:srgbClr val="F5D0E6"/>
            </a:solidFill>
            <a:prstDash val="solid"/>
          </a:ln>
        </p:spPr>
      </p:sp>
      <p:sp>
        <p:nvSpPr>
          <p:cNvPr id="63" name="Text 61"/>
          <p:cNvSpPr txBox="1"/>
          <p:nvPr/>
        </p:nvSpPr>
        <p:spPr>
          <a:xfrm>
            <a:off x="5349240" y="4663440"/>
            <a:ext cx="1280160" cy="411480"/>
          </a:xfrm>
          <a:prstGeom prst="rect">
            <a:avLst/>
          </a:prstGeom>
          <a:noFill/>
          <a:ln/>
        </p:spPr>
        <p:txBody>
          <a:bodyPr wrap="square" lIns="0" tIns="0" rIns="0" bIns="0" rtlCol="0" anchor="ctr"/>
          <a:lstStyle/>
          <a:p>
            <a:pPr marL="0" indent="0" algn="ctr">
              <a:buNone/>
            </a:pPr>
            <a:r>
              <a:rPr lang="en-US" sz="1000" dirty="0">
                <a:solidFill>
                  <a:srgbClr val="1F2A27"/>
                </a:solidFill>
                <a:latin typeface="Calibri" pitchFamily="34" charset="0"/>
                <a:ea typeface="Calibri" pitchFamily="34" charset="-122"/>
                <a:cs typeface="Calibri" pitchFamily="34" charset="-120"/>
              </a:rPr>
              <a:t>Wellness Guidance</a:t>
            </a:r>
            <a:endParaRPr lang="en-US" sz="1000" dirty="0"/>
          </a:p>
        </p:txBody>
      </p:sp>
      <p:sp>
        <p:nvSpPr>
          <p:cNvPr id="64" name="Shape 62"/>
          <p:cNvSpPr/>
          <p:nvPr/>
        </p:nvSpPr>
        <p:spPr>
          <a:xfrm>
            <a:off x="6720840" y="4663440"/>
            <a:ext cx="1280160" cy="411480"/>
          </a:xfrm>
          <a:prstGeom prst="roundRect">
            <a:avLst>
              <a:gd name="adj" fmla="val 13333"/>
            </a:avLst>
          </a:prstGeom>
          <a:solidFill>
            <a:srgbClr val="FDF2F8"/>
          </a:solidFill>
          <a:ln w="12700">
            <a:solidFill>
              <a:srgbClr val="F5D0E6"/>
            </a:solidFill>
            <a:prstDash val="solid"/>
          </a:ln>
        </p:spPr>
      </p:sp>
      <p:sp>
        <p:nvSpPr>
          <p:cNvPr id="65" name="Text 63"/>
          <p:cNvSpPr txBox="1"/>
          <p:nvPr/>
        </p:nvSpPr>
        <p:spPr>
          <a:xfrm>
            <a:off x="6720840" y="4663440"/>
            <a:ext cx="1280160" cy="411480"/>
          </a:xfrm>
          <a:prstGeom prst="rect">
            <a:avLst/>
          </a:prstGeom>
          <a:noFill/>
          <a:ln/>
        </p:spPr>
        <p:txBody>
          <a:bodyPr wrap="square" lIns="0" tIns="0" rIns="0" bIns="0" rtlCol="0" anchor="ctr"/>
          <a:lstStyle/>
          <a:p>
            <a:pPr marL="0" indent="0" algn="ctr">
              <a:buNone/>
            </a:pPr>
            <a:r>
              <a:rPr lang="en-US" sz="1000" dirty="0">
                <a:solidFill>
                  <a:srgbClr val="1F2A27"/>
                </a:solidFill>
                <a:latin typeface="Calibri" pitchFamily="34" charset="0"/>
                <a:ea typeface="Calibri" pitchFamily="34" charset="-122"/>
                <a:cs typeface="Calibri" pitchFamily="34" charset="-120"/>
              </a:rPr>
              <a:t>Doctor Matching</a:t>
            </a:r>
            <a:endParaRPr lang="en-US" sz="1000" dirty="0"/>
          </a:p>
        </p:txBody>
      </p:sp>
      <p:sp>
        <p:nvSpPr>
          <p:cNvPr id="66" name="Shape 64"/>
          <p:cNvSpPr/>
          <p:nvPr/>
        </p:nvSpPr>
        <p:spPr>
          <a:xfrm>
            <a:off x="8321040" y="4114800"/>
            <a:ext cx="1645920" cy="1463040"/>
          </a:xfrm>
          <a:prstGeom prst="roundRect">
            <a:avLst>
              <a:gd name="adj" fmla="val 5000"/>
            </a:avLst>
          </a:prstGeom>
          <a:solidFill>
            <a:srgbClr val="FFFFFF"/>
          </a:solidFill>
          <a:ln w="19050">
            <a:solidFill>
              <a:srgbClr val="0F766E"/>
            </a:solidFill>
            <a:prstDash val="solid"/>
          </a:ln>
        </p:spPr>
      </p:sp>
      <p:sp>
        <p:nvSpPr>
          <p:cNvPr id="67" name="Text 65"/>
          <p:cNvSpPr txBox="1"/>
          <p:nvPr/>
        </p:nvSpPr>
        <p:spPr>
          <a:xfrm>
            <a:off x="8321040" y="4206240"/>
            <a:ext cx="1645920" cy="320040"/>
          </a:xfrm>
          <a:prstGeom prst="rect">
            <a:avLst/>
          </a:prstGeom>
          <a:noFill/>
          <a:ln/>
        </p:spPr>
        <p:txBody>
          <a:bodyPr wrap="square" lIns="0" tIns="0" rIns="0" bIns="0" rtlCol="0" anchor="ctr"/>
          <a:lstStyle/>
          <a:p>
            <a:pPr marL="0" indent="0" algn="ctr">
              <a:buNone/>
            </a:pPr>
            <a:r>
              <a:rPr lang="en-US" sz="1150" b="1" dirty="0">
                <a:solidFill>
                  <a:srgbClr val="0F766E"/>
                </a:solidFill>
                <a:latin typeface="Calibri" pitchFamily="34" charset="0"/>
                <a:ea typeface="Calibri" pitchFamily="34" charset="-122"/>
                <a:cs typeface="Calibri" pitchFamily="34" charset="-120"/>
              </a:rPr>
              <a:t>TTS</a:t>
            </a:r>
            <a:endParaRPr lang="en-US" sz="1150" dirty="0"/>
          </a:p>
        </p:txBody>
      </p:sp>
      <p:sp>
        <p:nvSpPr>
          <p:cNvPr id="68" name="Text 66"/>
          <p:cNvSpPr txBox="1"/>
          <p:nvPr/>
        </p:nvSpPr>
        <p:spPr>
          <a:xfrm>
            <a:off x="8412480" y="4663440"/>
            <a:ext cx="1463040" cy="548640"/>
          </a:xfrm>
          <a:prstGeom prst="rect">
            <a:avLst/>
          </a:prstGeom>
          <a:noFill/>
          <a:ln/>
        </p:spPr>
        <p:txBody>
          <a:bodyPr wrap="square" lIns="0" tIns="0" rIns="0" bIns="0" rtlCol="0" anchor="t"/>
          <a:lstStyle/>
          <a:p>
            <a:pPr marL="0" indent="0" algn="ctr">
              <a:buNone/>
            </a:pPr>
            <a:r>
              <a:rPr lang="en-US" sz="1050" dirty="0">
                <a:solidFill>
                  <a:srgbClr val="1F2A27"/>
                </a:solidFill>
                <a:latin typeface="Calibri" pitchFamily="34" charset="0"/>
                <a:ea typeface="Calibri" pitchFamily="34" charset="-122"/>
                <a:cs typeface="Calibri" pitchFamily="34" charset="-120"/>
              </a:rPr>
              <a:t>Text → Spoken Audio</a:t>
            </a:r>
            <a:endParaRPr lang="en-US" sz="1050" dirty="0"/>
          </a:p>
        </p:txBody>
      </p:sp>
      <p:sp>
        <p:nvSpPr>
          <p:cNvPr id="69" name="Shape 67"/>
          <p:cNvSpPr/>
          <p:nvPr/>
        </p:nvSpPr>
        <p:spPr>
          <a:xfrm>
            <a:off x="10149840" y="4114800"/>
            <a:ext cx="1463040" cy="1463040"/>
          </a:xfrm>
          <a:prstGeom prst="roundRect">
            <a:avLst>
              <a:gd name="adj" fmla="val 5000"/>
            </a:avLst>
          </a:prstGeom>
          <a:solidFill>
            <a:srgbClr val="FEF9E7"/>
          </a:solidFill>
          <a:ln w="19050">
            <a:solidFill>
              <a:srgbClr val="B45309"/>
            </a:solidFill>
            <a:prstDash val="solid"/>
          </a:ln>
        </p:spPr>
      </p:sp>
      <p:sp>
        <p:nvSpPr>
          <p:cNvPr id="70" name="Text 68"/>
          <p:cNvSpPr txBox="1"/>
          <p:nvPr/>
        </p:nvSpPr>
        <p:spPr>
          <a:xfrm>
            <a:off x="10195560" y="4206240"/>
            <a:ext cx="1371600" cy="457200"/>
          </a:xfrm>
          <a:prstGeom prst="rect">
            <a:avLst/>
          </a:prstGeom>
          <a:noFill/>
          <a:ln/>
        </p:spPr>
        <p:txBody>
          <a:bodyPr wrap="square" lIns="0" tIns="0" rIns="0" bIns="0" rtlCol="0" anchor="t"/>
          <a:lstStyle/>
          <a:p>
            <a:pPr marL="0" indent="0" algn="ctr">
              <a:buNone/>
            </a:pPr>
            <a:r>
              <a:rPr lang="en-US" sz="1000" b="1" dirty="0">
                <a:solidFill>
                  <a:srgbClr val="B45309"/>
                </a:solidFill>
                <a:latin typeface="Calibri" pitchFamily="34" charset="0"/>
                <a:ea typeface="Calibri" pitchFamily="34" charset="-122"/>
                <a:cs typeface="Calibri" pitchFamily="34" charset="-120"/>
              </a:rPr>
              <a:t>SAFETY / CONTENT CHECK</a:t>
            </a:r>
            <a:endParaRPr lang="en-US" sz="1000" dirty="0"/>
          </a:p>
        </p:txBody>
      </p:sp>
      <p:sp>
        <p:nvSpPr>
          <p:cNvPr id="71" name="Text 69"/>
          <p:cNvSpPr txBox="1"/>
          <p:nvPr/>
        </p:nvSpPr>
        <p:spPr>
          <a:xfrm>
            <a:off x="10241280" y="4800600"/>
            <a:ext cx="1280160" cy="548640"/>
          </a:xfrm>
          <a:prstGeom prst="rect">
            <a:avLst/>
          </a:prstGeom>
          <a:noFill/>
          <a:ln/>
        </p:spPr>
        <p:txBody>
          <a:bodyPr wrap="square" lIns="0" tIns="0" rIns="0" bIns="0" rtlCol="0" anchor="t"/>
          <a:lstStyle/>
          <a:p>
            <a:pPr marL="0" indent="0" algn="ctr">
              <a:buNone/>
            </a:pPr>
            <a:r>
              <a:rPr lang="en-US" sz="950" dirty="0">
                <a:solidFill>
                  <a:srgbClr val="1F2A27"/>
                </a:solidFill>
                <a:latin typeface="Calibri" pitchFamily="34" charset="0"/>
                <a:ea typeface="Calibri" pitchFamily="34" charset="-122"/>
                <a:cs typeface="Calibri" pitchFamily="34" charset="-120"/>
              </a:rPr>
              <a:t>Guardrails · filters · escalation</a:t>
            </a:r>
            <a:endParaRPr lang="en-US" sz="950" dirty="0"/>
          </a:p>
        </p:txBody>
      </p:sp>
      <p:sp>
        <p:nvSpPr>
          <p:cNvPr id="72" name="Shape 70"/>
          <p:cNvSpPr/>
          <p:nvPr/>
        </p:nvSpPr>
        <p:spPr>
          <a:xfrm flipH="1">
            <a:off x="9966960" y="4846320"/>
            <a:ext cx="182880" cy="0"/>
          </a:xfrm>
          <a:prstGeom prst="line">
            <a:avLst/>
          </a:prstGeom>
          <a:noFill/>
          <a:ln w="19050">
            <a:solidFill>
              <a:srgbClr val="334155"/>
            </a:solidFill>
            <a:prstDash val="solid"/>
            <a:headEnd type="triangle"/>
          </a:ln>
        </p:spPr>
      </p:sp>
      <p:sp>
        <p:nvSpPr>
          <p:cNvPr id="73" name="Shape 71"/>
          <p:cNvSpPr/>
          <p:nvPr/>
        </p:nvSpPr>
        <p:spPr>
          <a:xfrm flipH="1">
            <a:off x="7955280" y="4846320"/>
            <a:ext cx="182880" cy="0"/>
          </a:xfrm>
          <a:prstGeom prst="line">
            <a:avLst/>
          </a:prstGeom>
          <a:noFill/>
          <a:ln w="19050">
            <a:solidFill>
              <a:srgbClr val="334155"/>
            </a:solidFill>
            <a:prstDash val="solid"/>
            <a:headEnd type="triangle"/>
          </a:ln>
        </p:spPr>
      </p:sp>
      <p:sp>
        <p:nvSpPr>
          <p:cNvPr id="74" name="Shape 72"/>
          <p:cNvSpPr/>
          <p:nvPr/>
        </p:nvSpPr>
        <p:spPr>
          <a:xfrm flipH="1">
            <a:off x="4846320" y="4846320"/>
            <a:ext cx="182880" cy="0"/>
          </a:xfrm>
          <a:prstGeom prst="line">
            <a:avLst/>
          </a:prstGeom>
          <a:noFill/>
          <a:ln w="19050">
            <a:solidFill>
              <a:srgbClr val="334155"/>
            </a:solidFill>
            <a:prstDash val="solid"/>
            <a:headEnd type="triangle"/>
          </a:ln>
        </p:spPr>
      </p:sp>
      <p:sp>
        <p:nvSpPr>
          <p:cNvPr id="75" name="Text 73"/>
          <p:cNvSpPr txBox="1"/>
          <p:nvPr/>
        </p:nvSpPr>
        <p:spPr>
          <a:xfrm>
            <a:off x="548640" y="5806440"/>
            <a:ext cx="11064240" cy="320040"/>
          </a:xfrm>
          <a:prstGeom prst="rect">
            <a:avLst/>
          </a:prstGeom>
          <a:noFill/>
          <a:ln/>
        </p:spPr>
        <p:txBody>
          <a:bodyPr wrap="square" lIns="0" tIns="0" rIns="0" bIns="0" rtlCol="0" anchor="t"/>
          <a:lstStyle/>
          <a:p>
            <a:pPr marL="0" indent="0" algn="ctr">
              <a:buNone/>
            </a:pPr>
            <a:r>
              <a:rPr lang="en-US" sz="1100" dirty="0">
                <a:solidFill>
                  <a:srgbClr val="5F6E68"/>
                </a:solidFill>
                <a:latin typeface="Calibri" pitchFamily="34" charset="0"/>
                <a:ea typeface="Calibri" pitchFamily="34" charset="-122"/>
                <a:cs typeface="Calibri" pitchFamily="34" charset="-120"/>
              </a:rPr>
              <a:t>Flow: Presentation → Application → NLP → RAG → LLM → Safety → TTS → Recommendation → Data/Security</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CORE RESEARCH CONTRIBUTION</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RAG Working</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7 / 14</a:t>
            </a:r>
            <a:endParaRPr lang="en-US" sz="1000" dirty="0"/>
          </a:p>
        </p:txBody>
      </p:sp>
      <p:sp>
        <p:nvSpPr>
          <p:cNvPr id="6" name="Shape 4"/>
          <p:cNvSpPr/>
          <p:nvPr/>
        </p:nvSpPr>
        <p:spPr>
          <a:xfrm>
            <a:off x="548640" y="1417320"/>
            <a:ext cx="2651760" cy="2514600"/>
          </a:xfrm>
          <a:prstGeom prst="roundRect">
            <a:avLst>
              <a:gd name="adj" fmla="val 290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7" name="Shape 5"/>
          <p:cNvSpPr/>
          <p:nvPr/>
        </p:nvSpPr>
        <p:spPr>
          <a:xfrm>
            <a:off x="731520" y="1600200"/>
            <a:ext cx="548640" cy="548640"/>
          </a:xfrm>
          <a:prstGeom prst="ellipse">
            <a:avLst/>
          </a:prstGeom>
          <a:solidFill>
            <a:srgbClr val="0B3B2E"/>
          </a:solidFill>
          <a:ln w="12700">
            <a:solidFill>
              <a:srgbClr val="0B3B2E"/>
            </a:solidFill>
            <a:prstDash val="solid"/>
          </a:ln>
        </p:spPr>
      </p:sp>
      <p:pic>
        <p:nvPicPr>
          <p:cNvPr id="8" name="Image 0" descr="preencoded.png"/>
          <p:cNvPicPr>
            <a:picLocks noChangeAspect="1"/>
          </p:cNvPicPr>
          <p:nvPr/>
        </p:nvPicPr>
        <p:blipFill>
          <a:blip r:embed="rId3"/>
          <a:stretch>
            <a:fillRect/>
          </a:stretch>
        </p:blipFill>
        <p:spPr>
          <a:xfrm>
            <a:off x="879653" y="1748333"/>
            <a:ext cx="252374" cy="252374"/>
          </a:xfrm>
          <a:prstGeom prst="rect">
            <a:avLst/>
          </a:prstGeom>
        </p:spPr>
      </p:pic>
      <p:sp>
        <p:nvSpPr>
          <p:cNvPr id="9" name="Text 6"/>
          <p:cNvSpPr txBox="1"/>
          <p:nvPr/>
        </p:nvSpPr>
        <p:spPr>
          <a:xfrm>
            <a:off x="2651760" y="1600200"/>
            <a:ext cx="365760" cy="548640"/>
          </a:xfrm>
          <a:prstGeom prst="rect">
            <a:avLst/>
          </a:prstGeom>
          <a:noFill/>
          <a:ln/>
        </p:spPr>
        <p:txBody>
          <a:bodyPr wrap="square" lIns="0" tIns="0" rIns="0" bIns="0" rtlCol="0" anchor="t"/>
          <a:lstStyle/>
          <a:p>
            <a:pPr marL="0" indent="0" algn="r">
              <a:buNone/>
            </a:pPr>
            <a:r>
              <a:rPr lang="en-US" sz="3000" b="1" dirty="0">
                <a:solidFill>
                  <a:srgbClr val="CFDCD6"/>
                </a:solidFill>
                <a:latin typeface="Cambria" pitchFamily="34" charset="0"/>
                <a:ea typeface="Cambria" pitchFamily="34" charset="-122"/>
                <a:cs typeface="Cambria" pitchFamily="34" charset="-120"/>
              </a:rPr>
              <a:t>1</a:t>
            </a:r>
            <a:endParaRPr lang="en-US" sz="3000" dirty="0"/>
          </a:p>
        </p:txBody>
      </p:sp>
      <p:sp>
        <p:nvSpPr>
          <p:cNvPr id="10" name="Text 7"/>
          <p:cNvSpPr txBox="1"/>
          <p:nvPr/>
        </p:nvSpPr>
        <p:spPr>
          <a:xfrm>
            <a:off x="731520" y="2286000"/>
            <a:ext cx="2286000" cy="365760"/>
          </a:xfrm>
          <a:prstGeom prst="rect">
            <a:avLst/>
          </a:prstGeom>
          <a:noFill/>
          <a:ln/>
        </p:spPr>
        <p:txBody>
          <a:bodyPr wrap="square" lIns="0" tIns="0" rIns="0" bIns="0" rtlCol="0" anchor="t"/>
          <a:lstStyle/>
          <a:p>
            <a:pPr marL="0" indent="0">
              <a:buNone/>
            </a:pPr>
            <a:r>
              <a:rPr lang="en-US" sz="1600" b="1" dirty="0">
                <a:solidFill>
                  <a:srgbClr val="0B3B2E"/>
                </a:solidFill>
                <a:latin typeface="Calibri" pitchFamily="34" charset="0"/>
                <a:ea typeface="Calibri" pitchFamily="34" charset="-122"/>
                <a:cs typeface="Calibri" pitchFamily="34" charset="-120"/>
              </a:rPr>
              <a:t>Curate &amp; Clean</a:t>
            </a:r>
            <a:endParaRPr lang="en-US" sz="1600" dirty="0"/>
          </a:p>
        </p:txBody>
      </p:sp>
      <p:sp>
        <p:nvSpPr>
          <p:cNvPr id="11" name="Text 8"/>
          <p:cNvSpPr txBox="1"/>
          <p:nvPr/>
        </p:nvSpPr>
        <p:spPr>
          <a:xfrm>
            <a:off x="731520" y="2697480"/>
            <a:ext cx="2286000" cy="118872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Ayurvedic reference material is collected, cleaned and segmented into passages.</a:t>
            </a:r>
            <a:endParaRPr lang="en-US" sz="1200" dirty="0"/>
          </a:p>
        </p:txBody>
      </p:sp>
      <p:sp>
        <p:nvSpPr>
          <p:cNvPr id="12" name="Shape 9"/>
          <p:cNvSpPr/>
          <p:nvPr/>
        </p:nvSpPr>
        <p:spPr>
          <a:xfrm>
            <a:off x="3200400" y="2651760"/>
            <a:ext cx="152705" cy="0"/>
          </a:xfrm>
          <a:prstGeom prst="line">
            <a:avLst/>
          </a:prstGeom>
          <a:noFill/>
          <a:ln w="25400">
            <a:solidFill>
              <a:srgbClr val="C9973B"/>
            </a:solidFill>
            <a:prstDash val="solid"/>
            <a:tailEnd type="triangle"/>
          </a:ln>
        </p:spPr>
      </p:sp>
      <p:sp>
        <p:nvSpPr>
          <p:cNvPr id="13" name="Shape 10"/>
          <p:cNvSpPr/>
          <p:nvPr/>
        </p:nvSpPr>
        <p:spPr>
          <a:xfrm>
            <a:off x="3353105" y="1417320"/>
            <a:ext cx="2651760" cy="2514600"/>
          </a:xfrm>
          <a:prstGeom prst="roundRect">
            <a:avLst>
              <a:gd name="adj" fmla="val 290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4" name="Shape 11"/>
          <p:cNvSpPr/>
          <p:nvPr/>
        </p:nvSpPr>
        <p:spPr>
          <a:xfrm>
            <a:off x="3535985" y="1600200"/>
            <a:ext cx="548640" cy="548640"/>
          </a:xfrm>
          <a:prstGeom prst="ellipse">
            <a:avLst/>
          </a:prstGeom>
          <a:solidFill>
            <a:srgbClr val="0B3B2E"/>
          </a:solidFill>
          <a:ln w="12700">
            <a:solidFill>
              <a:srgbClr val="0B3B2E"/>
            </a:solidFill>
            <a:prstDash val="solid"/>
          </a:ln>
        </p:spPr>
      </p:sp>
      <p:pic>
        <p:nvPicPr>
          <p:cNvPr id="15" name="Image 1" descr="preencoded.png"/>
          <p:cNvPicPr>
            <a:picLocks noChangeAspect="1"/>
          </p:cNvPicPr>
          <p:nvPr/>
        </p:nvPicPr>
        <p:blipFill>
          <a:blip r:embed="rId4"/>
          <a:stretch>
            <a:fillRect/>
          </a:stretch>
        </p:blipFill>
        <p:spPr>
          <a:xfrm>
            <a:off x="3684118" y="1748333"/>
            <a:ext cx="252374" cy="252374"/>
          </a:xfrm>
          <a:prstGeom prst="rect">
            <a:avLst/>
          </a:prstGeom>
        </p:spPr>
      </p:pic>
      <p:sp>
        <p:nvSpPr>
          <p:cNvPr id="16" name="Text 12"/>
          <p:cNvSpPr txBox="1"/>
          <p:nvPr/>
        </p:nvSpPr>
        <p:spPr>
          <a:xfrm>
            <a:off x="5456225" y="1600200"/>
            <a:ext cx="365760" cy="548640"/>
          </a:xfrm>
          <a:prstGeom prst="rect">
            <a:avLst/>
          </a:prstGeom>
          <a:noFill/>
          <a:ln/>
        </p:spPr>
        <p:txBody>
          <a:bodyPr wrap="square" lIns="0" tIns="0" rIns="0" bIns="0" rtlCol="0" anchor="t"/>
          <a:lstStyle/>
          <a:p>
            <a:pPr marL="0" indent="0" algn="r">
              <a:buNone/>
            </a:pPr>
            <a:r>
              <a:rPr lang="en-US" sz="3000" b="1" dirty="0">
                <a:solidFill>
                  <a:srgbClr val="CFDCD6"/>
                </a:solidFill>
                <a:latin typeface="Cambria" pitchFamily="34" charset="0"/>
                <a:ea typeface="Cambria" pitchFamily="34" charset="-122"/>
                <a:cs typeface="Cambria" pitchFamily="34" charset="-120"/>
              </a:rPr>
              <a:t>2</a:t>
            </a:r>
            <a:endParaRPr lang="en-US" sz="3000" dirty="0"/>
          </a:p>
        </p:txBody>
      </p:sp>
      <p:sp>
        <p:nvSpPr>
          <p:cNvPr id="17" name="Text 13"/>
          <p:cNvSpPr txBox="1"/>
          <p:nvPr/>
        </p:nvSpPr>
        <p:spPr>
          <a:xfrm>
            <a:off x="3535985" y="2286000"/>
            <a:ext cx="2286000" cy="365760"/>
          </a:xfrm>
          <a:prstGeom prst="rect">
            <a:avLst/>
          </a:prstGeom>
          <a:noFill/>
          <a:ln/>
        </p:spPr>
        <p:txBody>
          <a:bodyPr wrap="square" lIns="0" tIns="0" rIns="0" bIns="0" rtlCol="0" anchor="t"/>
          <a:lstStyle/>
          <a:p>
            <a:pPr marL="0" indent="0">
              <a:buNone/>
            </a:pPr>
            <a:r>
              <a:rPr lang="en-US" sz="1600" b="1" dirty="0">
                <a:solidFill>
                  <a:srgbClr val="0B3B2E"/>
                </a:solidFill>
                <a:latin typeface="Calibri" pitchFamily="34" charset="0"/>
                <a:ea typeface="Calibri" pitchFamily="34" charset="-122"/>
                <a:cs typeface="Calibri" pitchFamily="34" charset="-120"/>
              </a:rPr>
              <a:t>Embed</a:t>
            </a:r>
            <a:endParaRPr lang="en-US" sz="1600" dirty="0"/>
          </a:p>
        </p:txBody>
      </p:sp>
      <p:sp>
        <p:nvSpPr>
          <p:cNvPr id="18" name="Text 14"/>
          <p:cNvSpPr txBox="1"/>
          <p:nvPr/>
        </p:nvSpPr>
        <p:spPr>
          <a:xfrm>
            <a:off x="3535985" y="2697480"/>
            <a:ext cx="2286000" cy="118872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Passages are converted into vector embeddings and stored in a vector database.</a:t>
            </a:r>
            <a:endParaRPr lang="en-US" sz="1200" dirty="0"/>
          </a:p>
        </p:txBody>
      </p:sp>
      <p:sp>
        <p:nvSpPr>
          <p:cNvPr id="19" name="Shape 15"/>
          <p:cNvSpPr/>
          <p:nvPr/>
        </p:nvSpPr>
        <p:spPr>
          <a:xfrm>
            <a:off x="6004865" y="2651760"/>
            <a:ext cx="152705" cy="0"/>
          </a:xfrm>
          <a:prstGeom prst="line">
            <a:avLst/>
          </a:prstGeom>
          <a:noFill/>
          <a:ln w="25400">
            <a:solidFill>
              <a:srgbClr val="C9973B"/>
            </a:solidFill>
            <a:prstDash val="solid"/>
            <a:tailEnd type="triangle"/>
          </a:ln>
        </p:spPr>
      </p:sp>
      <p:sp>
        <p:nvSpPr>
          <p:cNvPr id="20" name="Shape 16"/>
          <p:cNvSpPr/>
          <p:nvPr/>
        </p:nvSpPr>
        <p:spPr>
          <a:xfrm>
            <a:off x="6157570" y="1417320"/>
            <a:ext cx="2651760" cy="2514600"/>
          </a:xfrm>
          <a:prstGeom prst="roundRect">
            <a:avLst>
              <a:gd name="adj" fmla="val 290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1" name="Shape 17"/>
          <p:cNvSpPr/>
          <p:nvPr/>
        </p:nvSpPr>
        <p:spPr>
          <a:xfrm>
            <a:off x="6340450" y="1600200"/>
            <a:ext cx="548640" cy="548640"/>
          </a:xfrm>
          <a:prstGeom prst="ellipse">
            <a:avLst/>
          </a:prstGeom>
          <a:solidFill>
            <a:srgbClr val="0B3B2E"/>
          </a:solidFill>
          <a:ln w="12700">
            <a:solidFill>
              <a:srgbClr val="0B3B2E"/>
            </a:solidFill>
            <a:prstDash val="solid"/>
          </a:ln>
        </p:spPr>
      </p:sp>
      <p:pic>
        <p:nvPicPr>
          <p:cNvPr id="22" name="Image 2" descr="preencoded.png"/>
          <p:cNvPicPr>
            <a:picLocks noChangeAspect="1"/>
          </p:cNvPicPr>
          <p:nvPr/>
        </p:nvPicPr>
        <p:blipFill>
          <a:blip r:embed="rId5"/>
          <a:stretch>
            <a:fillRect/>
          </a:stretch>
        </p:blipFill>
        <p:spPr>
          <a:xfrm>
            <a:off x="6488582" y="1748333"/>
            <a:ext cx="252374" cy="252374"/>
          </a:xfrm>
          <a:prstGeom prst="rect">
            <a:avLst/>
          </a:prstGeom>
        </p:spPr>
      </p:pic>
      <p:sp>
        <p:nvSpPr>
          <p:cNvPr id="23" name="Text 18"/>
          <p:cNvSpPr txBox="1"/>
          <p:nvPr/>
        </p:nvSpPr>
        <p:spPr>
          <a:xfrm>
            <a:off x="8260690" y="1600200"/>
            <a:ext cx="365760" cy="548640"/>
          </a:xfrm>
          <a:prstGeom prst="rect">
            <a:avLst/>
          </a:prstGeom>
          <a:noFill/>
          <a:ln/>
        </p:spPr>
        <p:txBody>
          <a:bodyPr wrap="square" lIns="0" tIns="0" rIns="0" bIns="0" rtlCol="0" anchor="t"/>
          <a:lstStyle/>
          <a:p>
            <a:pPr marL="0" indent="0" algn="r">
              <a:buNone/>
            </a:pPr>
            <a:r>
              <a:rPr lang="en-US" sz="3000" b="1" dirty="0">
                <a:solidFill>
                  <a:srgbClr val="CFDCD6"/>
                </a:solidFill>
                <a:latin typeface="Cambria" pitchFamily="34" charset="0"/>
                <a:ea typeface="Cambria" pitchFamily="34" charset="-122"/>
                <a:cs typeface="Cambria" pitchFamily="34" charset="-120"/>
              </a:rPr>
              <a:t>3</a:t>
            </a:r>
            <a:endParaRPr lang="en-US" sz="3000" dirty="0"/>
          </a:p>
        </p:txBody>
      </p:sp>
      <p:sp>
        <p:nvSpPr>
          <p:cNvPr id="24" name="Text 19"/>
          <p:cNvSpPr txBox="1"/>
          <p:nvPr/>
        </p:nvSpPr>
        <p:spPr>
          <a:xfrm>
            <a:off x="6340450" y="2286000"/>
            <a:ext cx="2286000" cy="365760"/>
          </a:xfrm>
          <a:prstGeom prst="rect">
            <a:avLst/>
          </a:prstGeom>
          <a:noFill/>
          <a:ln/>
        </p:spPr>
        <p:txBody>
          <a:bodyPr wrap="square" lIns="0" tIns="0" rIns="0" bIns="0" rtlCol="0" anchor="t"/>
          <a:lstStyle/>
          <a:p>
            <a:pPr marL="0" indent="0">
              <a:buNone/>
            </a:pPr>
            <a:r>
              <a:rPr lang="en-US" sz="1600" b="1" dirty="0">
                <a:solidFill>
                  <a:srgbClr val="0B3B2E"/>
                </a:solidFill>
                <a:latin typeface="Calibri" pitchFamily="34" charset="0"/>
                <a:ea typeface="Calibri" pitchFamily="34" charset="-122"/>
                <a:cs typeface="Calibri" pitchFamily="34" charset="-120"/>
              </a:rPr>
              <a:t>Query &amp; Retrieve</a:t>
            </a:r>
            <a:endParaRPr lang="en-US" sz="1600" dirty="0"/>
          </a:p>
        </p:txBody>
      </p:sp>
      <p:sp>
        <p:nvSpPr>
          <p:cNvPr id="25" name="Text 20"/>
          <p:cNvSpPr txBox="1"/>
          <p:nvPr/>
        </p:nvSpPr>
        <p:spPr>
          <a:xfrm>
            <a:off x="6340450" y="2697480"/>
            <a:ext cx="2286000" cy="118872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The patient's query is embedded and matched against the knowledge base via vector search.</a:t>
            </a:r>
            <a:endParaRPr lang="en-US" sz="1200" dirty="0"/>
          </a:p>
        </p:txBody>
      </p:sp>
      <p:sp>
        <p:nvSpPr>
          <p:cNvPr id="26" name="Shape 21"/>
          <p:cNvSpPr/>
          <p:nvPr/>
        </p:nvSpPr>
        <p:spPr>
          <a:xfrm>
            <a:off x="8809330" y="2651760"/>
            <a:ext cx="152705" cy="0"/>
          </a:xfrm>
          <a:prstGeom prst="line">
            <a:avLst/>
          </a:prstGeom>
          <a:noFill/>
          <a:ln w="25400">
            <a:solidFill>
              <a:srgbClr val="C9973B"/>
            </a:solidFill>
            <a:prstDash val="solid"/>
            <a:tailEnd type="triangle"/>
          </a:ln>
        </p:spPr>
      </p:sp>
      <p:sp>
        <p:nvSpPr>
          <p:cNvPr id="27" name="Shape 22"/>
          <p:cNvSpPr/>
          <p:nvPr/>
        </p:nvSpPr>
        <p:spPr>
          <a:xfrm>
            <a:off x="8962034" y="1417320"/>
            <a:ext cx="2651760" cy="2514600"/>
          </a:xfrm>
          <a:prstGeom prst="roundRect">
            <a:avLst>
              <a:gd name="adj" fmla="val 290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8" name="Shape 23"/>
          <p:cNvSpPr/>
          <p:nvPr/>
        </p:nvSpPr>
        <p:spPr>
          <a:xfrm>
            <a:off x="9144914" y="1600200"/>
            <a:ext cx="548640" cy="548640"/>
          </a:xfrm>
          <a:prstGeom prst="ellipse">
            <a:avLst/>
          </a:prstGeom>
          <a:solidFill>
            <a:srgbClr val="0B3B2E"/>
          </a:solidFill>
          <a:ln w="12700">
            <a:solidFill>
              <a:srgbClr val="0B3B2E"/>
            </a:solidFill>
            <a:prstDash val="solid"/>
          </a:ln>
        </p:spPr>
      </p:sp>
      <p:pic>
        <p:nvPicPr>
          <p:cNvPr id="29" name="Image 3" descr="preencoded.png"/>
          <p:cNvPicPr>
            <a:picLocks noChangeAspect="1"/>
          </p:cNvPicPr>
          <p:nvPr/>
        </p:nvPicPr>
        <p:blipFill>
          <a:blip r:embed="rId6"/>
          <a:stretch>
            <a:fillRect/>
          </a:stretch>
        </p:blipFill>
        <p:spPr>
          <a:xfrm>
            <a:off x="9293047" y="1748333"/>
            <a:ext cx="252374" cy="252374"/>
          </a:xfrm>
          <a:prstGeom prst="rect">
            <a:avLst/>
          </a:prstGeom>
        </p:spPr>
      </p:pic>
      <p:sp>
        <p:nvSpPr>
          <p:cNvPr id="30" name="Text 24"/>
          <p:cNvSpPr txBox="1"/>
          <p:nvPr/>
        </p:nvSpPr>
        <p:spPr>
          <a:xfrm>
            <a:off x="11065154" y="1600200"/>
            <a:ext cx="365760" cy="548640"/>
          </a:xfrm>
          <a:prstGeom prst="rect">
            <a:avLst/>
          </a:prstGeom>
          <a:noFill/>
          <a:ln/>
        </p:spPr>
        <p:txBody>
          <a:bodyPr wrap="square" lIns="0" tIns="0" rIns="0" bIns="0" rtlCol="0" anchor="t"/>
          <a:lstStyle/>
          <a:p>
            <a:pPr marL="0" indent="0" algn="r">
              <a:buNone/>
            </a:pPr>
            <a:r>
              <a:rPr lang="en-US" sz="3000" b="1" dirty="0">
                <a:solidFill>
                  <a:srgbClr val="CFDCD6"/>
                </a:solidFill>
                <a:latin typeface="Cambria" pitchFamily="34" charset="0"/>
                <a:ea typeface="Cambria" pitchFamily="34" charset="-122"/>
                <a:cs typeface="Cambria" pitchFamily="34" charset="-120"/>
              </a:rPr>
              <a:t>4</a:t>
            </a:r>
            <a:endParaRPr lang="en-US" sz="3000" dirty="0"/>
          </a:p>
        </p:txBody>
      </p:sp>
      <p:sp>
        <p:nvSpPr>
          <p:cNvPr id="31" name="Text 25"/>
          <p:cNvSpPr txBox="1"/>
          <p:nvPr/>
        </p:nvSpPr>
        <p:spPr>
          <a:xfrm>
            <a:off x="9144914" y="2286000"/>
            <a:ext cx="2286000" cy="365760"/>
          </a:xfrm>
          <a:prstGeom prst="rect">
            <a:avLst/>
          </a:prstGeom>
          <a:noFill/>
          <a:ln/>
        </p:spPr>
        <p:txBody>
          <a:bodyPr wrap="square" lIns="0" tIns="0" rIns="0" bIns="0" rtlCol="0" anchor="t"/>
          <a:lstStyle/>
          <a:p>
            <a:pPr marL="0" indent="0">
              <a:buNone/>
            </a:pPr>
            <a:r>
              <a:rPr lang="en-US" sz="1600" b="1" dirty="0">
                <a:solidFill>
                  <a:srgbClr val="0B3B2E"/>
                </a:solidFill>
                <a:latin typeface="Calibri" pitchFamily="34" charset="0"/>
                <a:ea typeface="Calibri" pitchFamily="34" charset="-122"/>
                <a:cs typeface="Calibri" pitchFamily="34" charset="-120"/>
              </a:rPr>
              <a:t>Ground &amp; Generate</a:t>
            </a:r>
            <a:endParaRPr lang="en-US" sz="1600" dirty="0"/>
          </a:p>
        </p:txBody>
      </p:sp>
      <p:sp>
        <p:nvSpPr>
          <p:cNvPr id="32" name="Text 26"/>
          <p:cNvSpPr txBox="1"/>
          <p:nvPr/>
        </p:nvSpPr>
        <p:spPr>
          <a:xfrm>
            <a:off x="9144914" y="2697480"/>
            <a:ext cx="2286000" cy="118872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Retrieved passages are supplied to the LLM as context; the model is instructed to prioritise this evidence and avoid unsupported claims.</a:t>
            </a:r>
            <a:endParaRPr lang="en-US" sz="1200" dirty="0"/>
          </a:p>
        </p:txBody>
      </p:sp>
      <p:sp>
        <p:nvSpPr>
          <p:cNvPr id="33" name="Shape 27"/>
          <p:cNvSpPr/>
          <p:nvPr/>
        </p:nvSpPr>
        <p:spPr>
          <a:xfrm>
            <a:off x="548640" y="4160520"/>
            <a:ext cx="11064240" cy="2011680"/>
          </a:xfrm>
          <a:prstGeom prst="roundRect">
            <a:avLst>
              <a:gd name="adj" fmla="val 3636"/>
            </a:avLst>
          </a:prstGeom>
          <a:solidFill>
            <a:srgbClr val="0B3B2E"/>
          </a:solidFill>
          <a:ln w="12700">
            <a:solidFill>
              <a:srgbClr val="0B3B2E"/>
            </a:solidFill>
            <a:prstDash val="solid"/>
          </a:ln>
        </p:spPr>
      </p:sp>
      <p:sp>
        <p:nvSpPr>
          <p:cNvPr id="34" name="Shape 28"/>
          <p:cNvSpPr/>
          <p:nvPr/>
        </p:nvSpPr>
        <p:spPr>
          <a:xfrm>
            <a:off x="822960" y="4343400"/>
            <a:ext cx="502920" cy="502920"/>
          </a:xfrm>
          <a:prstGeom prst="ellipse">
            <a:avLst/>
          </a:prstGeom>
          <a:solidFill>
            <a:srgbClr val="C9973B"/>
          </a:solidFill>
          <a:ln w="12700">
            <a:solidFill>
              <a:srgbClr val="C9973B"/>
            </a:solidFill>
            <a:prstDash val="solid"/>
          </a:ln>
        </p:spPr>
      </p:sp>
      <p:pic>
        <p:nvPicPr>
          <p:cNvPr id="35" name="Image 4" descr="preencoded.png"/>
          <p:cNvPicPr>
            <a:picLocks noChangeAspect="1"/>
          </p:cNvPicPr>
          <p:nvPr/>
        </p:nvPicPr>
        <p:blipFill>
          <a:blip r:embed="rId7"/>
          <a:stretch>
            <a:fillRect/>
          </a:stretch>
        </p:blipFill>
        <p:spPr>
          <a:xfrm>
            <a:off x="958748" y="4479188"/>
            <a:ext cx="231343" cy="231343"/>
          </a:xfrm>
          <a:prstGeom prst="rect">
            <a:avLst/>
          </a:prstGeom>
        </p:spPr>
      </p:pic>
      <p:sp>
        <p:nvSpPr>
          <p:cNvPr id="36" name="Text 29"/>
          <p:cNvSpPr txBox="1"/>
          <p:nvPr/>
        </p:nvSpPr>
        <p:spPr>
          <a:xfrm>
            <a:off x="1508760" y="4343400"/>
            <a:ext cx="4572000" cy="502920"/>
          </a:xfrm>
          <a:prstGeom prst="rect">
            <a:avLst/>
          </a:prstGeom>
          <a:noFill/>
          <a:ln/>
        </p:spPr>
        <p:txBody>
          <a:bodyPr wrap="square" lIns="0" tIns="0" rIns="0" bIns="0" rtlCol="0" anchor="ctr"/>
          <a:lstStyle/>
          <a:p>
            <a:pPr marL="0" indent="0">
              <a:buNone/>
            </a:pPr>
            <a:r>
              <a:rPr lang="en-US" sz="1800" b="1" dirty="0">
                <a:solidFill>
                  <a:srgbClr val="FFFFFF"/>
                </a:solidFill>
                <a:latin typeface="Cambria" pitchFamily="34" charset="0"/>
                <a:ea typeface="Cambria" pitchFamily="34" charset="-122"/>
                <a:cs typeface="Cambria" pitchFamily="34" charset="-120"/>
              </a:rPr>
              <a:t>Why RAG Matters</a:t>
            </a:r>
            <a:endParaRPr lang="en-US" sz="1800" dirty="0"/>
          </a:p>
        </p:txBody>
      </p:sp>
      <p:sp>
        <p:nvSpPr>
          <p:cNvPr id="37" name="Text 30"/>
          <p:cNvSpPr txBox="1"/>
          <p:nvPr/>
        </p:nvSpPr>
        <p:spPr>
          <a:xfrm>
            <a:off x="822960" y="4937760"/>
            <a:ext cx="5120640" cy="11430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Keeps answers grounded in a curated, trusted Ayurvedic source instead of the model's unverified memory</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Communicates uncertainty and avoids unsupported medical claims</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A “View Sources” control shows the exact knowledge used to build each response</a:t>
            </a:r>
            <a:endParaRPr lang="en-US" sz="1200" dirty="0"/>
          </a:p>
        </p:txBody>
      </p:sp>
      <p:sp>
        <p:nvSpPr>
          <p:cNvPr id="38" name="Text 31"/>
          <p:cNvSpPr txBox="1"/>
          <p:nvPr/>
        </p:nvSpPr>
        <p:spPr>
          <a:xfrm>
            <a:off x="6309360" y="4937760"/>
            <a:ext cx="5120640" cy="114300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System instructions stay separated from retrieved content to resist prompt injection</a:t>
            </a:r>
            <a:endParaRPr lang="en-US" sz="1200" dirty="0"/>
          </a:p>
          <a:p>
            <a:pPr marL="342900" indent="-342900">
              <a:spcAft>
                <a:spcPts val="500"/>
              </a:spcAft>
              <a:buSzPct val="100000"/>
              <a:buChar char="•"/>
            </a:pPr>
            <a:r>
              <a:rPr lang="en-US" sz="1200" dirty="0">
                <a:solidFill>
                  <a:srgbClr val="FFFFFF"/>
                </a:solidFill>
                <a:latin typeface="Calibri" pitchFamily="34" charset="0"/>
                <a:ea typeface="Calibri" pitchFamily="34" charset="-122"/>
                <a:cs typeface="Calibri" pitchFamily="34" charset="-120"/>
              </a:rPr>
              <a:t>Keeps the assistant’s guidance clearly distinct from a professional diagnosis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DOCTOR PORTAL</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Hospital ERP &amp; Pharmacy</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8 / 14</a:t>
            </a:r>
            <a:endParaRPr lang="en-US" sz="1000" dirty="0"/>
          </a:p>
        </p:txBody>
      </p:sp>
      <p:sp>
        <p:nvSpPr>
          <p:cNvPr id="6" name="Shape 4"/>
          <p:cNvSpPr/>
          <p:nvPr/>
        </p:nvSpPr>
        <p:spPr>
          <a:xfrm>
            <a:off x="548640" y="1417320"/>
            <a:ext cx="5440680" cy="3154680"/>
          </a:xfrm>
          <a:prstGeom prst="roundRect">
            <a:avLst>
              <a:gd name="adj" fmla="val 231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7" name="Shape 5"/>
          <p:cNvSpPr/>
          <p:nvPr/>
        </p:nvSpPr>
        <p:spPr>
          <a:xfrm>
            <a:off x="777240" y="1600200"/>
            <a:ext cx="594360" cy="594360"/>
          </a:xfrm>
          <a:prstGeom prst="ellipse">
            <a:avLst/>
          </a:prstGeom>
          <a:solidFill>
            <a:srgbClr val="0B3B2E"/>
          </a:solidFill>
          <a:ln w="12700">
            <a:solidFill>
              <a:srgbClr val="0B3B2E"/>
            </a:solidFill>
            <a:prstDash val="solid"/>
          </a:ln>
        </p:spPr>
      </p:sp>
      <p:pic>
        <p:nvPicPr>
          <p:cNvPr id="8" name="Image 0" descr="preencoded.png"/>
          <p:cNvPicPr>
            <a:picLocks noChangeAspect="1"/>
          </p:cNvPicPr>
          <p:nvPr/>
        </p:nvPicPr>
        <p:blipFill>
          <a:blip r:embed="rId3"/>
          <a:stretch>
            <a:fillRect/>
          </a:stretch>
        </p:blipFill>
        <p:spPr>
          <a:xfrm>
            <a:off x="937717" y="1760677"/>
            <a:ext cx="273406" cy="273406"/>
          </a:xfrm>
          <a:prstGeom prst="rect">
            <a:avLst/>
          </a:prstGeom>
        </p:spPr>
      </p:pic>
      <p:sp>
        <p:nvSpPr>
          <p:cNvPr id="9" name="Text 6"/>
          <p:cNvSpPr txBox="1"/>
          <p:nvPr/>
        </p:nvSpPr>
        <p:spPr>
          <a:xfrm>
            <a:off x="1554480" y="1600200"/>
            <a:ext cx="4114800" cy="594360"/>
          </a:xfrm>
          <a:prstGeom prst="rect">
            <a:avLst/>
          </a:prstGeom>
          <a:noFill/>
          <a:ln/>
        </p:spPr>
        <p:txBody>
          <a:bodyPr wrap="square" lIns="0" tIns="0" rIns="0" bIns="0" rtlCol="0" anchor="ctr"/>
          <a:lstStyle/>
          <a:p>
            <a:pPr marL="0" indent="0">
              <a:buNone/>
            </a:pPr>
            <a:r>
              <a:rPr lang="en-US" sz="2000" b="1" dirty="0">
                <a:solidFill>
                  <a:srgbClr val="0B3B2E"/>
                </a:solidFill>
                <a:latin typeface="Cambria" pitchFamily="34" charset="0"/>
                <a:ea typeface="Cambria" pitchFamily="34" charset="-122"/>
                <a:cs typeface="Cambria" pitchFamily="34" charset="-120"/>
              </a:rPr>
              <a:t>Hospital ERP</a:t>
            </a:r>
            <a:endParaRPr lang="en-US" sz="2000" dirty="0"/>
          </a:p>
        </p:txBody>
      </p:sp>
      <p:sp>
        <p:nvSpPr>
          <p:cNvPr id="10" name="Text 7"/>
          <p:cNvSpPr txBox="1"/>
          <p:nvPr/>
        </p:nvSpPr>
        <p:spPr>
          <a:xfrm>
            <a:off x="822960" y="2377440"/>
            <a:ext cx="49377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Patient registration &amp; digital health records</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OPD appointment &amp; schedule management</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Doctor, staff &amp; department management</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Billing, invoicing &amp; payments</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Reports &amp; analytics dashboard</a:t>
            </a:r>
            <a:endParaRPr lang="en-US" sz="1400" dirty="0"/>
          </a:p>
        </p:txBody>
      </p:sp>
      <p:sp>
        <p:nvSpPr>
          <p:cNvPr id="11" name="Shape 8"/>
          <p:cNvSpPr/>
          <p:nvPr/>
        </p:nvSpPr>
        <p:spPr>
          <a:xfrm>
            <a:off x="6172200" y="1417320"/>
            <a:ext cx="5440680" cy="3154680"/>
          </a:xfrm>
          <a:prstGeom prst="roundRect">
            <a:avLst>
              <a:gd name="adj" fmla="val 2319"/>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2" name="Shape 9"/>
          <p:cNvSpPr/>
          <p:nvPr/>
        </p:nvSpPr>
        <p:spPr>
          <a:xfrm>
            <a:off x="6400800" y="1600200"/>
            <a:ext cx="594360" cy="594360"/>
          </a:xfrm>
          <a:prstGeom prst="ellipse">
            <a:avLst/>
          </a:prstGeom>
          <a:solidFill>
            <a:srgbClr val="C9973B"/>
          </a:solidFill>
          <a:ln w="12700">
            <a:solidFill>
              <a:srgbClr val="C9973B"/>
            </a:solidFill>
            <a:prstDash val="solid"/>
          </a:ln>
        </p:spPr>
      </p:sp>
      <p:pic>
        <p:nvPicPr>
          <p:cNvPr id="13" name="Image 1" descr="preencoded.png"/>
          <p:cNvPicPr>
            <a:picLocks noChangeAspect="1"/>
          </p:cNvPicPr>
          <p:nvPr/>
        </p:nvPicPr>
        <p:blipFill>
          <a:blip r:embed="rId4"/>
          <a:stretch>
            <a:fillRect/>
          </a:stretch>
        </p:blipFill>
        <p:spPr>
          <a:xfrm>
            <a:off x="6561277" y="1760677"/>
            <a:ext cx="273406" cy="273406"/>
          </a:xfrm>
          <a:prstGeom prst="rect">
            <a:avLst/>
          </a:prstGeom>
        </p:spPr>
      </p:pic>
      <p:sp>
        <p:nvSpPr>
          <p:cNvPr id="14" name="Text 10"/>
          <p:cNvSpPr txBox="1"/>
          <p:nvPr/>
        </p:nvSpPr>
        <p:spPr>
          <a:xfrm>
            <a:off x="7178040" y="1600200"/>
            <a:ext cx="4114800" cy="594360"/>
          </a:xfrm>
          <a:prstGeom prst="rect">
            <a:avLst/>
          </a:prstGeom>
          <a:noFill/>
          <a:ln/>
        </p:spPr>
        <p:txBody>
          <a:bodyPr wrap="square" lIns="0" tIns="0" rIns="0" bIns="0" rtlCol="0" anchor="ctr"/>
          <a:lstStyle/>
          <a:p>
            <a:pPr marL="0" indent="0">
              <a:buNone/>
            </a:pPr>
            <a:r>
              <a:rPr lang="en-US" sz="2000" b="1" dirty="0">
                <a:solidFill>
                  <a:srgbClr val="0B3B2E"/>
                </a:solidFill>
                <a:latin typeface="Cambria" pitchFamily="34" charset="0"/>
                <a:ea typeface="Cambria" pitchFamily="34" charset="-122"/>
                <a:cs typeface="Cambria" pitchFamily="34" charset="-120"/>
              </a:rPr>
              <a:t>Pharmacy Management</a:t>
            </a:r>
            <a:endParaRPr lang="en-US" sz="2000" dirty="0"/>
          </a:p>
        </p:txBody>
      </p:sp>
      <p:sp>
        <p:nvSpPr>
          <p:cNvPr id="15" name="Text 11"/>
          <p:cNvSpPr txBox="1"/>
          <p:nvPr/>
        </p:nvSpPr>
        <p:spPr>
          <a:xfrm>
            <a:off x="6446520" y="2377440"/>
            <a:ext cx="493776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Medicine &amp; herbal formulation inventory</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Prescription-linked dispensing</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Stock, batch &amp; expiry alerts</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Purchase orders &amp; supplier tracking</a:t>
            </a:r>
            <a:endParaRPr lang="en-US" sz="1400" dirty="0"/>
          </a:p>
          <a:p>
            <a:pPr marL="342900" indent="-342900">
              <a:spcAft>
                <a:spcPts val="800"/>
              </a:spcAft>
              <a:buSzPct val="100000"/>
              <a:buChar char="•"/>
            </a:pPr>
            <a:r>
              <a:rPr lang="en-US" sz="1400" dirty="0">
                <a:solidFill>
                  <a:srgbClr val="1F2A27"/>
                </a:solidFill>
                <a:latin typeface="Calibri" pitchFamily="34" charset="0"/>
                <a:ea typeface="Calibri" pitchFamily="34" charset="-122"/>
                <a:cs typeface="Calibri" pitchFamily="34" charset="-120"/>
              </a:rPr>
              <a:t>Sales billing &amp; stock reports</a:t>
            </a:r>
            <a:endParaRPr lang="en-US" sz="1400" dirty="0"/>
          </a:p>
        </p:txBody>
      </p:sp>
      <p:sp>
        <p:nvSpPr>
          <p:cNvPr id="16" name="Shape 12"/>
          <p:cNvSpPr/>
          <p:nvPr/>
        </p:nvSpPr>
        <p:spPr>
          <a:xfrm>
            <a:off x="548640" y="4800600"/>
            <a:ext cx="2514600" cy="777240"/>
          </a:xfrm>
          <a:prstGeom prst="roundRect">
            <a:avLst>
              <a:gd name="adj" fmla="val 9412"/>
            </a:avLst>
          </a:prstGeom>
          <a:solidFill>
            <a:srgbClr val="0B3B2E"/>
          </a:solidFill>
          <a:ln w="12700">
            <a:solidFill>
              <a:srgbClr val="0B3B2E"/>
            </a:solidFill>
            <a:prstDash val="solid"/>
          </a:ln>
        </p:spPr>
      </p:sp>
      <p:sp>
        <p:nvSpPr>
          <p:cNvPr id="17" name="Shape 13"/>
          <p:cNvSpPr/>
          <p:nvPr/>
        </p:nvSpPr>
        <p:spPr>
          <a:xfrm>
            <a:off x="685800" y="4937760"/>
            <a:ext cx="502920" cy="502920"/>
          </a:xfrm>
          <a:prstGeom prst="ellipse">
            <a:avLst/>
          </a:prstGeom>
          <a:solidFill>
            <a:srgbClr val="C9973B"/>
          </a:solidFill>
          <a:ln w="12700">
            <a:solidFill>
              <a:srgbClr val="C9973B"/>
            </a:solidFill>
            <a:prstDash val="solid"/>
          </a:ln>
        </p:spPr>
      </p:sp>
      <p:pic>
        <p:nvPicPr>
          <p:cNvPr id="18" name="Image 2" descr="preencoded.png"/>
          <p:cNvPicPr>
            <a:picLocks noChangeAspect="1"/>
          </p:cNvPicPr>
          <p:nvPr/>
        </p:nvPicPr>
        <p:blipFill>
          <a:blip r:embed="rId5"/>
          <a:stretch>
            <a:fillRect/>
          </a:stretch>
        </p:blipFill>
        <p:spPr>
          <a:xfrm>
            <a:off x="821588" y="5073548"/>
            <a:ext cx="231343" cy="231343"/>
          </a:xfrm>
          <a:prstGeom prst="rect">
            <a:avLst/>
          </a:prstGeom>
        </p:spPr>
      </p:pic>
      <p:sp>
        <p:nvSpPr>
          <p:cNvPr id="19" name="Text 14"/>
          <p:cNvSpPr txBox="1"/>
          <p:nvPr/>
        </p:nvSpPr>
        <p:spPr>
          <a:xfrm>
            <a:off x="1280160" y="4800600"/>
            <a:ext cx="1737360" cy="7772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Consultation</a:t>
            </a:r>
            <a:endParaRPr lang="en-US" sz="1350" dirty="0"/>
          </a:p>
        </p:txBody>
      </p:sp>
      <p:sp>
        <p:nvSpPr>
          <p:cNvPr id="20" name="Shape 15"/>
          <p:cNvSpPr/>
          <p:nvPr/>
        </p:nvSpPr>
        <p:spPr>
          <a:xfrm>
            <a:off x="3090672" y="5189220"/>
            <a:ext cx="237744" cy="0"/>
          </a:xfrm>
          <a:prstGeom prst="line">
            <a:avLst/>
          </a:prstGeom>
          <a:noFill/>
          <a:ln w="25400">
            <a:solidFill>
              <a:srgbClr val="C9973B"/>
            </a:solidFill>
            <a:prstDash val="solid"/>
            <a:tailEnd type="triangle"/>
          </a:ln>
        </p:spPr>
      </p:sp>
      <p:sp>
        <p:nvSpPr>
          <p:cNvPr id="21" name="Shape 16"/>
          <p:cNvSpPr/>
          <p:nvPr/>
        </p:nvSpPr>
        <p:spPr>
          <a:xfrm>
            <a:off x="3353105" y="4800600"/>
            <a:ext cx="2514600" cy="777240"/>
          </a:xfrm>
          <a:prstGeom prst="roundRect">
            <a:avLst>
              <a:gd name="adj" fmla="val 9412"/>
            </a:avLst>
          </a:prstGeom>
          <a:solidFill>
            <a:srgbClr val="0B3B2E"/>
          </a:solidFill>
          <a:ln w="12700">
            <a:solidFill>
              <a:srgbClr val="0B3B2E"/>
            </a:solidFill>
            <a:prstDash val="solid"/>
          </a:ln>
        </p:spPr>
      </p:sp>
      <p:sp>
        <p:nvSpPr>
          <p:cNvPr id="22" name="Shape 17"/>
          <p:cNvSpPr/>
          <p:nvPr/>
        </p:nvSpPr>
        <p:spPr>
          <a:xfrm>
            <a:off x="3490265" y="4937760"/>
            <a:ext cx="502920" cy="502920"/>
          </a:xfrm>
          <a:prstGeom prst="ellipse">
            <a:avLst/>
          </a:prstGeom>
          <a:solidFill>
            <a:srgbClr val="C9973B"/>
          </a:solidFill>
          <a:ln w="12700">
            <a:solidFill>
              <a:srgbClr val="C9973B"/>
            </a:solidFill>
            <a:prstDash val="solid"/>
          </a:ln>
        </p:spPr>
      </p:sp>
      <p:pic>
        <p:nvPicPr>
          <p:cNvPr id="23" name="Image 3" descr="preencoded.png"/>
          <p:cNvPicPr>
            <a:picLocks noChangeAspect="1"/>
          </p:cNvPicPr>
          <p:nvPr/>
        </p:nvPicPr>
        <p:blipFill>
          <a:blip r:embed="rId6"/>
          <a:stretch>
            <a:fillRect/>
          </a:stretch>
        </p:blipFill>
        <p:spPr>
          <a:xfrm>
            <a:off x="3626053" y="5073548"/>
            <a:ext cx="231343" cy="231343"/>
          </a:xfrm>
          <a:prstGeom prst="rect">
            <a:avLst/>
          </a:prstGeom>
        </p:spPr>
      </p:pic>
      <p:sp>
        <p:nvSpPr>
          <p:cNvPr id="24" name="Text 18"/>
          <p:cNvSpPr txBox="1"/>
          <p:nvPr/>
        </p:nvSpPr>
        <p:spPr>
          <a:xfrm>
            <a:off x="4084625" y="4800600"/>
            <a:ext cx="1737360" cy="7772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e-Prescription</a:t>
            </a:r>
            <a:endParaRPr lang="en-US" sz="1350" dirty="0"/>
          </a:p>
        </p:txBody>
      </p:sp>
      <p:sp>
        <p:nvSpPr>
          <p:cNvPr id="25" name="Shape 19"/>
          <p:cNvSpPr/>
          <p:nvPr/>
        </p:nvSpPr>
        <p:spPr>
          <a:xfrm>
            <a:off x="5895137" y="5189220"/>
            <a:ext cx="237744" cy="0"/>
          </a:xfrm>
          <a:prstGeom prst="line">
            <a:avLst/>
          </a:prstGeom>
          <a:noFill/>
          <a:ln w="25400">
            <a:solidFill>
              <a:srgbClr val="C9973B"/>
            </a:solidFill>
            <a:prstDash val="solid"/>
            <a:tailEnd type="triangle"/>
          </a:ln>
        </p:spPr>
      </p:sp>
      <p:sp>
        <p:nvSpPr>
          <p:cNvPr id="26" name="Shape 20"/>
          <p:cNvSpPr/>
          <p:nvPr/>
        </p:nvSpPr>
        <p:spPr>
          <a:xfrm>
            <a:off x="6157570" y="4800600"/>
            <a:ext cx="2514600" cy="777240"/>
          </a:xfrm>
          <a:prstGeom prst="roundRect">
            <a:avLst>
              <a:gd name="adj" fmla="val 9412"/>
            </a:avLst>
          </a:prstGeom>
          <a:solidFill>
            <a:srgbClr val="0B3B2E"/>
          </a:solidFill>
          <a:ln w="12700">
            <a:solidFill>
              <a:srgbClr val="0B3B2E"/>
            </a:solidFill>
            <a:prstDash val="solid"/>
          </a:ln>
        </p:spPr>
      </p:sp>
      <p:sp>
        <p:nvSpPr>
          <p:cNvPr id="27" name="Shape 21"/>
          <p:cNvSpPr/>
          <p:nvPr/>
        </p:nvSpPr>
        <p:spPr>
          <a:xfrm>
            <a:off x="6294730" y="4937760"/>
            <a:ext cx="502920" cy="502920"/>
          </a:xfrm>
          <a:prstGeom prst="ellipse">
            <a:avLst/>
          </a:prstGeom>
          <a:solidFill>
            <a:srgbClr val="C9973B"/>
          </a:solidFill>
          <a:ln w="12700">
            <a:solidFill>
              <a:srgbClr val="C9973B"/>
            </a:solidFill>
            <a:prstDash val="solid"/>
          </a:ln>
        </p:spPr>
      </p:sp>
      <p:pic>
        <p:nvPicPr>
          <p:cNvPr id="28" name="Image 4" descr="preencoded.png"/>
          <p:cNvPicPr>
            <a:picLocks noChangeAspect="1"/>
          </p:cNvPicPr>
          <p:nvPr/>
        </p:nvPicPr>
        <p:blipFill>
          <a:blip r:embed="rId4"/>
          <a:stretch>
            <a:fillRect/>
          </a:stretch>
        </p:blipFill>
        <p:spPr>
          <a:xfrm>
            <a:off x="6430518" y="5073548"/>
            <a:ext cx="231343" cy="231343"/>
          </a:xfrm>
          <a:prstGeom prst="rect">
            <a:avLst/>
          </a:prstGeom>
        </p:spPr>
      </p:pic>
      <p:sp>
        <p:nvSpPr>
          <p:cNvPr id="29" name="Text 22"/>
          <p:cNvSpPr txBox="1"/>
          <p:nvPr/>
        </p:nvSpPr>
        <p:spPr>
          <a:xfrm>
            <a:off x="6889090" y="4800600"/>
            <a:ext cx="1737360" cy="7772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Pharmacy Dispensing</a:t>
            </a:r>
            <a:endParaRPr lang="en-US" sz="1350" dirty="0"/>
          </a:p>
        </p:txBody>
      </p:sp>
      <p:sp>
        <p:nvSpPr>
          <p:cNvPr id="30" name="Shape 23"/>
          <p:cNvSpPr/>
          <p:nvPr/>
        </p:nvSpPr>
        <p:spPr>
          <a:xfrm>
            <a:off x="8699602" y="5189220"/>
            <a:ext cx="237744" cy="0"/>
          </a:xfrm>
          <a:prstGeom prst="line">
            <a:avLst/>
          </a:prstGeom>
          <a:noFill/>
          <a:ln w="25400">
            <a:solidFill>
              <a:srgbClr val="C9973B"/>
            </a:solidFill>
            <a:prstDash val="solid"/>
            <a:tailEnd type="triangle"/>
          </a:ln>
        </p:spPr>
      </p:sp>
      <p:sp>
        <p:nvSpPr>
          <p:cNvPr id="31" name="Shape 24"/>
          <p:cNvSpPr/>
          <p:nvPr/>
        </p:nvSpPr>
        <p:spPr>
          <a:xfrm>
            <a:off x="8962034" y="4800600"/>
            <a:ext cx="2514600" cy="777240"/>
          </a:xfrm>
          <a:prstGeom prst="roundRect">
            <a:avLst>
              <a:gd name="adj" fmla="val 9412"/>
            </a:avLst>
          </a:prstGeom>
          <a:solidFill>
            <a:srgbClr val="0B3B2E"/>
          </a:solidFill>
          <a:ln w="12700">
            <a:solidFill>
              <a:srgbClr val="0B3B2E"/>
            </a:solidFill>
            <a:prstDash val="solid"/>
          </a:ln>
        </p:spPr>
      </p:sp>
      <p:sp>
        <p:nvSpPr>
          <p:cNvPr id="32" name="Shape 25"/>
          <p:cNvSpPr/>
          <p:nvPr/>
        </p:nvSpPr>
        <p:spPr>
          <a:xfrm>
            <a:off x="9099194" y="4937760"/>
            <a:ext cx="502920" cy="502920"/>
          </a:xfrm>
          <a:prstGeom prst="ellipse">
            <a:avLst/>
          </a:prstGeom>
          <a:solidFill>
            <a:srgbClr val="C9973B"/>
          </a:solidFill>
          <a:ln w="12700">
            <a:solidFill>
              <a:srgbClr val="C9973B"/>
            </a:solidFill>
            <a:prstDash val="solid"/>
          </a:ln>
        </p:spPr>
      </p:sp>
      <p:pic>
        <p:nvPicPr>
          <p:cNvPr id="33" name="Image 5" descr="preencoded.png"/>
          <p:cNvPicPr>
            <a:picLocks noChangeAspect="1"/>
          </p:cNvPicPr>
          <p:nvPr/>
        </p:nvPicPr>
        <p:blipFill>
          <a:blip r:embed="rId7"/>
          <a:stretch>
            <a:fillRect/>
          </a:stretch>
        </p:blipFill>
        <p:spPr>
          <a:xfrm>
            <a:off x="9234983" y="5073548"/>
            <a:ext cx="231343" cy="231343"/>
          </a:xfrm>
          <a:prstGeom prst="rect">
            <a:avLst/>
          </a:prstGeom>
        </p:spPr>
      </p:pic>
      <p:sp>
        <p:nvSpPr>
          <p:cNvPr id="34" name="Text 26"/>
          <p:cNvSpPr txBox="1"/>
          <p:nvPr/>
        </p:nvSpPr>
        <p:spPr>
          <a:xfrm>
            <a:off x="9693554" y="4800600"/>
            <a:ext cx="1737360" cy="777240"/>
          </a:xfrm>
          <a:prstGeom prst="rect">
            <a:avLst/>
          </a:prstGeom>
          <a:noFill/>
          <a:ln/>
        </p:spPr>
        <p:txBody>
          <a:bodyPr wrap="square" lIns="0" tIns="0" rIns="0" bIns="0" rtlCol="0" anchor="ctr"/>
          <a:lstStyle/>
          <a:p>
            <a:pPr marL="0" indent="0">
              <a:buNone/>
            </a:pPr>
            <a:r>
              <a:rPr lang="en-US" sz="1350" b="1" dirty="0">
                <a:solidFill>
                  <a:srgbClr val="FFFFFF"/>
                </a:solidFill>
                <a:latin typeface="Calibri" pitchFamily="34" charset="0"/>
                <a:ea typeface="Calibri" pitchFamily="34" charset="-122"/>
                <a:cs typeface="Calibri" pitchFamily="34" charset="-120"/>
              </a:rPr>
              <a:t>Billing &amp; Records</a:t>
            </a:r>
            <a:endParaRPr lang="en-US" sz="1350" dirty="0"/>
          </a:p>
        </p:txBody>
      </p:sp>
      <p:sp>
        <p:nvSpPr>
          <p:cNvPr id="35" name="Text 27"/>
          <p:cNvSpPr txBox="1"/>
          <p:nvPr/>
        </p:nvSpPr>
        <p:spPr>
          <a:xfrm>
            <a:off x="548640" y="5760720"/>
            <a:ext cx="11064240" cy="365760"/>
          </a:xfrm>
          <a:prstGeom prst="rect">
            <a:avLst/>
          </a:prstGeom>
          <a:noFill/>
          <a:ln/>
        </p:spPr>
        <p:txBody>
          <a:bodyPr wrap="square" lIns="0" tIns="0" rIns="0" bIns="0" rtlCol="0" anchor="t"/>
          <a:lstStyle/>
          <a:p>
            <a:pPr marL="0" indent="0" algn="ctr">
              <a:buNone/>
            </a:pPr>
            <a:r>
              <a:rPr lang="en-US" sz="1200" i="1" dirty="0">
                <a:solidFill>
                  <a:srgbClr val="5F6E68"/>
                </a:solidFill>
                <a:latin typeface="Calibri" pitchFamily="34" charset="0"/>
                <a:ea typeface="Calibri" pitchFamily="34" charset="-122"/>
                <a:cs typeface="Calibri" pitchFamily="34" charset="-120"/>
              </a:rPr>
              <a:t>Role-based access, encrypted records and audit logging apply to every ERP &amp; Pharmacy action.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POSITIONING &amp; STACK</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Comparative Analysis &amp; Software Stack</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9 / 14</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237744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47472">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Capability</a:t>
                      </a:r>
                      <a:endParaRPr lang="en-US" sz="120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Zeniva</a:t>
                      </a:r>
                      <a:endParaRPr lang="en-US" sz="120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Generic AI Chatbot</a:t>
                      </a:r>
                      <a:endParaRPr lang="en-US" sz="120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Static Ayurveda Website</a:t>
                      </a:r>
                      <a:endParaRPr lang="en-US" sz="120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0B3B2E"/>
                    </a:solidFill>
                  </a:tcPr>
                </a:tc>
                <a:extLst>
                  <a:ext uri="{0D108BD9-81ED-4DB2-BD59-A6C34878D82A}">
                    <a16:rowId xmlns:a16="http://schemas.microsoft.com/office/drawing/2014/main" val="10000"/>
                  </a:ext>
                </a:extLst>
              </a:tr>
              <a:tr h="347472">
                <a:tc>
                  <a:txBody>
                    <a:bodyPr/>
                    <a:lstStyle/>
                    <a:p>
                      <a:pPr marL="0" indent="0">
                        <a:buNone/>
                      </a:pPr>
                      <a:r>
                        <a:rPr lang="en-US" sz="1150" b="1" dirty="0">
                          <a:solidFill>
                            <a:srgbClr val="1F2A27"/>
                          </a:solidFill>
                          <a:latin typeface="Calibri" pitchFamily="34" charset="0"/>
                          <a:ea typeface="Calibri" pitchFamily="34" charset="-122"/>
                          <a:cs typeface="Calibri" pitchFamily="34" charset="-120"/>
                        </a:rPr>
                        <a:t>Response grounding</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B6B4F"/>
                          </a:solidFill>
                          <a:latin typeface="Calibri" pitchFamily="34" charset="0"/>
                          <a:ea typeface="Calibri" pitchFamily="34" charset="-122"/>
                          <a:cs typeface="Calibri" pitchFamily="34" charset="-120"/>
                        </a:rPr>
                        <a:t>RAG-grounded, source-cited</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E7F3EE"/>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Ungrounded, memory-based</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Fixed articles only</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buNone/>
                      </a:pPr>
                      <a:r>
                        <a:rPr lang="en-US" sz="1150" b="1" dirty="0">
                          <a:solidFill>
                            <a:srgbClr val="1F2A27"/>
                          </a:solidFill>
                          <a:latin typeface="Calibri" pitchFamily="34" charset="0"/>
                          <a:ea typeface="Calibri" pitchFamily="34" charset="-122"/>
                          <a:cs typeface="Calibri" pitchFamily="34" charset="-120"/>
                        </a:rPr>
                        <a:t>Personalisation</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50" b="1" dirty="0">
                          <a:solidFill>
                            <a:srgbClr val="0B6B4F"/>
                          </a:solidFill>
                          <a:latin typeface="Calibri" pitchFamily="34" charset="0"/>
                          <a:ea typeface="Calibri" pitchFamily="34" charset="-122"/>
                          <a:cs typeface="Calibri" pitchFamily="34" charset="-120"/>
                        </a:rPr>
                        <a:t>Symptom &amp; lifestyle aware</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E7F3EE"/>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Limited context</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None</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extLst>
                  <a:ext uri="{0D108BD9-81ED-4DB2-BD59-A6C34878D82A}">
                    <a16:rowId xmlns:a16="http://schemas.microsoft.com/office/drawing/2014/main" val="10002"/>
                  </a:ext>
                </a:extLst>
              </a:tr>
              <a:tr h="347472">
                <a:tc>
                  <a:txBody>
                    <a:bodyPr/>
                    <a:lstStyle/>
                    <a:p>
                      <a:pPr marL="0" indent="0">
                        <a:buNone/>
                      </a:pPr>
                      <a:r>
                        <a:rPr lang="en-US" sz="1150" b="1" dirty="0">
                          <a:solidFill>
                            <a:srgbClr val="1F2A27"/>
                          </a:solidFill>
                          <a:latin typeface="Calibri" pitchFamily="34" charset="0"/>
                          <a:ea typeface="Calibri" pitchFamily="34" charset="-122"/>
                          <a:cs typeface="Calibri" pitchFamily="34" charset="-120"/>
                        </a:rPr>
                        <a:t>Voice output</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B6B4F"/>
                          </a:solidFill>
                          <a:latin typeface="Calibri" pitchFamily="34" charset="0"/>
                          <a:ea typeface="Calibri" pitchFamily="34" charset="-122"/>
                          <a:cs typeface="Calibri" pitchFamily="34" charset="-120"/>
                        </a:rPr>
                        <a:t>TTS in patient's language</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E7F3EE"/>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Usually text-only</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Not applicable</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buNone/>
                      </a:pPr>
                      <a:r>
                        <a:rPr lang="en-US" sz="1150" b="1" dirty="0">
                          <a:solidFill>
                            <a:srgbClr val="1F2A27"/>
                          </a:solidFill>
                          <a:latin typeface="Calibri" pitchFamily="34" charset="0"/>
                          <a:ea typeface="Calibri" pitchFamily="34" charset="-122"/>
                          <a:cs typeface="Calibri" pitchFamily="34" charset="-120"/>
                        </a:rPr>
                        <a:t>Doctor connection</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50" b="1" dirty="0">
                          <a:solidFill>
                            <a:srgbClr val="0B6B4F"/>
                          </a:solidFill>
                          <a:latin typeface="Calibri" pitchFamily="34" charset="0"/>
                          <a:ea typeface="Calibri" pitchFamily="34" charset="-122"/>
                          <a:cs typeface="Calibri" pitchFamily="34" charset="-120"/>
                        </a:rPr>
                        <a:t>Built-in recommendation &amp; consent flow</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E7F3EE"/>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Not included</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Separate directory, if any</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extLst>
                  <a:ext uri="{0D108BD9-81ED-4DB2-BD59-A6C34878D82A}">
                    <a16:rowId xmlns:a16="http://schemas.microsoft.com/office/drawing/2014/main" val="10004"/>
                  </a:ext>
                </a:extLst>
              </a:tr>
              <a:tr h="347472">
                <a:tc>
                  <a:txBody>
                    <a:bodyPr/>
                    <a:lstStyle/>
                    <a:p>
                      <a:pPr marL="0" indent="0">
                        <a:buNone/>
                      </a:pPr>
                      <a:r>
                        <a:rPr lang="en-US" sz="1150" b="1" dirty="0">
                          <a:solidFill>
                            <a:srgbClr val="1F2A27"/>
                          </a:solidFill>
                          <a:latin typeface="Calibri" pitchFamily="34" charset="0"/>
                          <a:ea typeface="Calibri" pitchFamily="34" charset="-122"/>
                          <a:cs typeface="Calibri" pitchFamily="34" charset="-120"/>
                        </a:rPr>
                        <a:t>Practitioner tools</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50" b="1" dirty="0">
                          <a:solidFill>
                            <a:srgbClr val="0B6B4F"/>
                          </a:solidFill>
                          <a:latin typeface="Calibri" pitchFamily="34" charset="0"/>
                          <a:ea typeface="Calibri" pitchFamily="34" charset="-122"/>
                          <a:cs typeface="Calibri" pitchFamily="34" charset="-120"/>
                        </a:rPr>
                        <a:t>Doctor Portal with Hospital ERP &amp; Pharmacy</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E7F3EE"/>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Not included</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Not applicable</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buNone/>
                      </a:pPr>
                      <a:r>
                        <a:rPr lang="en-US" sz="1150" b="1" dirty="0">
                          <a:solidFill>
                            <a:srgbClr val="1F2A27"/>
                          </a:solidFill>
                          <a:latin typeface="Calibri" pitchFamily="34" charset="0"/>
                          <a:ea typeface="Calibri" pitchFamily="34" charset="-122"/>
                          <a:cs typeface="Calibri" pitchFamily="34" charset="-120"/>
                        </a:rPr>
                        <a:t>Security depth</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50" b="1" dirty="0">
                          <a:solidFill>
                            <a:srgbClr val="0B6B4F"/>
                          </a:solidFill>
                          <a:latin typeface="Calibri" pitchFamily="34" charset="0"/>
                          <a:ea typeface="Calibri" pitchFamily="34" charset="-122"/>
                          <a:cs typeface="Calibri" pitchFamily="34" charset="-120"/>
                        </a:rPr>
                        <a:t>Defense-in-depth + AI/RAG controls</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E7F3EE"/>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Varies by vendor</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tc>
                  <a:txBody>
                    <a:bodyPr/>
                    <a:lstStyle/>
                    <a:p>
                      <a:pPr marL="0" indent="0">
                        <a:buNone/>
                      </a:pPr>
                      <a:r>
                        <a:rPr lang="en-US" sz="1150" dirty="0">
                          <a:solidFill>
                            <a:srgbClr val="1F2A27"/>
                          </a:solidFill>
                          <a:latin typeface="Calibri" pitchFamily="34" charset="0"/>
                          <a:ea typeface="Calibri" pitchFamily="34" charset="-122"/>
                          <a:cs typeface="Calibri" pitchFamily="34" charset="-120"/>
                        </a:rPr>
                        <a:t>Basic web security</a:t>
                      </a:r>
                      <a:endParaRPr lang="en-US" sz="1150" dirty="0">
                        <a:latin typeface="Calibri" charset="0"/>
                        <a:ea typeface="Calibri" charset="0"/>
                        <a:cs typeface="Calibri" charset="0"/>
                      </a:endParaRPr>
                    </a:p>
                  </a:txBody>
                  <a:tcPr marT="27432" marB="27432" anchor="ctr">
                    <a:lnL w="9525" cap="flat" cmpd="sng" algn="ctr">
                      <a:solidFill>
                        <a:srgbClr val="DDE5E1"/>
                      </a:solidFill>
                      <a:prstDash val="solid"/>
                      <a:round/>
                      <a:headEnd type="none" w="med" len="med"/>
                      <a:tailEnd type="none" w="med" len="med"/>
                    </a:lnL>
                    <a:lnR w="9525" cap="flat" cmpd="sng" algn="ctr">
                      <a:solidFill>
                        <a:srgbClr val="DDE5E1"/>
                      </a:solidFill>
                      <a:prstDash val="solid"/>
                      <a:round/>
                      <a:headEnd type="none" w="med" len="med"/>
                      <a:tailEnd type="none" w="med" len="med"/>
                    </a:lnR>
                    <a:lnT w="9525" cap="flat" cmpd="sng" algn="ctr">
                      <a:solidFill>
                        <a:srgbClr val="DDE5E1"/>
                      </a:solidFill>
                      <a:prstDash val="solid"/>
                      <a:round/>
                      <a:headEnd type="none" w="med" len="med"/>
                      <a:tailEnd type="none" w="med" len="med"/>
                    </a:lnT>
                    <a:lnB w="9525" cap="flat" cmpd="sng" algn="ctr">
                      <a:solidFill>
                        <a:srgbClr val="DDE5E1"/>
                      </a:solidFill>
                      <a:prstDash val="solid"/>
                      <a:round/>
                      <a:headEnd type="none" w="med" len="med"/>
                      <a:tailEnd type="none" w="med" len="med"/>
                    </a:lnB>
                    <a:solidFill>
                      <a:srgbClr val="F3F6F4"/>
                    </a:solidFill>
                  </a:tcPr>
                </a:tc>
                <a:extLst>
                  <a:ext uri="{0D108BD9-81ED-4DB2-BD59-A6C34878D82A}">
                    <a16:rowId xmlns:a16="http://schemas.microsoft.com/office/drawing/2014/main" val="10006"/>
                  </a:ext>
                </a:extLst>
              </a:tr>
            </a:tbl>
          </a:graphicData>
        </a:graphic>
      </p:graphicFrame>
      <p:sp>
        <p:nvSpPr>
          <p:cNvPr id="7" name="Text 4"/>
          <p:cNvSpPr txBox="1"/>
          <p:nvPr/>
        </p:nvSpPr>
        <p:spPr>
          <a:xfrm>
            <a:off x="548640" y="4023360"/>
            <a:ext cx="5486400" cy="320040"/>
          </a:xfrm>
          <a:prstGeom prst="rect">
            <a:avLst/>
          </a:prstGeom>
          <a:noFill/>
          <a:ln/>
        </p:spPr>
        <p:txBody>
          <a:bodyPr wrap="square" lIns="0" tIns="0" rIns="0" bIns="0" rtlCol="0" anchor="t"/>
          <a:lstStyle/>
          <a:p>
            <a:pPr marL="0" indent="0">
              <a:buNone/>
            </a:pPr>
            <a:r>
              <a:rPr lang="en-US" sz="1700" b="1" dirty="0">
                <a:solidFill>
                  <a:srgbClr val="0B3B2E"/>
                </a:solidFill>
                <a:latin typeface="Cambria" pitchFamily="34" charset="0"/>
                <a:ea typeface="Cambria" pitchFamily="34" charset="-122"/>
                <a:cs typeface="Cambria" pitchFamily="34" charset="-120"/>
              </a:rPr>
              <a:t>Suggested Software Stack</a:t>
            </a:r>
            <a:endParaRPr lang="en-US" sz="1700" dirty="0"/>
          </a:p>
        </p:txBody>
      </p:sp>
      <p:sp>
        <p:nvSpPr>
          <p:cNvPr id="8" name="Shape 5"/>
          <p:cNvSpPr/>
          <p:nvPr/>
        </p:nvSpPr>
        <p:spPr>
          <a:xfrm>
            <a:off x="548640" y="44348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9" name="Text 6"/>
          <p:cNvSpPr txBox="1"/>
          <p:nvPr/>
        </p:nvSpPr>
        <p:spPr>
          <a:xfrm>
            <a:off x="658368" y="45079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Frontend</a:t>
            </a:r>
            <a:endParaRPr lang="en-US" sz="1000" dirty="0"/>
          </a:p>
        </p:txBody>
      </p:sp>
      <p:sp>
        <p:nvSpPr>
          <p:cNvPr id="6" name="Text 7"/>
          <p:cNvSpPr txBox="1"/>
          <p:nvPr/>
        </p:nvSpPr>
        <p:spPr>
          <a:xfrm>
            <a:off x="658368" y="47457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React.js / HTML / CSS / JS</a:t>
            </a:r>
            <a:endParaRPr lang="en-US" sz="1150" dirty="0"/>
          </a:p>
        </p:txBody>
      </p:sp>
      <p:sp>
        <p:nvSpPr>
          <p:cNvPr id="11" name="Shape 8"/>
          <p:cNvSpPr/>
          <p:nvPr/>
        </p:nvSpPr>
        <p:spPr>
          <a:xfrm>
            <a:off x="2788920" y="44348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2" name="Text 9"/>
          <p:cNvSpPr txBox="1"/>
          <p:nvPr/>
        </p:nvSpPr>
        <p:spPr>
          <a:xfrm>
            <a:off x="2898648" y="45079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Backend</a:t>
            </a:r>
            <a:endParaRPr lang="en-US" sz="1000" dirty="0"/>
          </a:p>
        </p:txBody>
      </p:sp>
      <p:sp>
        <p:nvSpPr>
          <p:cNvPr id="13" name="Text 10"/>
          <p:cNvSpPr txBox="1"/>
          <p:nvPr/>
        </p:nvSpPr>
        <p:spPr>
          <a:xfrm>
            <a:off x="2898648" y="47457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Python + FastAPI</a:t>
            </a:r>
            <a:endParaRPr lang="en-US" sz="1150" dirty="0"/>
          </a:p>
        </p:txBody>
      </p:sp>
      <p:sp>
        <p:nvSpPr>
          <p:cNvPr id="14" name="Shape 11"/>
          <p:cNvSpPr/>
          <p:nvPr/>
        </p:nvSpPr>
        <p:spPr>
          <a:xfrm>
            <a:off x="5029200" y="44348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5" name="Text 12"/>
          <p:cNvSpPr txBox="1"/>
          <p:nvPr/>
        </p:nvSpPr>
        <p:spPr>
          <a:xfrm>
            <a:off x="5138928" y="45079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LLM</a:t>
            </a:r>
            <a:endParaRPr lang="en-US" sz="1000" dirty="0"/>
          </a:p>
        </p:txBody>
      </p:sp>
      <p:sp>
        <p:nvSpPr>
          <p:cNvPr id="16" name="Text 13"/>
          <p:cNvSpPr txBox="1"/>
          <p:nvPr/>
        </p:nvSpPr>
        <p:spPr>
          <a:xfrm>
            <a:off x="5138928" y="47457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Llama / Qwen / Mistral</a:t>
            </a:r>
            <a:endParaRPr lang="en-US" sz="1150" dirty="0"/>
          </a:p>
        </p:txBody>
      </p:sp>
      <p:sp>
        <p:nvSpPr>
          <p:cNvPr id="17" name="Shape 14"/>
          <p:cNvSpPr/>
          <p:nvPr/>
        </p:nvSpPr>
        <p:spPr>
          <a:xfrm>
            <a:off x="7269480" y="44348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8" name="Text 15"/>
          <p:cNvSpPr txBox="1"/>
          <p:nvPr/>
        </p:nvSpPr>
        <p:spPr>
          <a:xfrm>
            <a:off x="7379208" y="45079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RAG framework</a:t>
            </a:r>
            <a:endParaRPr lang="en-US" sz="1000" dirty="0"/>
          </a:p>
        </p:txBody>
      </p:sp>
      <p:sp>
        <p:nvSpPr>
          <p:cNvPr id="19" name="Text 16"/>
          <p:cNvSpPr txBox="1"/>
          <p:nvPr/>
        </p:nvSpPr>
        <p:spPr>
          <a:xfrm>
            <a:off x="7379208" y="47457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LangChain / LlamaIndex</a:t>
            </a:r>
            <a:endParaRPr lang="en-US" sz="1150" dirty="0"/>
          </a:p>
        </p:txBody>
      </p:sp>
      <p:sp>
        <p:nvSpPr>
          <p:cNvPr id="20" name="Shape 17"/>
          <p:cNvSpPr/>
          <p:nvPr/>
        </p:nvSpPr>
        <p:spPr>
          <a:xfrm>
            <a:off x="9509760" y="44348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1" name="Text 18"/>
          <p:cNvSpPr txBox="1"/>
          <p:nvPr/>
        </p:nvSpPr>
        <p:spPr>
          <a:xfrm>
            <a:off x="9619488" y="45079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Embeddings</a:t>
            </a:r>
            <a:endParaRPr lang="en-US" sz="1000" dirty="0"/>
          </a:p>
        </p:txBody>
      </p:sp>
      <p:sp>
        <p:nvSpPr>
          <p:cNvPr id="22" name="Text 19"/>
          <p:cNvSpPr txBox="1"/>
          <p:nvPr/>
        </p:nvSpPr>
        <p:spPr>
          <a:xfrm>
            <a:off x="9619488" y="47457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Sentence Transformers</a:t>
            </a:r>
            <a:endParaRPr lang="en-US" sz="1150" dirty="0"/>
          </a:p>
        </p:txBody>
      </p:sp>
      <p:sp>
        <p:nvSpPr>
          <p:cNvPr id="23" name="Shape 20"/>
          <p:cNvSpPr/>
          <p:nvPr/>
        </p:nvSpPr>
        <p:spPr>
          <a:xfrm>
            <a:off x="548640" y="53492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4" name="Text 21"/>
          <p:cNvSpPr txBox="1"/>
          <p:nvPr/>
        </p:nvSpPr>
        <p:spPr>
          <a:xfrm>
            <a:off x="658368" y="54223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Vector DB</a:t>
            </a:r>
            <a:endParaRPr lang="en-US" sz="1000" dirty="0"/>
          </a:p>
        </p:txBody>
      </p:sp>
      <p:sp>
        <p:nvSpPr>
          <p:cNvPr id="25" name="Text 22"/>
          <p:cNvSpPr txBox="1"/>
          <p:nvPr/>
        </p:nvSpPr>
        <p:spPr>
          <a:xfrm>
            <a:off x="658368" y="56601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FAISS / ChromaDB</a:t>
            </a:r>
            <a:endParaRPr lang="en-US" sz="1150" dirty="0"/>
          </a:p>
        </p:txBody>
      </p:sp>
      <p:sp>
        <p:nvSpPr>
          <p:cNvPr id="26" name="Shape 23"/>
          <p:cNvSpPr/>
          <p:nvPr/>
        </p:nvSpPr>
        <p:spPr>
          <a:xfrm>
            <a:off x="2788920" y="53492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7" name="Text 24"/>
          <p:cNvSpPr txBox="1"/>
          <p:nvPr/>
        </p:nvSpPr>
        <p:spPr>
          <a:xfrm>
            <a:off x="2898648" y="54223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App database</a:t>
            </a:r>
            <a:endParaRPr lang="en-US" sz="1000" dirty="0"/>
          </a:p>
        </p:txBody>
      </p:sp>
      <p:sp>
        <p:nvSpPr>
          <p:cNvPr id="28" name="Text 25"/>
          <p:cNvSpPr txBox="1"/>
          <p:nvPr/>
        </p:nvSpPr>
        <p:spPr>
          <a:xfrm>
            <a:off x="2898648" y="56601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PostgreSQL / MySQL</a:t>
            </a:r>
            <a:endParaRPr lang="en-US" sz="1150" dirty="0"/>
          </a:p>
        </p:txBody>
      </p:sp>
      <p:sp>
        <p:nvSpPr>
          <p:cNvPr id="29" name="Shape 26"/>
          <p:cNvSpPr/>
          <p:nvPr/>
        </p:nvSpPr>
        <p:spPr>
          <a:xfrm>
            <a:off x="5029200" y="53492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0" name="Text 27"/>
          <p:cNvSpPr txBox="1"/>
          <p:nvPr/>
        </p:nvSpPr>
        <p:spPr>
          <a:xfrm>
            <a:off x="5138928" y="54223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TTS</a:t>
            </a:r>
            <a:endParaRPr lang="en-US" sz="1000" dirty="0"/>
          </a:p>
        </p:txBody>
      </p:sp>
      <p:sp>
        <p:nvSpPr>
          <p:cNvPr id="31" name="Text 28"/>
          <p:cNvSpPr txBox="1"/>
          <p:nvPr/>
        </p:nvSpPr>
        <p:spPr>
          <a:xfrm>
            <a:off x="5138928" y="56601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Cloud or open-source TTS engine</a:t>
            </a:r>
            <a:endParaRPr lang="en-US" sz="1150" dirty="0"/>
          </a:p>
        </p:txBody>
      </p:sp>
      <p:sp>
        <p:nvSpPr>
          <p:cNvPr id="32" name="Shape 29"/>
          <p:cNvSpPr/>
          <p:nvPr/>
        </p:nvSpPr>
        <p:spPr>
          <a:xfrm>
            <a:off x="7269480" y="5349240"/>
            <a:ext cx="210312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3" name="Text 30"/>
          <p:cNvSpPr txBox="1"/>
          <p:nvPr/>
        </p:nvSpPr>
        <p:spPr>
          <a:xfrm>
            <a:off x="7379208" y="5422392"/>
            <a:ext cx="1920240" cy="228600"/>
          </a:xfrm>
          <a:prstGeom prst="rect">
            <a:avLst/>
          </a:prstGeom>
          <a:noFill/>
          <a:ln/>
        </p:spPr>
        <p:txBody>
          <a:bodyPr wrap="square" lIns="0" tIns="0" rIns="0" bIns="0" rtlCol="0" anchor="t"/>
          <a:lstStyle/>
          <a:p>
            <a:pPr marL="0" indent="0">
              <a:buNone/>
            </a:pPr>
            <a:r>
              <a:rPr lang="en-US" sz="1000" b="1" dirty="0">
                <a:solidFill>
                  <a:srgbClr val="C9973B"/>
                </a:solidFill>
                <a:latin typeface="Calibri" pitchFamily="34" charset="0"/>
                <a:ea typeface="Calibri" pitchFamily="34" charset="-122"/>
                <a:cs typeface="Calibri" pitchFamily="34" charset="-120"/>
              </a:rPr>
              <a:t>Auth &amp; sessions</a:t>
            </a:r>
            <a:endParaRPr lang="en-US" sz="1000" dirty="0"/>
          </a:p>
        </p:txBody>
      </p:sp>
      <p:sp>
        <p:nvSpPr>
          <p:cNvPr id="34" name="Text 31"/>
          <p:cNvSpPr txBox="1"/>
          <p:nvPr/>
        </p:nvSpPr>
        <p:spPr>
          <a:xfrm>
            <a:off x="7379208" y="56601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JWT / secure server sessions</a:t>
            </a:r>
            <a:endParaRPr lang="en-US" sz="1150" dirty="0"/>
          </a:p>
        </p:txBody>
      </p:sp>
      <p:sp>
        <p:nvSpPr>
          <p:cNvPr id="35" name="Shape 32"/>
          <p:cNvSpPr/>
          <p:nvPr/>
        </p:nvSpPr>
        <p:spPr>
          <a:xfrm>
            <a:off x="9509760" y="5349240"/>
            <a:ext cx="2103120" cy="804672"/>
          </a:xfrm>
          <a:prstGeom prst="roundRect">
            <a:avLst>
              <a:gd name="adj" fmla="val 9091"/>
            </a:avLst>
          </a:prstGeom>
          <a:solidFill>
            <a:srgbClr val="FBF3E3"/>
          </a:solidFill>
          <a:ln w="9525">
            <a:solidFill>
              <a:srgbClr val="DDE5E1"/>
            </a:solidFill>
            <a:prstDash val="solid"/>
          </a:ln>
          <a:effectLst>
            <a:outerShdw blurRad="101600" dist="25400" dir="5400000" algn="bl" rotWithShape="0">
              <a:srgbClr val="000000">
                <a:alpha val="8000"/>
              </a:srgbClr>
            </a:outerShdw>
          </a:effectLst>
        </p:spPr>
      </p:sp>
      <p:sp>
        <p:nvSpPr>
          <p:cNvPr id="36" name="Text 33"/>
          <p:cNvSpPr txBox="1"/>
          <p:nvPr/>
        </p:nvSpPr>
        <p:spPr>
          <a:xfrm>
            <a:off x="9619488" y="5422392"/>
            <a:ext cx="1920240" cy="228600"/>
          </a:xfrm>
          <a:prstGeom prst="rect">
            <a:avLst/>
          </a:prstGeom>
          <a:noFill/>
          <a:ln/>
        </p:spPr>
        <p:txBody>
          <a:bodyPr wrap="square" lIns="0" tIns="0" rIns="0" bIns="0" rtlCol="0" anchor="t"/>
          <a:lstStyle/>
          <a:p>
            <a:pPr marL="0" indent="0">
              <a:buNone/>
            </a:pPr>
            <a:r>
              <a:rPr lang="en-US" sz="1000" b="1" dirty="0">
                <a:solidFill>
                  <a:srgbClr val="8A5F12"/>
                </a:solidFill>
                <a:latin typeface="Calibri" pitchFamily="34" charset="0"/>
                <a:ea typeface="Calibri" pitchFamily="34" charset="-122"/>
                <a:cs typeface="Calibri" pitchFamily="34" charset="-120"/>
              </a:rPr>
              <a:t>Hospital ERP &amp; Pharmacy</a:t>
            </a:r>
            <a:endParaRPr lang="en-US" sz="1000" dirty="0"/>
          </a:p>
        </p:txBody>
      </p:sp>
      <p:sp>
        <p:nvSpPr>
          <p:cNvPr id="37" name="Text 34"/>
          <p:cNvSpPr txBox="1"/>
          <p:nvPr/>
        </p:nvSpPr>
        <p:spPr>
          <a:xfrm>
            <a:off x="9619488" y="5660136"/>
            <a:ext cx="1920240" cy="457200"/>
          </a:xfrm>
          <a:prstGeom prst="rect">
            <a:avLst/>
          </a:prstGeom>
          <a:noFill/>
          <a:ln/>
        </p:spPr>
        <p:txBody>
          <a:bodyPr wrap="square" lIns="0" tIns="0" rIns="0" bIns="0" rtlCol="0" anchor="t"/>
          <a:lstStyle/>
          <a:p>
            <a:pPr marL="0" indent="0">
              <a:buNone/>
            </a:pPr>
            <a:r>
              <a:rPr lang="en-US" sz="1150" dirty="0">
                <a:solidFill>
                  <a:srgbClr val="1F2A27"/>
                </a:solidFill>
                <a:latin typeface="Calibri" pitchFamily="34" charset="0"/>
                <a:ea typeface="Calibri" pitchFamily="34" charset="-122"/>
                <a:cs typeface="Calibri" pitchFamily="34" charset="-120"/>
              </a:rPr>
              <a:t>Web modules · FastAPI · PostgreSQL</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DELIVERABLES</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Expected Outcomes</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10 / 14</a:t>
            </a:r>
            <a:endParaRPr lang="en-US" sz="1000" dirty="0"/>
          </a:p>
        </p:txBody>
      </p:sp>
      <p:sp>
        <p:nvSpPr>
          <p:cNvPr id="6" name="Shape 4"/>
          <p:cNvSpPr/>
          <p:nvPr/>
        </p:nvSpPr>
        <p:spPr>
          <a:xfrm>
            <a:off x="548640" y="137160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7" name="Shape 5"/>
          <p:cNvSpPr/>
          <p:nvPr/>
        </p:nvSpPr>
        <p:spPr>
          <a:xfrm>
            <a:off x="731520" y="1554480"/>
            <a:ext cx="502920" cy="502920"/>
          </a:xfrm>
          <a:prstGeom prst="ellipse">
            <a:avLst/>
          </a:prstGeom>
          <a:solidFill>
            <a:srgbClr val="0B3B2E"/>
          </a:solidFill>
          <a:ln w="12700">
            <a:solidFill>
              <a:srgbClr val="0B3B2E"/>
            </a:solidFill>
            <a:prstDash val="solid"/>
          </a:ln>
        </p:spPr>
      </p:sp>
      <p:pic>
        <p:nvPicPr>
          <p:cNvPr id="8" name="Image 0" descr="preencoded.png"/>
          <p:cNvPicPr>
            <a:picLocks noChangeAspect="1"/>
          </p:cNvPicPr>
          <p:nvPr/>
        </p:nvPicPr>
        <p:blipFill>
          <a:blip r:embed="rId3"/>
          <a:stretch>
            <a:fillRect/>
          </a:stretch>
        </p:blipFill>
        <p:spPr>
          <a:xfrm>
            <a:off x="867308" y="1690268"/>
            <a:ext cx="231343" cy="231343"/>
          </a:xfrm>
          <a:prstGeom prst="rect">
            <a:avLst/>
          </a:prstGeom>
        </p:spPr>
      </p:pic>
      <p:sp>
        <p:nvSpPr>
          <p:cNvPr id="9" name="Text 6"/>
          <p:cNvSpPr txBox="1"/>
          <p:nvPr/>
        </p:nvSpPr>
        <p:spPr>
          <a:xfrm>
            <a:off x="1371600" y="1554480"/>
            <a:ext cx="2606040" cy="502920"/>
          </a:xfrm>
          <a:prstGeom prst="rect">
            <a:avLst/>
          </a:prstGeom>
          <a:noFill/>
          <a:ln/>
        </p:spPr>
        <p:txBody>
          <a:bodyPr wrap="square" lIns="0" tIns="0" rIns="0" bIns="0" rtlCol="0" anchor="ctr"/>
          <a:lstStyle/>
          <a:p>
            <a:pPr marL="0" indent="0">
              <a:buNone/>
            </a:pPr>
            <a:r>
              <a:rPr lang="en-US" sz="1450" b="1" dirty="0">
                <a:solidFill>
                  <a:srgbClr val="0B3B2E"/>
                </a:solidFill>
                <a:latin typeface="Calibri" pitchFamily="34" charset="0"/>
                <a:ea typeface="Calibri" pitchFamily="34" charset="-122"/>
                <a:cs typeface="Calibri" pitchFamily="34" charset="-120"/>
              </a:rPr>
              <a:t>Working Prototype</a:t>
            </a:r>
            <a:endParaRPr lang="en-US" sz="1450" dirty="0"/>
          </a:p>
        </p:txBody>
      </p:sp>
      <p:sp>
        <p:nvSpPr>
          <p:cNvPr id="10" name="Text 7"/>
          <p:cNvSpPr txBox="1"/>
          <p:nvPr/>
        </p:nvSpPr>
        <p:spPr>
          <a:xfrm>
            <a:off x="731520" y="2194560"/>
            <a:ext cx="3200400" cy="82296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A functional Zeniva assistant covering symptom intake, RAG-grounded response and TTS playback.</a:t>
            </a:r>
            <a:endParaRPr lang="en-US" sz="1200" dirty="0"/>
          </a:p>
        </p:txBody>
      </p:sp>
      <p:sp>
        <p:nvSpPr>
          <p:cNvPr id="11" name="Shape 8"/>
          <p:cNvSpPr/>
          <p:nvPr/>
        </p:nvSpPr>
        <p:spPr>
          <a:xfrm>
            <a:off x="4297680" y="137160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2" name="Shape 9"/>
          <p:cNvSpPr/>
          <p:nvPr/>
        </p:nvSpPr>
        <p:spPr>
          <a:xfrm>
            <a:off x="4480560" y="1554480"/>
            <a:ext cx="502920" cy="502920"/>
          </a:xfrm>
          <a:prstGeom prst="ellipse">
            <a:avLst/>
          </a:prstGeom>
          <a:solidFill>
            <a:srgbClr val="0B3B2E"/>
          </a:solidFill>
          <a:ln w="12700">
            <a:solidFill>
              <a:srgbClr val="0B3B2E"/>
            </a:solidFill>
            <a:prstDash val="solid"/>
          </a:ln>
        </p:spPr>
      </p:sp>
      <p:pic>
        <p:nvPicPr>
          <p:cNvPr id="13" name="Image 1" descr="preencoded.png"/>
          <p:cNvPicPr>
            <a:picLocks noChangeAspect="1"/>
          </p:cNvPicPr>
          <p:nvPr/>
        </p:nvPicPr>
        <p:blipFill>
          <a:blip r:embed="rId4"/>
          <a:stretch>
            <a:fillRect/>
          </a:stretch>
        </p:blipFill>
        <p:spPr>
          <a:xfrm>
            <a:off x="4616348" y="1690268"/>
            <a:ext cx="231343" cy="231343"/>
          </a:xfrm>
          <a:prstGeom prst="rect">
            <a:avLst/>
          </a:prstGeom>
        </p:spPr>
      </p:pic>
      <p:sp>
        <p:nvSpPr>
          <p:cNvPr id="14" name="Text 10"/>
          <p:cNvSpPr txBox="1"/>
          <p:nvPr/>
        </p:nvSpPr>
        <p:spPr>
          <a:xfrm>
            <a:off x="5120640" y="1554480"/>
            <a:ext cx="2606040" cy="502920"/>
          </a:xfrm>
          <a:prstGeom prst="rect">
            <a:avLst/>
          </a:prstGeom>
          <a:noFill/>
          <a:ln/>
        </p:spPr>
        <p:txBody>
          <a:bodyPr wrap="square" lIns="0" tIns="0" rIns="0" bIns="0" rtlCol="0" anchor="ctr"/>
          <a:lstStyle/>
          <a:p>
            <a:pPr marL="0" indent="0">
              <a:buNone/>
            </a:pPr>
            <a:r>
              <a:rPr lang="en-US" sz="1450" b="1" dirty="0">
                <a:solidFill>
                  <a:srgbClr val="0B3B2E"/>
                </a:solidFill>
                <a:latin typeface="Calibri" pitchFamily="34" charset="0"/>
                <a:ea typeface="Calibri" pitchFamily="34" charset="-122"/>
                <a:cs typeface="Calibri" pitchFamily="34" charset="-120"/>
              </a:rPr>
              <a:t>Source-Transparent Answers</a:t>
            </a:r>
            <a:endParaRPr lang="en-US" sz="1450" dirty="0"/>
          </a:p>
        </p:txBody>
      </p:sp>
      <p:sp>
        <p:nvSpPr>
          <p:cNvPr id="15" name="Text 11"/>
          <p:cNvSpPr txBox="1"/>
          <p:nvPr/>
        </p:nvSpPr>
        <p:spPr>
          <a:xfrm>
            <a:off x="4480560" y="2194560"/>
            <a:ext cx="3200400" cy="82296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A “View Sources” experience showing the exact knowledge used for each response.</a:t>
            </a:r>
            <a:endParaRPr lang="en-US" sz="1200" dirty="0"/>
          </a:p>
        </p:txBody>
      </p:sp>
      <p:sp>
        <p:nvSpPr>
          <p:cNvPr id="16" name="Shape 12"/>
          <p:cNvSpPr/>
          <p:nvPr/>
        </p:nvSpPr>
        <p:spPr>
          <a:xfrm>
            <a:off x="8046720" y="137160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7" name="Shape 13"/>
          <p:cNvSpPr/>
          <p:nvPr/>
        </p:nvSpPr>
        <p:spPr>
          <a:xfrm>
            <a:off x="8229600" y="1554480"/>
            <a:ext cx="502920" cy="502920"/>
          </a:xfrm>
          <a:prstGeom prst="ellipse">
            <a:avLst/>
          </a:prstGeom>
          <a:solidFill>
            <a:srgbClr val="0B3B2E"/>
          </a:solidFill>
          <a:ln w="12700">
            <a:solidFill>
              <a:srgbClr val="0B3B2E"/>
            </a:solidFill>
            <a:prstDash val="solid"/>
          </a:ln>
        </p:spPr>
      </p:sp>
      <p:pic>
        <p:nvPicPr>
          <p:cNvPr id="18" name="Image 2" descr="preencoded.png"/>
          <p:cNvPicPr>
            <a:picLocks noChangeAspect="1"/>
          </p:cNvPicPr>
          <p:nvPr/>
        </p:nvPicPr>
        <p:blipFill>
          <a:blip r:embed="rId5"/>
          <a:stretch>
            <a:fillRect/>
          </a:stretch>
        </p:blipFill>
        <p:spPr>
          <a:xfrm>
            <a:off x="8365388" y="1690268"/>
            <a:ext cx="231343" cy="231343"/>
          </a:xfrm>
          <a:prstGeom prst="rect">
            <a:avLst/>
          </a:prstGeom>
        </p:spPr>
      </p:pic>
      <p:sp>
        <p:nvSpPr>
          <p:cNvPr id="19" name="Text 14"/>
          <p:cNvSpPr txBox="1"/>
          <p:nvPr/>
        </p:nvSpPr>
        <p:spPr>
          <a:xfrm>
            <a:off x="8869680" y="1554480"/>
            <a:ext cx="2606040" cy="502920"/>
          </a:xfrm>
          <a:prstGeom prst="rect">
            <a:avLst/>
          </a:prstGeom>
          <a:noFill/>
          <a:ln/>
        </p:spPr>
        <p:txBody>
          <a:bodyPr wrap="square" lIns="0" tIns="0" rIns="0" bIns="0" rtlCol="0" anchor="ctr"/>
          <a:lstStyle/>
          <a:p>
            <a:pPr marL="0" indent="0">
              <a:buNone/>
            </a:pPr>
            <a:r>
              <a:rPr lang="en-US" sz="1450" b="1" dirty="0">
                <a:solidFill>
                  <a:srgbClr val="0B3B2E"/>
                </a:solidFill>
                <a:latin typeface="Calibri" pitchFamily="34" charset="0"/>
                <a:ea typeface="Calibri" pitchFamily="34" charset="-122"/>
                <a:cs typeface="Calibri" pitchFamily="34" charset="-120"/>
              </a:rPr>
              <a:t>Preliminary Classification</a:t>
            </a:r>
            <a:endParaRPr lang="en-US" sz="1450" dirty="0"/>
          </a:p>
        </p:txBody>
      </p:sp>
      <p:sp>
        <p:nvSpPr>
          <p:cNvPr id="20" name="Text 15"/>
          <p:cNvSpPr txBox="1"/>
          <p:nvPr/>
        </p:nvSpPr>
        <p:spPr>
          <a:xfrm>
            <a:off x="8229600" y="2194560"/>
            <a:ext cx="3200400" cy="82296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NLP-driven symptom structuring feeding a preliminary health category.</a:t>
            </a:r>
            <a:endParaRPr lang="en-US" sz="1200" dirty="0"/>
          </a:p>
        </p:txBody>
      </p:sp>
      <p:sp>
        <p:nvSpPr>
          <p:cNvPr id="21" name="Shape 16"/>
          <p:cNvSpPr/>
          <p:nvPr/>
        </p:nvSpPr>
        <p:spPr>
          <a:xfrm>
            <a:off x="548640" y="320040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2" name="Shape 17"/>
          <p:cNvSpPr/>
          <p:nvPr/>
        </p:nvSpPr>
        <p:spPr>
          <a:xfrm>
            <a:off x="731520" y="3383280"/>
            <a:ext cx="502920" cy="502920"/>
          </a:xfrm>
          <a:prstGeom prst="ellipse">
            <a:avLst/>
          </a:prstGeom>
          <a:solidFill>
            <a:srgbClr val="0B3B2E"/>
          </a:solidFill>
          <a:ln w="12700">
            <a:solidFill>
              <a:srgbClr val="0B3B2E"/>
            </a:solidFill>
            <a:prstDash val="solid"/>
          </a:ln>
        </p:spPr>
      </p:sp>
      <p:pic>
        <p:nvPicPr>
          <p:cNvPr id="23" name="Image 3" descr="preencoded.png"/>
          <p:cNvPicPr>
            <a:picLocks noChangeAspect="1"/>
          </p:cNvPicPr>
          <p:nvPr/>
        </p:nvPicPr>
        <p:blipFill>
          <a:blip r:embed="rId6"/>
          <a:stretch>
            <a:fillRect/>
          </a:stretch>
        </p:blipFill>
        <p:spPr>
          <a:xfrm>
            <a:off x="867308" y="3519068"/>
            <a:ext cx="231343" cy="231343"/>
          </a:xfrm>
          <a:prstGeom prst="rect">
            <a:avLst/>
          </a:prstGeom>
        </p:spPr>
      </p:pic>
      <p:sp>
        <p:nvSpPr>
          <p:cNvPr id="24" name="Text 18"/>
          <p:cNvSpPr txBox="1"/>
          <p:nvPr/>
        </p:nvSpPr>
        <p:spPr>
          <a:xfrm>
            <a:off x="1371600" y="3383280"/>
            <a:ext cx="2606040" cy="502920"/>
          </a:xfrm>
          <a:prstGeom prst="rect">
            <a:avLst/>
          </a:prstGeom>
          <a:noFill/>
          <a:ln/>
        </p:spPr>
        <p:txBody>
          <a:bodyPr wrap="square" lIns="0" tIns="0" rIns="0" bIns="0" rtlCol="0" anchor="ctr"/>
          <a:lstStyle/>
          <a:p>
            <a:pPr marL="0" indent="0">
              <a:buNone/>
            </a:pPr>
            <a:r>
              <a:rPr lang="en-US" sz="1450" b="1" dirty="0">
                <a:solidFill>
                  <a:srgbClr val="0B3B2E"/>
                </a:solidFill>
                <a:latin typeface="Calibri" pitchFamily="34" charset="0"/>
                <a:ea typeface="Calibri" pitchFamily="34" charset="-122"/>
                <a:cs typeface="Calibri" pitchFamily="34" charset="-120"/>
              </a:rPr>
              <a:t>Security Architecture in Place</a:t>
            </a:r>
            <a:endParaRPr lang="en-US" sz="1450" dirty="0"/>
          </a:p>
        </p:txBody>
      </p:sp>
      <p:sp>
        <p:nvSpPr>
          <p:cNvPr id="25" name="Text 19"/>
          <p:cNvSpPr txBox="1"/>
          <p:nvPr/>
        </p:nvSpPr>
        <p:spPr>
          <a:xfrm>
            <a:off x="731520" y="4023360"/>
            <a:ext cx="3200400" cy="82296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TLS, RBAC, encryption at rest, secure sessions and audit logging implemented end to end.</a:t>
            </a:r>
            <a:endParaRPr lang="en-US" sz="1200" dirty="0"/>
          </a:p>
        </p:txBody>
      </p:sp>
      <p:sp>
        <p:nvSpPr>
          <p:cNvPr id="26" name="Shape 20"/>
          <p:cNvSpPr/>
          <p:nvPr/>
        </p:nvSpPr>
        <p:spPr>
          <a:xfrm>
            <a:off x="4297680" y="320040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7" name="Shape 21"/>
          <p:cNvSpPr/>
          <p:nvPr/>
        </p:nvSpPr>
        <p:spPr>
          <a:xfrm>
            <a:off x="4480560" y="3383280"/>
            <a:ext cx="502920" cy="502920"/>
          </a:xfrm>
          <a:prstGeom prst="ellipse">
            <a:avLst/>
          </a:prstGeom>
          <a:solidFill>
            <a:srgbClr val="0B3B2E"/>
          </a:solidFill>
          <a:ln w="12700">
            <a:solidFill>
              <a:srgbClr val="0B3B2E"/>
            </a:solidFill>
            <a:prstDash val="solid"/>
          </a:ln>
        </p:spPr>
      </p:sp>
      <p:pic>
        <p:nvPicPr>
          <p:cNvPr id="28" name="Image 4" descr="preencoded.png"/>
          <p:cNvPicPr>
            <a:picLocks noChangeAspect="1"/>
          </p:cNvPicPr>
          <p:nvPr/>
        </p:nvPicPr>
        <p:blipFill>
          <a:blip r:embed="rId7"/>
          <a:stretch>
            <a:fillRect/>
          </a:stretch>
        </p:blipFill>
        <p:spPr>
          <a:xfrm>
            <a:off x="4616348" y="3519068"/>
            <a:ext cx="231343" cy="231343"/>
          </a:xfrm>
          <a:prstGeom prst="rect">
            <a:avLst/>
          </a:prstGeom>
        </p:spPr>
      </p:pic>
      <p:sp>
        <p:nvSpPr>
          <p:cNvPr id="29" name="Text 22"/>
          <p:cNvSpPr txBox="1"/>
          <p:nvPr/>
        </p:nvSpPr>
        <p:spPr>
          <a:xfrm>
            <a:off x="5120640" y="3383280"/>
            <a:ext cx="2606040" cy="502920"/>
          </a:xfrm>
          <a:prstGeom prst="rect">
            <a:avLst/>
          </a:prstGeom>
          <a:noFill/>
          <a:ln/>
        </p:spPr>
        <p:txBody>
          <a:bodyPr wrap="square" lIns="0" tIns="0" rIns="0" bIns="0" rtlCol="0" anchor="ctr"/>
          <a:lstStyle/>
          <a:p>
            <a:pPr marL="0" indent="0">
              <a:buNone/>
            </a:pPr>
            <a:r>
              <a:rPr lang="en-US" sz="1450" b="1" dirty="0">
                <a:solidFill>
                  <a:srgbClr val="0B3B2E"/>
                </a:solidFill>
                <a:latin typeface="Calibri" pitchFamily="34" charset="0"/>
                <a:ea typeface="Calibri" pitchFamily="34" charset="-122"/>
                <a:cs typeface="Calibri" pitchFamily="34" charset="-120"/>
              </a:rPr>
              <a:t>Doctor Recommendation Engine</a:t>
            </a:r>
            <a:endParaRPr lang="en-US" sz="1450" dirty="0"/>
          </a:p>
        </p:txBody>
      </p:sp>
      <p:sp>
        <p:nvSpPr>
          <p:cNvPr id="30" name="Text 23"/>
          <p:cNvSpPr txBox="1"/>
          <p:nvPr/>
        </p:nvSpPr>
        <p:spPr>
          <a:xfrm>
            <a:off x="4480560" y="4023360"/>
            <a:ext cx="3200400" cy="82296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Practitioner matching by specialisation, experience and availability.</a:t>
            </a:r>
            <a:endParaRPr lang="en-US" sz="1200" dirty="0"/>
          </a:p>
        </p:txBody>
      </p:sp>
      <p:sp>
        <p:nvSpPr>
          <p:cNvPr id="31" name="Shape 24"/>
          <p:cNvSpPr/>
          <p:nvPr/>
        </p:nvSpPr>
        <p:spPr>
          <a:xfrm>
            <a:off x="8046720" y="320040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2" name="Shape 25"/>
          <p:cNvSpPr/>
          <p:nvPr/>
        </p:nvSpPr>
        <p:spPr>
          <a:xfrm>
            <a:off x="8229600" y="3383280"/>
            <a:ext cx="502920" cy="502920"/>
          </a:xfrm>
          <a:prstGeom prst="ellipse">
            <a:avLst/>
          </a:prstGeom>
          <a:solidFill>
            <a:srgbClr val="0B3B2E"/>
          </a:solidFill>
          <a:ln w="12700">
            <a:solidFill>
              <a:srgbClr val="0B3B2E"/>
            </a:solidFill>
            <a:prstDash val="solid"/>
          </a:ln>
        </p:spPr>
      </p:sp>
      <p:pic>
        <p:nvPicPr>
          <p:cNvPr id="33" name="Image 5" descr="preencoded.png"/>
          <p:cNvPicPr>
            <a:picLocks noChangeAspect="1"/>
          </p:cNvPicPr>
          <p:nvPr/>
        </p:nvPicPr>
        <p:blipFill>
          <a:blip r:embed="rId8"/>
          <a:stretch>
            <a:fillRect/>
          </a:stretch>
        </p:blipFill>
        <p:spPr>
          <a:xfrm>
            <a:off x="8365388" y="3519068"/>
            <a:ext cx="231343" cy="231343"/>
          </a:xfrm>
          <a:prstGeom prst="rect">
            <a:avLst/>
          </a:prstGeom>
        </p:spPr>
      </p:pic>
      <p:sp>
        <p:nvSpPr>
          <p:cNvPr id="34" name="Text 26"/>
          <p:cNvSpPr txBox="1"/>
          <p:nvPr/>
        </p:nvSpPr>
        <p:spPr>
          <a:xfrm>
            <a:off x="8869680" y="3383280"/>
            <a:ext cx="2606040" cy="502920"/>
          </a:xfrm>
          <a:prstGeom prst="rect">
            <a:avLst/>
          </a:prstGeom>
          <a:noFill/>
          <a:ln/>
        </p:spPr>
        <p:txBody>
          <a:bodyPr wrap="square" lIns="0" tIns="0" rIns="0" bIns="0" rtlCol="0" anchor="ctr"/>
          <a:lstStyle/>
          <a:p>
            <a:pPr marL="0" indent="0">
              <a:buNone/>
            </a:pPr>
            <a:r>
              <a:rPr lang="en-US" sz="1450" b="1" dirty="0">
                <a:solidFill>
                  <a:srgbClr val="0B3B2E"/>
                </a:solidFill>
                <a:latin typeface="Calibri" pitchFamily="34" charset="0"/>
                <a:ea typeface="Calibri" pitchFamily="34" charset="-122"/>
                <a:cs typeface="Calibri" pitchFamily="34" charset="-120"/>
              </a:rPr>
              <a:t>Architecture Research Paper</a:t>
            </a:r>
            <a:endParaRPr lang="en-US" sz="1450" dirty="0"/>
          </a:p>
        </p:txBody>
      </p:sp>
      <p:sp>
        <p:nvSpPr>
          <p:cNvPr id="35" name="Text 27"/>
          <p:cNvSpPr txBox="1"/>
          <p:nvPr/>
        </p:nvSpPr>
        <p:spPr>
          <a:xfrm>
            <a:off x="8229600" y="4023360"/>
            <a:ext cx="3200400" cy="82296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A conference/journal submission documenting the RAG + security.</a:t>
            </a:r>
            <a:endParaRPr lang="en-US" sz="1200" dirty="0"/>
          </a:p>
        </p:txBody>
      </p:sp>
      <p:sp>
        <p:nvSpPr>
          <p:cNvPr id="36" name="Shape 28"/>
          <p:cNvSpPr/>
          <p:nvPr/>
        </p:nvSpPr>
        <p:spPr>
          <a:xfrm>
            <a:off x="548640" y="5120640"/>
            <a:ext cx="11064240" cy="1051560"/>
          </a:xfrm>
          <a:prstGeom prst="roundRect">
            <a:avLst>
              <a:gd name="adj" fmla="val 6957"/>
            </a:avLst>
          </a:prstGeom>
          <a:solidFill>
            <a:srgbClr val="0B3B2E"/>
          </a:solidFill>
          <a:ln w="12700">
            <a:solidFill>
              <a:srgbClr val="0B3B2E"/>
            </a:solidFill>
            <a:prstDash val="solid"/>
          </a:ln>
        </p:spPr>
      </p:sp>
      <p:sp>
        <p:nvSpPr>
          <p:cNvPr id="37" name="Shape 29"/>
          <p:cNvSpPr/>
          <p:nvPr/>
        </p:nvSpPr>
        <p:spPr>
          <a:xfrm>
            <a:off x="822960" y="5394960"/>
            <a:ext cx="502920" cy="502920"/>
          </a:xfrm>
          <a:prstGeom prst="ellipse">
            <a:avLst/>
          </a:prstGeom>
          <a:solidFill>
            <a:srgbClr val="C9973B"/>
          </a:solidFill>
          <a:ln w="12700">
            <a:solidFill>
              <a:srgbClr val="C9973B"/>
            </a:solidFill>
            <a:prstDash val="solid"/>
          </a:ln>
        </p:spPr>
      </p:sp>
      <p:pic>
        <p:nvPicPr>
          <p:cNvPr id="38" name="Image 6" descr="preencoded.png"/>
          <p:cNvPicPr>
            <a:picLocks noChangeAspect="1"/>
          </p:cNvPicPr>
          <p:nvPr/>
        </p:nvPicPr>
        <p:blipFill>
          <a:blip r:embed="rId9"/>
          <a:stretch>
            <a:fillRect/>
          </a:stretch>
        </p:blipFill>
        <p:spPr>
          <a:xfrm>
            <a:off x="958748" y="5530748"/>
            <a:ext cx="231343" cy="231343"/>
          </a:xfrm>
          <a:prstGeom prst="rect">
            <a:avLst/>
          </a:prstGeom>
        </p:spPr>
      </p:pic>
      <p:sp>
        <p:nvSpPr>
          <p:cNvPr id="39" name="Text 30"/>
          <p:cNvSpPr txBox="1"/>
          <p:nvPr/>
        </p:nvSpPr>
        <p:spPr>
          <a:xfrm>
            <a:off x="1554480" y="5212080"/>
            <a:ext cx="9875520" cy="365760"/>
          </a:xfrm>
          <a:prstGeom prst="rect">
            <a:avLst/>
          </a:prstGeom>
          <a:noFill/>
          <a:ln/>
        </p:spPr>
        <p:txBody>
          <a:bodyPr wrap="square" lIns="0" tIns="0" rIns="0" bIns="0" rtlCol="0" anchor="ctr"/>
          <a:lstStyle/>
          <a:p>
            <a:pPr marL="0" indent="0">
              <a:buNone/>
            </a:pPr>
            <a:r>
              <a:rPr lang="en-US" sz="1700" b="1" dirty="0">
                <a:solidFill>
                  <a:srgbClr val="C9973B"/>
                </a:solidFill>
                <a:latin typeface="Cambria" pitchFamily="34" charset="0"/>
                <a:ea typeface="Cambria" pitchFamily="34" charset="-122"/>
                <a:cs typeface="Cambria" pitchFamily="34" charset="-120"/>
              </a:rPr>
              <a:t>Doctor Portal with Hospital ERP &amp; Pharmacy</a:t>
            </a:r>
            <a:endParaRPr lang="en-US" sz="1700" dirty="0"/>
          </a:p>
        </p:txBody>
      </p:sp>
      <p:sp>
        <p:nvSpPr>
          <p:cNvPr id="40" name="Text 31"/>
          <p:cNvSpPr txBox="1"/>
          <p:nvPr/>
        </p:nvSpPr>
        <p:spPr>
          <a:xfrm>
            <a:off x="1554480" y="5596128"/>
            <a:ext cx="9875520" cy="457200"/>
          </a:xfrm>
          <a:prstGeom prst="rect">
            <a:avLst/>
          </a:prstGeom>
          <a:noFill/>
          <a:ln/>
        </p:spPr>
        <p:txBody>
          <a:bodyPr wrap="square" lIns="0" tIns="0" rIns="0" bIns="0" rtlCol="0" anchor="t"/>
          <a:lstStyle/>
          <a:p>
            <a:pPr marL="0" indent="0">
              <a:buNone/>
            </a:pPr>
            <a:r>
              <a:rPr lang="en-US" sz="1300" dirty="0">
                <a:solidFill>
                  <a:srgbClr val="FFFFFF"/>
                </a:solidFill>
                <a:latin typeface="Calibri" pitchFamily="34" charset="0"/>
                <a:ea typeface="Calibri" pitchFamily="34" charset="-122"/>
                <a:cs typeface="Calibri" pitchFamily="34" charset="-120"/>
              </a:rPr>
              <a:t>A unified module for patient records, appointments, prescriptions, medicine inventory and billing — integrated into the Zeniva website.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PROJECT ROADMAP</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Implementation Timeline</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11 / 14</a:t>
            </a:r>
            <a:endParaRPr lang="en-US" sz="1000" dirty="0"/>
          </a:p>
        </p:txBody>
      </p:sp>
      <p:sp>
        <p:nvSpPr>
          <p:cNvPr id="6" name="Shape 4"/>
          <p:cNvSpPr/>
          <p:nvPr/>
        </p:nvSpPr>
        <p:spPr>
          <a:xfrm>
            <a:off x="1417320" y="2011680"/>
            <a:ext cx="9418320" cy="0"/>
          </a:xfrm>
          <a:prstGeom prst="line">
            <a:avLst/>
          </a:prstGeom>
          <a:noFill/>
          <a:ln w="25400">
            <a:solidFill>
              <a:srgbClr val="C9973B"/>
            </a:solidFill>
            <a:prstDash val="solid"/>
          </a:ln>
        </p:spPr>
      </p:sp>
      <p:sp>
        <p:nvSpPr>
          <p:cNvPr id="7" name="Shape 5"/>
          <p:cNvSpPr/>
          <p:nvPr/>
        </p:nvSpPr>
        <p:spPr>
          <a:xfrm>
            <a:off x="548640" y="1600200"/>
            <a:ext cx="1737360" cy="420624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8" name="Shape 6"/>
          <p:cNvSpPr/>
          <p:nvPr/>
        </p:nvSpPr>
        <p:spPr>
          <a:xfrm>
            <a:off x="1097280" y="1737360"/>
            <a:ext cx="640080" cy="640080"/>
          </a:xfrm>
          <a:prstGeom prst="ellipse">
            <a:avLst/>
          </a:prstGeom>
          <a:solidFill>
            <a:srgbClr val="0B3B2E"/>
          </a:solidFill>
          <a:ln w="25400">
            <a:solidFill>
              <a:srgbClr val="FFFFFF"/>
            </a:solidFill>
            <a:prstDash val="solid"/>
          </a:ln>
        </p:spPr>
      </p:sp>
      <p:sp>
        <p:nvSpPr>
          <p:cNvPr id="9" name="Text 7"/>
          <p:cNvSpPr txBox="1"/>
          <p:nvPr/>
        </p:nvSpPr>
        <p:spPr>
          <a:xfrm>
            <a:off x="1097280" y="17373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8"/>
          <p:cNvSpPr txBox="1"/>
          <p:nvPr/>
        </p:nvSpPr>
        <p:spPr>
          <a:xfrm>
            <a:off x="640080" y="2560320"/>
            <a:ext cx="1554480" cy="228600"/>
          </a:xfrm>
          <a:prstGeom prst="rect">
            <a:avLst/>
          </a:prstGeom>
          <a:noFill/>
          <a:ln/>
        </p:spPr>
        <p:txBody>
          <a:bodyPr wrap="square" lIns="0" tIns="0" rIns="0" bIns="0" rtlCol="0" anchor="t"/>
          <a:lstStyle/>
          <a:p>
            <a:pPr marL="0" indent="0" algn="ctr">
              <a:buNone/>
            </a:pPr>
            <a:r>
              <a:rPr lang="en-US" sz="1000" b="1" kern="0" spc="200" dirty="0">
                <a:solidFill>
                  <a:srgbClr val="C9973B"/>
                </a:solidFill>
                <a:latin typeface="Calibri" pitchFamily="34" charset="0"/>
                <a:ea typeface="Calibri" pitchFamily="34" charset="-122"/>
                <a:cs typeface="Calibri" pitchFamily="34" charset="-120"/>
              </a:rPr>
              <a:t>PHASE 1</a:t>
            </a:r>
            <a:endParaRPr lang="en-US" sz="1000" dirty="0"/>
          </a:p>
        </p:txBody>
      </p:sp>
      <p:sp>
        <p:nvSpPr>
          <p:cNvPr id="11" name="Text 9"/>
          <p:cNvSpPr txBox="1"/>
          <p:nvPr/>
        </p:nvSpPr>
        <p:spPr>
          <a:xfrm>
            <a:off x="658368" y="2834640"/>
            <a:ext cx="1517904" cy="731520"/>
          </a:xfrm>
          <a:prstGeom prst="rect">
            <a:avLst/>
          </a:prstGeom>
          <a:noFill/>
          <a:ln/>
        </p:spPr>
        <p:txBody>
          <a:bodyPr wrap="square" lIns="0" tIns="0" rIns="0" bIns="0" rtlCol="0" anchor="t"/>
          <a:lstStyle/>
          <a:p>
            <a:pPr marL="0" indent="0" algn="ctr">
              <a:buNone/>
            </a:pPr>
            <a:r>
              <a:rPr lang="en-US" sz="1350" b="1" dirty="0">
                <a:solidFill>
                  <a:srgbClr val="0B3B2E"/>
                </a:solidFill>
                <a:latin typeface="Calibri" pitchFamily="34" charset="0"/>
                <a:ea typeface="Calibri" pitchFamily="34" charset="-122"/>
                <a:cs typeface="Calibri" pitchFamily="34" charset="-120"/>
              </a:rPr>
              <a:t>Research &amp; Requirements</a:t>
            </a:r>
            <a:endParaRPr lang="en-US" sz="1350" dirty="0"/>
          </a:p>
        </p:txBody>
      </p:sp>
      <p:sp>
        <p:nvSpPr>
          <p:cNvPr id="12" name="Text 10"/>
          <p:cNvSpPr txBox="1"/>
          <p:nvPr/>
        </p:nvSpPr>
        <p:spPr>
          <a:xfrm>
            <a:off x="658368" y="3657600"/>
            <a:ext cx="1517904" cy="2057400"/>
          </a:xfrm>
          <a:prstGeom prst="rect">
            <a:avLst/>
          </a:prstGeom>
          <a:noFill/>
          <a:ln/>
        </p:spPr>
        <p:txBody>
          <a:bodyPr wrap="square" lIns="0" tIns="0" rIns="0" bIns="0" rtlCol="0" anchor="t"/>
          <a:lstStyle/>
          <a:p>
            <a:pPr marL="0" indent="0" algn="ctr">
              <a:buNone/>
            </a:pPr>
            <a:r>
              <a:rPr lang="en-US" sz="1100" dirty="0">
                <a:solidFill>
                  <a:srgbClr val="5F6E68"/>
                </a:solidFill>
                <a:latin typeface="Calibri" pitchFamily="34" charset="0"/>
                <a:ea typeface="Calibri" pitchFamily="34" charset="-122"/>
                <a:cs typeface="Calibri" pitchFamily="34" charset="-120"/>
              </a:rPr>
              <a:t>Literature review, knowledge-base scoping, security requirement gathering</a:t>
            </a:r>
            <a:endParaRPr lang="en-US" sz="1100" dirty="0"/>
          </a:p>
        </p:txBody>
      </p:sp>
      <p:sp>
        <p:nvSpPr>
          <p:cNvPr id="13" name="Shape 11"/>
          <p:cNvSpPr/>
          <p:nvPr/>
        </p:nvSpPr>
        <p:spPr>
          <a:xfrm>
            <a:off x="2414016" y="1600200"/>
            <a:ext cx="1737360" cy="420624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4" name="Shape 12"/>
          <p:cNvSpPr/>
          <p:nvPr/>
        </p:nvSpPr>
        <p:spPr>
          <a:xfrm>
            <a:off x="2962656" y="1737360"/>
            <a:ext cx="640080" cy="640080"/>
          </a:xfrm>
          <a:prstGeom prst="ellipse">
            <a:avLst/>
          </a:prstGeom>
          <a:solidFill>
            <a:srgbClr val="0B3B2E"/>
          </a:solidFill>
          <a:ln w="25400">
            <a:solidFill>
              <a:srgbClr val="FFFFFF"/>
            </a:solidFill>
            <a:prstDash val="solid"/>
          </a:ln>
        </p:spPr>
      </p:sp>
      <p:sp>
        <p:nvSpPr>
          <p:cNvPr id="15" name="Text 13"/>
          <p:cNvSpPr txBox="1"/>
          <p:nvPr/>
        </p:nvSpPr>
        <p:spPr>
          <a:xfrm>
            <a:off x="2962656" y="17373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6" name="Text 14"/>
          <p:cNvSpPr txBox="1"/>
          <p:nvPr/>
        </p:nvSpPr>
        <p:spPr>
          <a:xfrm>
            <a:off x="2505456" y="2560320"/>
            <a:ext cx="1554480" cy="228600"/>
          </a:xfrm>
          <a:prstGeom prst="rect">
            <a:avLst/>
          </a:prstGeom>
          <a:noFill/>
          <a:ln/>
        </p:spPr>
        <p:txBody>
          <a:bodyPr wrap="square" lIns="0" tIns="0" rIns="0" bIns="0" rtlCol="0" anchor="t"/>
          <a:lstStyle/>
          <a:p>
            <a:pPr marL="0" indent="0" algn="ctr">
              <a:buNone/>
            </a:pPr>
            <a:r>
              <a:rPr lang="en-US" sz="1000" b="1" kern="0" spc="200" dirty="0">
                <a:solidFill>
                  <a:srgbClr val="C9973B"/>
                </a:solidFill>
                <a:latin typeface="Calibri" pitchFamily="34" charset="0"/>
                <a:ea typeface="Calibri" pitchFamily="34" charset="-122"/>
                <a:cs typeface="Calibri" pitchFamily="34" charset="-120"/>
              </a:rPr>
              <a:t>PHASE 2</a:t>
            </a:r>
            <a:endParaRPr lang="en-US" sz="1000" dirty="0"/>
          </a:p>
        </p:txBody>
      </p:sp>
      <p:sp>
        <p:nvSpPr>
          <p:cNvPr id="17" name="Text 15"/>
          <p:cNvSpPr txBox="1"/>
          <p:nvPr/>
        </p:nvSpPr>
        <p:spPr>
          <a:xfrm>
            <a:off x="2523744" y="2834640"/>
            <a:ext cx="1517904" cy="731520"/>
          </a:xfrm>
          <a:prstGeom prst="rect">
            <a:avLst/>
          </a:prstGeom>
          <a:noFill/>
          <a:ln/>
        </p:spPr>
        <p:txBody>
          <a:bodyPr wrap="square" lIns="0" tIns="0" rIns="0" bIns="0" rtlCol="0" anchor="t"/>
          <a:lstStyle/>
          <a:p>
            <a:pPr marL="0" indent="0" algn="ctr">
              <a:buNone/>
            </a:pPr>
            <a:r>
              <a:rPr lang="en-US" sz="1350" b="1" dirty="0">
                <a:solidFill>
                  <a:srgbClr val="0B3B2E"/>
                </a:solidFill>
                <a:latin typeface="Calibri" pitchFamily="34" charset="0"/>
                <a:ea typeface="Calibri" pitchFamily="34" charset="-122"/>
                <a:cs typeface="Calibri" pitchFamily="34" charset="-120"/>
              </a:rPr>
              <a:t>NLP &amp; Classification</a:t>
            </a:r>
            <a:endParaRPr lang="en-US" sz="1350" dirty="0"/>
          </a:p>
        </p:txBody>
      </p:sp>
      <p:sp>
        <p:nvSpPr>
          <p:cNvPr id="18" name="Text 16"/>
          <p:cNvSpPr txBox="1"/>
          <p:nvPr/>
        </p:nvSpPr>
        <p:spPr>
          <a:xfrm>
            <a:off x="2523744" y="3657600"/>
            <a:ext cx="1517904" cy="2057400"/>
          </a:xfrm>
          <a:prstGeom prst="rect">
            <a:avLst/>
          </a:prstGeom>
          <a:noFill/>
          <a:ln/>
        </p:spPr>
        <p:txBody>
          <a:bodyPr wrap="square" lIns="0" tIns="0" rIns="0" bIns="0" rtlCol="0" anchor="t"/>
          <a:lstStyle/>
          <a:p>
            <a:pPr marL="0" indent="0" algn="ctr">
              <a:buNone/>
            </a:pPr>
            <a:r>
              <a:rPr lang="en-US" sz="1100" dirty="0">
                <a:solidFill>
                  <a:srgbClr val="5F6E68"/>
                </a:solidFill>
                <a:latin typeface="Calibri" pitchFamily="34" charset="0"/>
                <a:ea typeface="Calibri" pitchFamily="34" charset="-122"/>
                <a:cs typeface="Calibri" pitchFamily="34" charset="-120"/>
              </a:rPr>
              <a:t>Symptom entity extraction pipeline and preliminary classification model</a:t>
            </a:r>
            <a:endParaRPr lang="en-US" sz="1100" dirty="0"/>
          </a:p>
        </p:txBody>
      </p:sp>
      <p:sp>
        <p:nvSpPr>
          <p:cNvPr id="19" name="Shape 17"/>
          <p:cNvSpPr/>
          <p:nvPr/>
        </p:nvSpPr>
        <p:spPr>
          <a:xfrm>
            <a:off x="4279392" y="1600200"/>
            <a:ext cx="1737360" cy="420624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0" name="Shape 18"/>
          <p:cNvSpPr/>
          <p:nvPr/>
        </p:nvSpPr>
        <p:spPr>
          <a:xfrm>
            <a:off x="4828032" y="1737360"/>
            <a:ext cx="640080" cy="640080"/>
          </a:xfrm>
          <a:prstGeom prst="ellipse">
            <a:avLst/>
          </a:prstGeom>
          <a:solidFill>
            <a:srgbClr val="0B3B2E"/>
          </a:solidFill>
          <a:ln w="25400">
            <a:solidFill>
              <a:srgbClr val="FFFFFF"/>
            </a:solidFill>
            <a:prstDash val="solid"/>
          </a:ln>
        </p:spPr>
      </p:sp>
      <p:sp>
        <p:nvSpPr>
          <p:cNvPr id="21" name="Text 19"/>
          <p:cNvSpPr txBox="1"/>
          <p:nvPr/>
        </p:nvSpPr>
        <p:spPr>
          <a:xfrm>
            <a:off x="4828032" y="17373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2" name="Text 20"/>
          <p:cNvSpPr txBox="1"/>
          <p:nvPr/>
        </p:nvSpPr>
        <p:spPr>
          <a:xfrm>
            <a:off x="4370832" y="2560320"/>
            <a:ext cx="1554480" cy="228600"/>
          </a:xfrm>
          <a:prstGeom prst="rect">
            <a:avLst/>
          </a:prstGeom>
          <a:noFill/>
          <a:ln/>
        </p:spPr>
        <p:txBody>
          <a:bodyPr wrap="square" lIns="0" tIns="0" rIns="0" bIns="0" rtlCol="0" anchor="t"/>
          <a:lstStyle/>
          <a:p>
            <a:pPr marL="0" indent="0" algn="ctr">
              <a:buNone/>
            </a:pPr>
            <a:r>
              <a:rPr lang="en-US" sz="1000" b="1" kern="0" spc="200" dirty="0">
                <a:solidFill>
                  <a:srgbClr val="C9973B"/>
                </a:solidFill>
                <a:latin typeface="Calibri" pitchFamily="34" charset="0"/>
                <a:ea typeface="Calibri" pitchFamily="34" charset="-122"/>
                <a:cs typeface="Calibri" pitchFamily="34" charset="-120"/>
              </a:rPr>
              <a:t>PHASE 3</a:t>
            </a:r>
            <a:endParaRPr lang="en-US" sz="1000" dirty="0"/>
          </a:p>
        </p:txBody>
      </p:sp>
      <p:sp>
        <p:nvSpPr>
          <p:cNvPr id="23" name="Text 21"/>
          <p:cNvSpPr txBox="1"/>
          <p:nvPr/>
        </p:nvSpPr>
        <p:spPr>
          <a:xfrm>
            <a:off x="4389120" y="2834640"/>
            <a:ext cx="1517904" cy="731520"/>
          </a:xfrm>
          <a:prstGeom prst="rect">
            <a:avLst/>
          </a:prstGeom>
          <a:noFill/>
          <a:ln/>
        </p:spPr>
        <p:txBody>
          <a:bodyPr wrap="square" lIns="0" tIns="0" rIns="0" bIns="0" rtlCol="0" anchor="t"/>
          <a:lstStyle/>
          <a:p>
            <a:pPr marL="0" indent="0" algn="ctr">
              <a:buNone/>
            </a:pPr>
            <a:r>
              <a:rPr lang="en-US" sz="1350" b="1" dirty="0">
                <a:solidFill>
                  <a:srgbClr val="0B3B2E"/>
                </a:solidFill>
                <a:latin typeface="Calibri" pitchFamily="34" charset="0"/>
                <a:ea typeface="Calibri" pitchFamily="34" charset="-122"/>
                <a:cs typeface="Calibri" pitchFamily="34" charset="-120"/>
              </a:rPr>
              <a:t>Knowledge Base &amp; RAG</a:t>
            </a:r>
            <a:endParaRPr lang="en-US" sz="1350" dirty="0"/>
          </a:p>
        </p:txBody>
      </p:sp>
      <p:sp>
        <p:nvSpPr>
          <p:cNvPr id="24" name="Text 22"/>
          <p:cNvSpPr txBox="1"/>
          <p:nvPr/>
        </p:nvSpPr>
        <p:spPr>
          <a:xfrm>
            <a:off x="4389120" y="3657600"/>
            <a:ext cx="1517904" cy="2057400"/>
          </a:xfrm>
          <a:prstGeom prst="rect">
            <a:avLst/>
          </a:prstGeom>
          <a:noFill/>
          <a:ln/>
        </p:spPr>
        <p:txBody>
          <a:bodyPr wrap="square" lIns="0" tIns="0" rIns="0" bIns="0" rtlCol="0" anchor="t"/>
          <a:lstStyle/>
          <a:p>
            <a:pPr marL="0" indent="0" algn="ctr">
              <a:buNone/>
            </a:pPr>
            <a:r>
              <a:rPr lang="en-US" sz="1100" dirty="0">
                <a:solidFill>
                  <a:srgbClr val="5F6E68"/>
                </a:solidFill>
                <a:latin typeface="Calibri" pitchFamily="34" charset="0"/>
                <a:ea typeface="Calibri" pitchFamily="34" charset="-122"/>
                <a:cs typeface="Calibri" pitchFamily="34" charset="-120"/>
              </a:rPr>
              <a:t>Curate Ayurvedic content, build embeddings and vector search pipeline</a:t>
            </a:r>
            <a:endParaRPr lang="en-US" sz="1100" dirty="0"/>
          </a:p>
        </p:txBody>
      </p:sp>
      <p:sp>
        <p:nvSpPr>
          <p:cNvPr id="25" name="Shape 23"/>
          <p:cNvSpPr/>
          <p:nvPr/>
        </p:nvSpPr>
        <p:spPr>
          <a:xfrm>
            <a:off x="6144768" y="1600200"/>
            <a:ext cx="1737360" cy="4206240"/>
          </a:xfrm>
          <a:prstGeom prst="roundRect">
            <a:avLst>
              <a:gd name="adj" fmla="val 4211"/>
            </a:avLst>
          </a:prstGeom>
          <a:solidFill>
            <a:srgbClr val="FBF3E3"/>
          </a:solidFill>
          <a:ln w="9525">
            <a:solidFill>
              <a:srgbClr val="DDE5E1"/>
            </a:solidFill>
            <a:prstDash val="solid"/>
          </a:ln>
          <a:effectLst>
            <a:outerShdw blurRad="101600" dist="25400" dir="5400000" algn="bl" rotWithShape="0">
              <a:srgbClr val="000000">
                <a:alpha val="8000"/>
              </a:srgbClr>
            </a:outerShdw>
          </a:effectLst>
        </p:spPr>
      </p:sp>
      <p:sp>
        <p:nvSpPr>
          <p:cNvPr id="26" name="Shape 24"/>
          <p:cNvSpPr/>
          <p:nvPr/>
        </p:nvSpPr>
        <p:spPr>
          <a:xfrm>
            <a:off x="6693408" y="1737360"/>
            <a:ext cx="640080" cy="640080"/>
          </a:xfrm>
          <a:prstGeom prst="ellipse">
            <a:avLst/>
          </a:prstGeom>
          <a:solidFill>
            <a:srgbClr val="C9973B"/>
          </a:solidFill>
          <a:ln w="25400">
            <a:solidFill>
              <a:srgbClr val="FFFFFF"/>
            </a:solidFill>
            <a:prstDash val="solid"/>
          </a:ln>
        </p:spPr>
      </p:sp>
      <p:sp>
        <p:nvSpPr>
          <p:cNvPr id="27" name="Text 25"/>
          <p:cNvSpPr txBox="1"/>
          <p:nvPr/>
        </p:nvSpPr>
        <p:spPr>
          <a:xfrm>
            <a:off x="6693408" y="17373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28" name="Text 26"/>
          <p:cNvSpPr txBox="1"/>
          <p:nvPr/>
        </p:nvSpPr>
        <p:spPr>
          <a:xfrm>
            <a:off x="6236208" y="2560320"/>
            <a:ext cx="1554480" cy="228600"/>
          </a:xfrm>
          <a:prstGeom prst="rect">
            <a:avLst/>
          </a:prstGeom>
          <a:noFill/>
          <a:ln/>
        </p:spPr>
        <p:txBody>
          <a:bodyPr wrap="square" lIns="0" tIns="0" rIns="0" bIns="0" rtlCol="0" anchor="t"/>
          <a:lstStyle/>
          <a:p>
            <a:pPr marL="0" indent="0" algn="ctr">
              <a:buNone/>
            </a:pPr>
            <a:r>
              <a:rPr lang="en-US" sz="1000" b="1" kern="0" spc="200" dirty="0">
                <a:solidFill>
                  <a:srgbClr val="C9973B"/>
                </a:solidFill>
                <a:latin typeface="Calibri" pitchFamily="34" charset="0"/>
                <a:ea typeface="Calibri" pitchFamily="34" charset="-122"/>
                <a:cs typeface="Calibri" pitchFamily="34" charset="-120"/>
              </a:rPr>
              <a:t>PHASE 4</a:t>
            </a:r>
            <a:endParaRPr lang="en-US" sz="1000" dirty="0"/>
          </a:p>
        </p:txBody>
      </p:sp>
      <p:sp>
        <p:nvSpPr>
          <p:cNvPr id="29" name="Text 27"/>
          <p:cNvSpPr txBox="1"/>
          <p:nvPr/>
        </p:nvSpPr>
        <p:spPr>
          <a:xfrm>
            <a:off x="6254496" y="2834640"/>
            <a:ext cx="1517904" cy="731520"/>
          </a:xfrm>
          <a:prstGeom prst="rect">
            <a:avLst/>
          </a:prstGeom>
          <a:noFill/>
          <a:ln/>
        </p:spPr>
        <p:txBody>
          <a:bodyPr wrap="square" lIns="0" tIns="0" rIns="0" bIns="0" rtlCol="0" anchor="t"/>
          <a:lstStyle/>
          <a:p>
            <a:pPr marL="0" indent="0" algn="ctr">
              <a:buNone/>
            </a:pPr>
            <a:r>
              <a:rPr lang="en-US" sz="1350" b="1" dirty="0">
                <a:solidFill>
                  <a:srgbClr val="0B3B2E"/>
                </a:solidFill>
                <a:latin typeface="Calibri" pitchFamily="34" charset="0"/>
                <a:ea typeface="Calibri" pitchFamily="34" charset="-122"/>
                <a:cs typeface="Calibri" pitchFamily="34" charset="-120"/>
              </a:rPr>
              <a:t>LLM Integration &amp; Safety</a:t>
            </a:r>
            <a:endParaRPr lang="en-US" sz="1350" dirty="0"/>
          </a:p>
        </p:txBody>
      </p:sp>
      <p:sp>
        <p:nvSpPr>
          <p:cNvPr id="30" name="Text 28"/>
          <p:cNvSpPr txBox="1"/>
          <p:nvPr/>
        </p:nvSpPr>
        <p:spPr>
          <a:xfrm>
            <a:off x="6254496" y="3657600"/>
            <a:ext cx="1517904" cy="2057400"/>
          </a:xfrm>
          <a:prstGeom prst="rect">
            <a:avLst/>
          </a:prstGeom>
          <a:noFill/>
          <a:ln/>
        </p:spPr>
        <p:txBody>
          <a:bodyPr wrap="square" lIns="0" tIns="0" rIns="0" bIns="0" rtlCol="0" anchor="t"/>
          <a:lstStyle/>
          <a:p>
            <a:pPr marL="0" indent="0" algn="ctr">
              <a:buNone/>
            </a:pPr>
            <a:r>
              <a:rPr lang="en-US" sz="1100" dirty="0">
                <a:solidFill>
                  <a:srgbClr val="5F6E68"/>
                </a:solidFill>
                <a:latin typeface="Calibri" pitchFamily="34" charset="0"/>
                <a:ea typeface="Calibri" pitchFamily="34" charset="-122"/>
                <a:cs typeface="Calibri" pitchFamily="34" charset="-120"/>
              </a:rPr>
              <a:t>Grounded response generation, safety/content checks, “View Sources”, UI and Doctor Portal with Hospital ERP &amp; Pharmacy</a:t>
            </a:r>
            <a:endParaRPr lang="en-US" sz="1100" dirty="0"/>
          </a:p>
        </p:txBody>
      </p:sp>
      <p:sp>
        <p:nvSpPr>
          <p:cNvPr id="31" name="Shape 29"/>
          <p:cNvSpPr/>
          <p:nvPr/>
        </p:nvSpPr>
        <p:spPr>
          <a:xfrm>
            <a:off x="8010144" y="1600200"/>
            <a:ext cx="1737360" cy="420624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2" name="Shape 30"/>
          <p:cNvSpPr/>
          <p:nvPr/>
        </p:nvSpPr>
        <p:spPr>
          <a:xfrm>
            <a:off x="8558784" y="1737360"/>
            <a:ext cx="640080" cy="640080"/>
          </a:xfrm>
          <a:prstGeom prst="ellipse">
            <a:avLst/>
          </a:prstGeom>
          <a:solidFill>
            <a:srgbClr val="0B3B2E"/>
          </a:solidFill>
          <a:ln w="25400">
            <a:solidFill>
              <a:srgbClr val="FFFFFF"/>
            </a:solidFill>
            <a:prstDash val="solid"/>
          </a:ln>
        </p:spPr>
      </p:sp>
      <p:sp>
        <p:nvSpPr>
          <p:cNvPr id="33" name="Text 31"/>
          <p:cNvSpPr txBox="1"/>
          <p:nvPr/>
        </p:nvSpPr>
        <p:spPr>
          <a:xfrm>
            <a:off x="8558784" y="17373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34" name="Text 32"/>
          <p:cNvSpPr txBox="1"/>
          <p:nvPr/>
        </p:nvSpPr>
        <p:spPr>
          <a:xfrm>
            <a:off x="8101584" y="2560320"/>
            <a:ext cx="1554480" cy="228600"/>
          </a:xfrm>
          <a:prstGeom prst="rect">
            <a:avLst/>
          </a:prstGeom>
          <a:noFill/>
          <a:ln/>
        </p:spPr>
        <p:txBody>
          <a:bodyPr wrap="square" lIns="0" tIns="0" rIns="0" bIns="0" rtlCol="0" anchor="t"/>
          <a:lstStyle/>
          <a:p>
            <a:pPr marL="0" indent="0" algn="ctr">
              <a:buNone/>
            </a:pPr>
            <a:r>
              <a:rPr lang="en-US" sz="1000" b="1" kern="0" spc="200" dirty="0">
                <a:solidFill>
                  <a:srgbClr val="C9973B"/>
                </a:solidFill>
                <a:latin typeface="Calibri" pitchFamily="34" charset="0"/>
                <a:ea typeface="Calibri" pitchFamily="34" charset="-122"/>
                <a:cs typeface="Calibri" pitchFamily="34" charset="-120"/>
              </a:rPr>
              <a:t>PHASE 5</a:t>
            </a:r>
            <a:endParaRPr lang="en-US" sz="1000" dirty="0"/>
          </a:p>
        </p:txBody>
      </p:sp>
      <p:sp>
        <p:nvSpPr>
          <p:cNvPr id="35" name="Text 33"/>
          <p:cNvSpPr txBox="1"/>
          <p:nvPr/>
        </p:nvSpPr>
        <p:spPr>
          <a:xfrm>
            <a:off x="8119872" y="2834640"/>
            <a:ext cx="1517904" cy="731520"/>
          </a:xfrm>
          <a:prstGeom prst="rect">
            <a:avLst/>
          </a:prstGeom>
          <a:noFill/>
          <a:ln/>
        </p:spPr>
        <p:txBody>
          <a:bodyPr wrap="square" lIns="0" tIns="0" rIns="0" bIns="0" rtlCol="0" anchor="t"/>
          <a:lstStyle/>
          <a:p>
            <a:pPr marL="0" indent="0" algn="ctr">
              <a:buNone/>
            </a:pPr>
            <a:r>
              <a:rPr lang="en-US" sz="1350" b="1" dirty="0">
                <a:solidFill>
                  <a:srgbClr val="0B3B2E"/>
                </a:solidFill>
                <a:latin typeface="Calibri" pitchFamily="34" charset="0"/>
                <a:ea typeface="Calibri" pitchFamily="34" charset="-122"/>
                <a:cs typeface="Calibri" pitchFamily="34" charset="-120"/>
              </a:rPr>
              <a:t>TTS &amp; Security Hardening</a:t>
            </a:r>
            <a:endParaRPr lang="en-US" sz="1350" dirty="0"/>
          </a:p>
        </p:txBody>
      </p:sp>
      <p:sp>
        <p:nvSpPr>
          <p:cNvPr id="36" name="Text 34"/>
          <p:cNvSpPr txBox="1"/>
          <p:nvPr/>
        </p:nvSpPr>
        <p:spPr>
          <a:xfrm>
            <a:off x="8119872" y="3657600"/>
            <a:ext cx="1517904" cy="2057400"/>
          </a:xfrm>
          <a:prstGeom prst="rect">
            <a:avLst/>
          </a:prstGeom>
          <a:noFill/>
          <a:ln/>
        </p:spPr>
        <p:txBody>
          <a:bodyPr wrap="square" lIns="0" tIns="0" rIns="0" bIns="0" rtlCol="0" anchor="t"/>
          <a:lstStyle/>
          <a:p>
            <a:pPr marL="0" indent="0" algn="ctr">
              <a:buNone/>
            </a:pPr>
            <a:r>
              <a:rPr lang="en-US" sz="1100" dirty="0">
                <a:solidFill>
                  <a:srgbClr val="5F6E68"/>
                </a:solidFill>
                <a:latin typeface="Calibri" pitchFamily="34" charset="0"/>
                <a:ea typeface="Calibri" pitchFamily="34" charset="-122"/>
                <a:cs typeface="Calibri" pitchFamily="34" charset="-120"/>
              </a:rPr>
              <a:t>Voice output integration; auth, RBAC, encryption and audit logging</a:t>
            </a:r>
            <a:endParaRPr lang="en-US" sz="1100" dirty="0"/>
          </a:p>
        </p:txBody>
      </p:sp>
      <p:sp>
        <p:nvSpPr>
          <p:cNvPr id="37" name="Shape 35"/>
          <p:cNvSpPr/>
          <p:nvPr/>
        </p:nvSpPr>
        <p:spPr>
          <a:xfrm>
            <a:off x="9875520" y="1600200"/>
            <a:ext cx="1737360" cy="4206240"/>
          </a:xfrm>
          <a:prstGeom prst="roundRect">
            <a:avLst>
              <a:gd name="adj" fmla="val 421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38" name="Shape 36"/>
          <p:cNvSpPr/>
          <p:nvPr/>
        </p:nvSpPr>
        <p:spPr>
          <a:xfrm>
            <a:off x="10424160" y="1737360"/>
            <a:ext cx="640080" cy="640080"/>
          </a:xfrm>
          <a:prstGeom prst="ellipse">
            <a:avLst/>
          </a:prstGeom>
          <a:solidFill>
            <a:srgbClr val="0B3B2E"/>
          </a:solidFill>
          <a:ln w="25400">
            <a:solidFill>
              <a:srgbClr val="FFFFFF"/>
            </a:solidFill>
            <a:prstDash val="solid"/>
          </a:ln>
        </p:spPr>
      </p:sp>
      <p:sp>
        <p:nvSpPr>
          <p:cNvPr id="39" name="Text 37"/>
          <p:cNvSpPr txBox="1"/>
          <p:nvPr/>
        </p:nvSpPr>
        <p:spPr>
          <a:xfrm>
            <a:off x="10424160" y="1737360"/>
            <a:ext cx="640080" cy="64008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6</a:t>
            </a:r>
            <a:endParaRPr lang="en-US" sz="2000" dirty="0"/>
          </a:p>
        </p:txBody>
      </p:sp>
      <p:sp>
        <p:nvSpPr>
          <p:cNvPr id="40" name="Text 38"/>
          <p:cNvSpPr txBox="1"/>
          <p:nvPr/>
        </p:nvSpPr>
        <p:spPr>
          <a:xfrm>
            <a:off x="9966960" y="2560320"/>
            <a:ext cx="1554480" cy="228600"/>
          </a:xfrm>
          <a:prstGeom prst="rect">
            <a:avLst/>
          </a:prstGeom>
          <a:noFill/>
          <a:ln/>
        </p:spPr>
        <p:txBody>
          <a:bodyPr wrap="square" lIns="0" tIns="0" rIns="0" bIns="0" rtlCol="0" anchor="t"/>
          <a:lstStyle/>
          <a:p>
            <a:pPr marL="0" indent="0" algn="ctr">
              <a:buNone/>
            </a:pPr>
            <a:r>
              <a:rPr lang="en-US" sz="1000" b="1" kern="0" spc="200" dirty="0">
                <a:solidFill>
                  <a:srgbClr val="C9973B"/>
                </a:solidFill>
                <a:latin typeface="Calibri" pitchFamily="34" charset="0"/>
                <a:ea typeface="Calibri" pitchFamily="34" charset="-122"/>
                <a:cs typeface="Calibri" pitchFamily="34" charset="-120"/>
              </a:rPr>
              <a:t>PHASE 6</a:t>
            </a:r>
            <a:endParaRPr lang="en-US" sz="1000" dirty="0"/>
          </a:p>
        </p:txBody>
      </p:sp>
      <p:sp>
        <p:nvSpPr>
          <p:cNvPr id="41" name="Text 39"/>
          <p:cNvSpPr txBox="1"/>
          <p:nvPr/>
        </p:nvSpPr>
        <p:spPr>
          <a:xfrm>
            <a:off x="9985248" y="2834640"/>
            <a:ext cx="1517904" cy="731520"/>
          </a:xfrm>
          <a:prstGeom prst="rect">
            <a:avLst/>
          </a:prstGeom>
          <a:noFill/>
          <a:ln/>
        </p:spPr>
        <p:txBody>
          <a:bodyPr wrap="square" lIns="0" tIns="0" rIns="0" bIns="0" rtlCol="0" anchor="t"/>
          <a:lstStyle/>
          <a:p>
            <a:pPr marL="0" indent="0" algn="ctr">
              <a:buNone/>
            </a:pPr>
            <a:r>
              <a:rPr lang="en-US" sz="1350" b="1" dirty="0">
                <a:solidFill>
                  <a:srgbClr val="0B3B2E"/>
                </a:solidFill>
                <a:latin typeface="Calibri" pitchFamily="34" charset="0"/>
                <a:ea typeface="Calibri" pitchFamily="34" charset="-122"/>
                <a:cs typeface="Calibri" pitchFamily="34" charset="-120"/>
              </a:rPr>
              <a:t>Testing, Evaluation &amp; Docs</a:t>
            </a:r>
            <a:endParaRPr lang="en-US" sz="1350" dirty="0"/>
          </a:p>
        </p:txBody>
      </p:sp>
      <p:sp>
        <p:nvSpPr>
          <p:cNvPr id="42" name="Text 40"/>
          <p:cNvSpPr txBox="1"/>
          <p:nvPr/>
        </p:nvSpPr>
        <p:spPr>
          <a:xfrm>
            <a:off x="9985248" y="3657600"/>
            <a:ext cx="1517904" cy="2057400"/>
          </a:xfrm>
          <a:prstGeom prst="rect">
            <a:avLst/>
          </a:prstGeom>
          <a:noFill/>
          <a:ln/>
        </p:spPr>
        <p:txBody>
          <a:bodyPr wrap="square" lIns="0" tIns="0" rIns="0" bIns="0" rtlCol="0" anchor="t"/>
          <a:lstStyle/>
          <a:p>
            <a:pPr marL="0" indent="0" algn="ctr">
              <a:buNone/>
            </a:pPr>
            <a:r>
              <a:rPr lang="en-US" sz="1100" dirty="0">
                <a:solidFill>
                  <a:srgbClr val="5F6E68"/>
                </a:solidFill>
                <a:latin typeface="Calibri" pitchFamily="34" charset="0"/>
                <a:ea typeface="Calibri" pitchFamily="34" charset="-122"/>
                <a:cs typeface="Calibri" pitchFamily="34" charset="-120"/>
              </a:rPr>
              <a:t>RAG/LLM/security evaluation, usability testing, final report and paper</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WHERE THIS LEADS</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Conclusion &amp; Future Scope</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12 / 14</a:t>
            </a:r>
            <a:endParaRPr lang="en-US" sz="1000" dirty="0"/>
          </a:p>
        </p:txBody>
      </p:sp>
      <p:sp>
        <p:nvSpPr>
          <p:cNvPr id="6" name="Shape 4"/>
          <p:cNvSpPr/>
          <p:nvPr/>
        </p:nvSpPr>
        <p:spPr>
          <a:xfrm>
            <a:off x="548640" y="1371600"/>
            <a:ext cx="11064240" cy="1234440"/>
          </a:xfrm>
          <a:prstGeom prst="roundRect">
            <a:avLst>
              <a:gd name="adj" fmla="val 5926"/>
            </a:avLst>
          </a:prstGeom>
          <a:solidFill>
            <a:srgbClr val="0B3B2E"/>
          </a:solidFill>
          <a:ln w="12700">
            <a:solidFill>
              <a:srgbClr val="0B3B2E"/>
            </a:solidFill>
            <a:prstDash val="solid"/>
          </a:ln>
        </p:spPr>
      </p:sp>
      <p:sp>
        <p:nvSpPr>
          <p:cNvPr id="7" name="Text 5"/>
          <p:cNvSpPr txBox="1"/>
          <p:nvPr/>
        </p:nvSpPr>
        <p:spPr>
          <a:xfrm>
            <a:off x="822960" y="1371600"/>
            <a:ext cx="10515600" cy="123444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Zeniva shows that a pure-software, RAG-grounded LLM platform can deliver personalised, source-transparent Ayurvedic guidance — spoken through TTS — while a defense-in-depth security architecture protects patient data and qualified practitioners, supported by an integrated Hospital ERP &amp; Pharmacy, stay central to care.</a:t>
            </a:r>
            <a:endParaRPr lang="en-US" sz="1400" dirty="0"/>
          </a:p>
        </p:txBody>
      </p:sp>
      <p:sp>
        <p:nvSpPr>
          <p:cNvPr id="8" name="Shape 6"/>
          <p:cNvSpPr/>
          <p:nvPr/>
        </p:nvSpPr>
        <p:spPr>
          <a:xfrm>
            <a:off x="548640" y="278892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9" name="Shape 7"/>
          <p:cNvSpPr/>
          <p:nvPr/>
        </p:nvSpPr>
        <p:spPr>
          <a:xfrm>
            <a:off x="731520" y="2953512"/>
            <a:ext cx="457200" cy="457200"/>
          </a:xfrm>
          <a:prstGeom prst="ellipse">
            <a:avLst/>
          </a:prstGeom>
          <a:solidFill>
            <a:srgbClr val="0B3B2E"/>
          </a:solidFill>
          <a:ln w="12700">
            <a:solidFill>
              <a:srgbClr val="0B3B2E"/>
            </a:solidFill>
            <a:prstDash val="solid"/>
          </a:ln>
        </p:spPr>
      </p:sp>
      <p:pic>
        <p:nvPicPr>
          <p:cNvPr id="10" name="Image 0" descr="preencoded.png"/>
          <p:cNvPicPr>
            <a:picLocks noChangeAspect="1"/>
          </p:cNvPicPr>
          <p:nvPr/>
        </p:nvPicPr>
        <p:blipFill>
          <a:blip r:embed="rId3"/>
          <a:stretch>
            <a:fillRect/>
          </a:stretch>
        </p:blipFill>
        <p:spPr>
          <a:xfrm>
            <a:off x="854964" y="3076956"/>
            <a:ext cx="210312" cy="210312"/>
          </a:xfrm>
          <a:prstGeom prst="rect">
            <a:avLst/>
          </a:prstGeom>
        </p:spPr>
      </p:pic>
      <p:sp>
        <p:nvSpPr>
          <p:cNvPr id="11" name="Text 8"/>
          <p:cNvSpPr txBox="1"/>
          <p:nvPr/>
        </p:nvSpPr>
        <p:spPr>
          <a:xfrm>
            <a:off x="1325880" y="2953512"/>
            <a:ext cx="2651760" cy="457200"/>
          </a:xfrm>
          <a:prstGeom prst="rect">
            <a:avLst/>
          </a:prstGeom>
          <a:noFill/>
          <a:ln/>
        </p:spPr>
        <p:txBody>
          <a:bodyPr wrap="square" lIns="0" tIns="0" rIns="0" bIns="0" rtlCol="0" anchor="ctr"/>
          <a:lstStyle/>
          <a:p>
            <a:pPr marL="0" indent="0">
              <a:buNone/>
            </a:pPr>
            <a:r>
              <a:rPr lang="en-US" sz="1400" b="1" dirty="0">
                <a:solidFill>
                  <a:srgbClr val="0B3B2E"/>
                </a:solidFill>
                <a:latin typeface="Calibri" pitchFamily="34" charset="0"/>
                <a:ea typeface="Calibri" pitchFamily="34" charset="-122"/>
                <a:cs typeface="Calibri" pitchFamily="34" charset="-120"/>
              </a:rPr>
              <a:t>AI-Based Patient Progress Tracking</a:t>
            </a:r>
            <a:endParaRPr lang="en-US" sz="1400" dirty="0"/>
          </a:p>
        </p:txBody>
      </p:sp>
      <p:sp>
        <p:nvSpPr>
          <p:cNvPr id="12" name="Text 9"/>
          <p:cNvSpPr txBox="1"/>
          <p:nvPr/>
        </p:nvSpPr>
        <p:spPr>
          <a:xfrm>
            <a:off x="731520" y="3520440"/>
            <a:ext cx="3200400" cy="91440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Zeniva monitors symptoms and wellness over time to identify whether the patient is improving, stable, or worsening.</a:t>
            </a:r>
            <a:endParaRPr lang="en-US" sz="1200" dirty="0"/>
          </a:p>
        </p:txBody>
      </p:sp>
      <p:sp>
        <p:nvSpPr>
          <p:cNvPr id="13" name="Shape 10"/>
          <p:cNvSpPr/>
          <p:nvPr/>
        </p:nvSpPr>
        <p:spPr>
          <a:xfrm>
            <a:off x="4297680" y="278892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4" name="Shape 11"/>
          <p:cNvSpPr/>
          <p:nvPr/>
        </p:nvSpPr>
        <p:spPr>
          <a:xfrm>
            <a:off x="4480560" y="2953512"/>
            <a:ext cx="457200" cy="457200"/>
          </a:xfrm>
          <a:prstGeom prst="ellipse">
            <a:avLst/>
          </a:prstGeom>
          <a:solidFill>
            <a:srgbClr val="0B3B2E"/>
          </a:solidFill>
          <a:ln w="12700">
            <a:solidFill>
              <a:srgbClr val="0B3B2E"/>
            </a:solidFill>
            <a:prstDash val="solid"/>
          </a:ln>
        </p:spPr>
      </p:sp>
      <p:pic>
        <p:nvPicPr>
          <p:cNvPr id="15" name="Image 1" descr="preencoded.png"/>
          <p:cNvPicPr>
            <a:picLocks noChangeAspect="1"/>
          </p:cNvPicPr>
          <p:nvPr/>
        </p:nvPicPr>
        <p:blipFill>
          <a:blip r:embed="rId4"/>
          <a:stretch>
            <a:fillRect/>
          </a:stretch>
        </p:blipFill>
        <p:spPr>
          <a:xfrm>
            <a:off x="4604004" y="3076956"/>
            <a:ext cx="210312" cy="210312"/>
          </a:xfrm>
          <a:prstGeom prst="rect">
            <a:avLst/>
          </a:prstGeom>
        </p:spPr>
      </p:pic>
      <p:sp>
        <p:nvSpPr>
          <p:cNvPr id="16" name="Text 12"/>
          <p:cNvSpPr txBox="1"/>
          <p:nvPr/>
        </p:nvSpPr>
        <p:spPr>
          <a:xfrm>
            <a:off x="5074920" y="2953512"/>
            <a:ext cx="2651760" cy="457200"/>
          </a:xfrm>
          <a:prstGeom prst="rect">
            <a:avLst/>
          </a:prstGeom>
          <a:noFill/>
          <a:ln/>
        </p:spPr>
        <p:txBody>
          <a:bodyPr wrap="square" lIns="0" tIns="0" rIns="0" bIns="0" rtlCol="0" anchor="ctr"/>
          <a:lstStyle/>
          <a:p>
            <a:pPr marL="0" indent="0">
              <a:buNone/>
            </a:pPr>
            <a:r>
              <a:rPr lang="en-US" sz="1400" b="1" dirty="0">
                <a:solidFill>
                  <a:srgbClr val="0B3B2E"/>
                </a:solidFill>
                <a:latin typeface="Calibri" pitchFamily="34" charset="0"/>
                <a:ea typeface="Calibri" pitchFamily="34" charset="-122"/>
                <a:cs typeface="Calibri" pitchFamily="34" charset="-120"/>
              </a:rPr>
              <a:t>Doctor Feedback</a:t>
            </a:r>
            <a:endParaRPr lang="en-US" sz="1400" dirty="0"/>
          </a:p>
        </p:txBody>
      </p:sp>
      <p:sp>
        <p:nvSpPr>
          <p:cNvPr id="17" name="Text 13"/>
          <p:cNvSpPr txBox="1"/>
          <p:nvPr/>
        </p:nvSpPr>
        <p:spPr>
          <a:xfrm>
            <a:off x="4480560" y="3520440"/>
            <a:ext cx="3200400" cy="91440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Doctors can review the AI assessment and use their feedback to improve future system performance.</a:t>
            </a:r>
            <a:endParaRPr lang="en-US" sz="1200" dirty="0"/>
          </a:p>
        </p:txBody>
      </p:sp>
      <p:sp>
        <p:nvSpPr>
          <p:cNvPr id="18" name="Shape 14"/>
          <p:cNvSpPr/>
          <p:nvPr/>
        </p:nvSpPr>
        <p:spPr>
          <a:xfrm>
            <a:off x="8046720" y="2788920"/>
            <a:ext cx="3566160" cy="1691640"/>
          </a:xfrm>
          <a:prstGeom prst="roundRect">
            <a:avLst>
              <a:gd name="adj" fmla="val 4324"/>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9" name="Shape 15"/>
          <p:cNvSpPr/>
          <p:nvPr/>
        </p:nvSpPr>
        <p:spPr>
          <a:xfrm>
            <a:off x="8229600" y="2953512"/>
            <a:ext cx="457200" cy="457200"/>
          </a:xfrm>
          <a:prstGeom prst="ellipse">
            <a:avLst/>
          </a:prstGeom>
          <a:solidFill>
            <a:srgbClr val="0B3B2E"/>
          </a:solidFill>
          <a:ln w="12700">
            <a:solidFill>
              <a:srgbClr val="0B3B2E"/>
            </a:solidFill>
            <a:prstDash val="solid"/>
          </a:ln>
        </p:spPr>
      </p:sp>
      <p:pic>
        <p:nvPicPr>
          <p:cNvPr id="20" name="Image 2" descr="preencoded.png"/>
          <p:cNvPicPr>
            <a:picLocks noChangeAspect="1"/>
          </p:cNvPicPr>
          <p:nvPr/>
        </p:nvPicPr>
        <p:blipFill>
          <a:blip r:embed="rId5"/>
          <a:stretch>
            <a:fillRect/>
          </a:stretch>
        </p:blipFill>
        <p:spPr>
          <a:xfrm>
            <a:off x="8353044" y="3076956"/>
            <a:ext cx="210312" cy="210312"/>
          </a:xfrm>
          <a:prstGeom prst="rect">
            <a:avLst/>
          </a:prstGeom>
        </p:spPr>
      </p:pic>
      <p:sp>
        <p:nvSpPr>
          <p:cNvPr id="21" name="Text 16"/>
          <p:cNvSpPr txBox="1"/>
          <p:nvPr/>
        </p:nvSpPr>
        <p:spPr>
          <a:xfrm>
            <a:off x="8823960" y="2953512"/>
            <a:ext cx="2651760" cy="457200"/>
          </a:xfrm>
          <a:prstGeom prst="rect">
            <a:avLst/>
          </a:prstGeom>
          <a:noFill/>
          <a:ln/>
        </p:spPr>
        <p:txBody>
          <a:bodyPr wrap="square" lIns="0" tIns="0" rIns="0" bIns="0" rtlCol="0" anchor="ctr"/>
          <a:lstStyle/>
          <a:p>
            <a:pPr marL="0" indent="0">
              <a:buNone/>
            </a:pPr>
            <a:r>
              <a:rPr lang="en-US" sz="1400" b="1" dirty="0">
                <a:solidFill>
                  <a:srgbClr val="0B3B2E"/>
                </a:solidFill>
                <a:latin typeface="Calibri" pitchFamily="34" charset="0"/>
                <a:ea typeface="Calibri" pitchFamily="34" charset="-122"/>
                <a:cs typeface="Calibri" pitchFamily="34" charset="-120"/>
              </a:rPr>
              <a:t>Explainable AI</a:t>
            </a:r>
            <a:endParaRPr lang="en-US" sz="1400" dirty="0"/>
          </a:p>
        </p:txBody>
      </p:sp>
      <p:sp>
        <p:nvSpPr>
          <p:cNvPr id="22" name="Text 17"/>
          <p:cNvSpPr txBox="1"/>
          <p:nvPr/>
        </p:nvSpPr>
        <p:spPr>
          <a:xfrm>
            <a:off x="8229600" y="3520440"/>
            <a:ext cx="3200400" cy="91440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Zeniva explains why each Ayurvedic recommendation is suggested based on the user's symptoms and relevant knowledge.</a:t>
            </a:r>
            <a:endParaRPr lang="en-US" sz="1200" dirty="0"/>
          </a:p>
        </p:txBody>
      </p:sp>
      <p:sp>
        <p:nvSpPr>
          <p:cNvPr id="23" name="Shape 18"/>
          <p:cNvSpPr/>
          <p:nvPr/>
        </p:nvSpPr>
        <p:spPr>
          <a:xfrm>
            <a:off x="548640" y="4617720"/>
            <a:ext cx="5440680" cy="1554480"/>
          </a:xfrm>
          <a:prstGeom prst="roundRect">
            <a:avLst>
              <a:gd name="adj" fmla="val 4706"/>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24" name="Shape 19"/>
          <p:cNvSpPr/>
          <p:nvPr/>
        </p:nvSpPr>
        <p:spPr>
          <a:xfrm>
            <a:off x="731520" y="4782312"/>
            <a:ext cx="457200" cy="457200"/>
          </a:xfrm>
          <a:prstGeom prst="ellipse">
            <a:avLst/>
          </a:prstGeom>
          <a:solidFill>
            <a:srgbClr val="0B3B2E"/>
          </a:solidFill>
          <a:ln w="12700">
            <a:solidFill>
              <a:srgbClr val="0B3B2E"/>
            </a:solidFill>
            <a:prstDash val="solid"/>
          </a:ln>
        </p:spPr>
      </p:sp>
      <p:pic>
        <p:nvPicPr>
          <p:cNvPr id="25" name="Image 3" descr="preencoded.png"/>
          <p:cNvPicPr>
            <a:picLocks noChangeAspect="1"/>
          </p:cNvPicPr>
          <p:nvPr/>
        </p:nvPicPr>
        <p:blipFill>
          <a:blip r:embed="rId6"/>
          <a:stretch>
            <a:fillRect/>
          </a:stretch>
        </p:blipFill>
        <p:spPr>
          <a:xfrm>
            <a:off x="854964" y="4905756"/>
            <a:ext cx="210312" cy="210312"/>
          </a:xfrm>
          <a:prstGeom prst="rect">
            <a:avLst/>
          </a:prstGeom>
        </p:spPr>
      </p:pic>
      <p:sp>
        <p:nvSpPr>
          <p:cNvPr id="26" name="Text 20"/>
          <p:cNvSpPr txBox="1"/>
          <p:nvPr/>
        </p:nvSpPr>
        <p:spPr>
          <a:xfrm>
            <a:off x="1325880" y="4782312"/>
            <a:ext cx="4526280" cy="457200"/>
          </a:xfrm>
          <a:prstGeom prst="rect">
            <a:avLst/>
          </a:prstGeom>
          <a:noFill/>
          <a:ln/>
        </p:spPr>
        <p:txBody>
          <a:bodyPr wrap="square" lIns="0" tIns="0" rIns="0" bIns="0" rtlCol="0" anchor="ctr"/>
          <a:lstStyle/>
          <a:p>
            <a:pPr marL="0" indent="0">
              <a:buNone/>
            </a:pPr>
            <a:r>
              <a:rPr lang="en-US" sz="1400" b="1" dirty="0">
                <a:solidFill>
                  <a:srgbClr val="0B3B2E"/>
                </a:solidFill>
                <a:latin typeface="Calibri" pitchFamily="34" charset="0"/>
                <a:ea typeface="Calibri" pitchFamily="34" charset="-122"/>
                <a:cs typeface="Calibri" pitchFamily="34" charset="-120"/>
              </a:rPr>
              <a:t>Family/Caregiver Access</a:t>
            </a:r>
            <a:endParaRPr lang="en-US" sz="1400" dirty="0"/>
          </a:p>
        </p:txBody>
      </p:sp>
      <p:sp>
        <p:nvSpPr>
          <p:cNvPr id="27" name="Text 21"/>
          <p:cNvSpPr txBox="1"/>
          <p:nvPr/>
        </p:nvSpPr>
        <p:spPr>
          <a:xfrm>
            <a:off x="731520" y="5349240"/>
            <a:ext cx="5074920" cy="77724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Users can optionally share selected health information, appointments, and reminders with trusted family members or caregivers.</a:t>
            </a:r>
            <a:endParaRPr lang="en-US" sz="1200" dirty="0"/>
          </a:p>
        </p:txBody>
      </p:sp>
      <p:sp>
        <p:nvSpPr>
          <p:cNvPr id="28" name="Shape 22"/>
          <p:cNvSpPr/>
          <p:nvPr/>
        </p:nvSpPr>
        <p:spPr>
          <a:xfrm>
            <a:off x="6172200" y="4617720"/>
            <a:ext cx="5440680" cy="1554480"/>
          </a:xfrm>
          <a:prstGeom prst="roundRect">
            <a:avLst>
              <a:gd name="adj" fmla="val 4706"/>
            </a:avLst>
          </a:prstGeom>
          <a:solidFill>
            <a:srgbClr val="FBF3E3"/>
          </a:solidFill>
          <a:ln w="9525">
            <a:solidFill>
              <a:srgbClr val="DDE5E1"/>
            </a:solidFill>
            <a:prstDash val="solid"/>
          </a:ln>
          <a:effectLst>
            <a:outerShdw blurRad="101600" dist="25400" dir="5400000" algn="bl" rotWithShape="0">
              <a:srgbClr val="000000">
                <a:alpha val="8000"/>
              </a:srgbClr>
            </a:outerShdw>
          </a:effectLst>
        </p:spPr>
      </p:sp>
      <p:sp>
        <p:nvSpPr>
          <p:cNvPr id="29" name="Shape 23"/>
          <p:cNvSpPr/>
          <p:nvPr/>
        </p:nvSpPr>
        <p:spPr>
          <a:xfrm>
            <a:off x="6355080" y="4782312"/>
            <a:ext cx="457200" cy="457200"/>
          </a:xfrm>
          <a:prstGeom prst="ellipse">
            <a:avLst/>
          </a:prstGeom>
          <a:solidFill>
            <a:srgbClr val="C9973B"/>
          </a:solidFill>
          <a:ln w="12700">
            <a:solidFill>
              <a:srgbClr val="C9973B"/>
            </a:solidFill>
            <a:prstDash val="solid"/>
          </a:ln>
        </p:spPr>
      </p:sp>
      <p:pic>
        <p:nvPicPr>
          <p:cNvPr id="30" name="Image 4" descr="preencoded.png"/>
          <p:cNvPicPr>
            <a:picLocks noChangeAspect="1"/>
          </p:cNvPicPr>
          <p:nvPr/>
        </p:nvPicPr>
        <p:blipFill>
          <a:blip r:embed="rId7"/>
          <a:stretch>
            <a:fillRect/>
          </a:stretch>
        </p:blipFill>
        <p:spPr>
          <a:xfrm>
            <a:off x="6478524" y="4905756"/>
            <a:ext cx="210312" cy="210312"/>
          </a:xfrm>
          <a:prstGeom prst="rect">
            <a:avLst/>
          </a:prstGeom>
        </p:spPr>
      </p:pic>
      <p:sp>
        <p:nvSpPr>
          <p:cNvPr id="31" name="Text 24"/>
          <p:cNvSpPr txBox="1"/>
          <p:nvPr/>
        </p:nvSpPr>
        <p:spPr>
          <a:xfrm>
            <a:off x="6949440" y="4782312"/>
            <a:ext cx="4526280" cy="457200"/>
          </a:xfrm>
          <a:prstGeom prst="rect">
            <a:avLst/>
          </a:prstGeom>
          <a:noFill/>
          <a:ln/>
        </p:spPr>
        <p:txBody>
          <a:bodyPr wrap="square" lIns="0" tIns="0" rIns="0" bIns="0" rtlCol="0" anchor="ctr"/>
          <a:lstStyle/>
          <a:p>
            <a:pPr marL="0" indent="0">
              <a:buNone/>
            </a:pPr>
            <a:r>
              <a:rPr lang="en-US" sz="1400" b="1" dirty="0">
                <a:solidFill>
                  <a:srgbClr val="0B3B2E"/>
                </a:solidFill>
                <a:latin typeface="Calibri" pitchFamily="34" charset="0"/>
                <a:ea typeface="Calibri" pitchFamily="34" charset="-122"/>
                <a:cs typeface="Calibri" pitchFamily="34" charset="-120"/>
              </a:rPr>
              <a:t>Deeper Hospital ERP &amp; Pharmacy Integration</a:t>
            </a:r>
            <a:endParaRPr lang="en-US" sz="1400" dirty="0"/>
          </a:p>
        </p:txBody>
      </p:sp>
      <p:sp>
        <p:nvSpPr>
          <p:cNvPr id="32" name="Text 25"/>
          <p:cNvSpPr txBox="1"/>
          <p:nvPr/>
        </p:nvSpPr>
        <p:spPr>
          <a:xfrm>
            <a:off x="6355080" y="5349240"/>
            <a:ext cx="5074920" cy="777240"/>
          </a:xfrm>
          <a:prstGeom prst="rect">
            <a:avLst/>
          </a:prstGeom>
          <a:noFill/>
          <a:ln/>
        </p:spPr>
        <p:txBody>
          <a:bodyPr wrap="square" lIns="0" tIns="0" rIns="0" bIns="0" rtlCol="0" anchor="t"/>
          <a:lstStyle/>
          <a:p>
            <a:pPr marL="0" indent="0">
              <a:buNone/>
            </a:pPr>
            <a:r>
              <a:rPr lang="en-US" sz="1200" dirty="0">
                <a:solidFill>
                  <a:srgbClr val="5F6E68"/>
                </a:solidFill>
                <a:latin typeface="Calibri" pitchFamily="34" charset="0"/>
                <a:ea typeface="Calibri" pitchFamily="34" charset="-122"/>
                <a:cs typeface="Calibri" pitchFamily="34" charset="-120"/>
              </a:rPr>
              <a:t>Link AI recommendations to prescriptions, pharmacy stock and billing for a seamless care-to-dispensing workflow.</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7315200" cy="228600"/>
          </a:xfrm>
          <a:prstGeom prst="rect">
            <a:avLst/>
          </a:prstGeom>
          <a:noFill/>
          <a:ln/>
        </p:spPr>
        <p:txBody>
          <a:bodyPr wrap="square" lIns="0" tIns="0" rIns="0" bIns="0" rtlCol="0" anchor="t"/>
          <a:lstStyle/>
          <a:p>
            <a:pPr marL="0" indent="0">
              <a:buNone/>
            </a:pPr>
            <a:r>
              <a:rPr lang="en-US" sz="1100" b="1" kern="0" spc="300" dirty="0">
                <a:solidFill>
                  <a:srgbClr val="C9973B"/>
                </a:solidFill>
                <a:latin typeface="Calibri" pitchFamily="34" charset="0"/>
                <a:ea typeface="Calibri" pitchFamily="34" charset="-122"/>
                <a:cs typeface="Calibri" pitchFamily="34" charset="-120"/>
              </a:rPr>
              <a:t>OUR IDEA</a:t>
            </a:r>
            <a:endParaRPr lang="en-US" sz="1100" dirty="0"/>
          </a:p>
        </p:txBody>
      </p:sp>
      <p:sp>
        <p:nvSpPr>
          <p:cNvPr id="3" name="Text 1"/>
          <p:cNvSpPr txBox="1"/>
          <p:nvPr/>
        </p:nvSpPr>
        <p:spPr>
          <a:xfrm>
            <a:off x="548640" y="594360"/>
            <a:ext cx="10972800" cy="640080"/>
          </a:xfrm>
          <a:prstGeom prst="rect">
            <a:avLst/>
          </a:prstGeom>
          <a:noFill/>
          <a:ln/>
        </p:spPr>
        <p:txBody>
          <a:bodyPr wrap="square" lIns="0" tIns="0" rIns="0" bIns="0" rtlCol="0" anchor="t"/>
          <a:lstStyle/>
          <a:p>
            <a:pPr marL="0" indent="0">
              <a:buNone/>
            </a:pPr>
            <a:r>
              <a:rPr lang="en-US" sz="3200" b="1" dirty="0">
                <a:solidFill>
                  <a:srgbClr val="0B3B2E"/>
                </a:solidFill>
                <a:latin typeface="Cambria" pitchFamily="34" charset="0"/>
                <a:ea typeface="Cambria" pitchFamily="34" charset="-122"/>
                <a:cs typeface="Cambria" pitchFamily="34" charset="-120"/>
              </a:rPr>
              <a:t>Visualization</a:t>
            </a:r>
            <a:endParaRPr lang="en-US" sz="3200" dirty="0"/>
          </a:p>
        </p:txBody>
      </p:sp>
      <p:sp>
        <p:nvSpPr>
          <p:cNvPr id="4" name="Text 2"/>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5F6E68"/>
                </a:solidFill>
                <a:latin typeface="Calibri" pitchFamily="34" charset="0"/>
                <a:ea typeface="Calibri" pitchFamily="34" charset="-122"/>
                <a:cs typeface="Calibri" pitchFamily="34" charset="-120"/>
              </a:rPr>
              <a:t>ZENIVA | Dept. of Information Technology</a:t>
            </a:r>
            <a:endParaRPr lang="en-US" sz="1000" dirty="0"/>
          </a:p>
        </p:txBody>
      </p:sp>
      <p:sp>
        <p:nvSpPr>
          <p:cNvPr id="5" name="Text 3"/>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5F6E68"/>
                </a:solidFill>
                <a:latin typeface="Calibri" pitchFamily="34" charset="0"/>
                <a:ea typeface="Calibri" pitchFamily="34" charset="-122"/>
                <a:cs typeface="Calibri" pitchFamily="34" charset="-120"/>
              </a:rPr>
              <a:t>13 / 14</a:t>
            </a:r>
            <a:endParaRPr lang="en-US" sz="1000" dirty="0"/>
          </a:p>
        </p:txBody>
      </p:sp>
      <p:pic>
        <p:nvPicPr>
          <p:cNvPr id="6" name="Image 0" descr="shot.png"/>
          <p:cNvPicPr>
            <a:picLocks noChangeAspect="1"/>
          </p:cNvPicPr>
          <p:nvPr/>
        </p:nvPicPr>
        <p:blipFill>
          <a:blip r:embed="rId3"/>
          <a:stretch>
            <a:fillRect/>
          </a:stretch>
        </p:blipFill>
        <p:spPr>
          <a:xfrm>
            <a:off x="548640" y="1371600"/>
            <a:ext cx="7498080" cy="3602736"/>
          </a:xfrm>
          <a:prstGeom prst="rect">
            <a:avLst/>
          </a:prstGeom>
        </p:spPr>
      </p:pic>
      <p:sp>
        <p:nvSpPr>
          <p:cNvPr id="7" name="Shape 4"/>
          <p:cNvSpPr/>
          <p:nvPr/>
        </p:nvSpPr>
        <p:spPr>
          <a:xfrm>
            <a:off x="548640" y="1371600"/>
            <a:ext cx="7498080" cy="3602736"/>
          </a:xfrm>
          <a:prstGeom prst="rect">
            <a:avLst/>
          </a:prstGeom>
          <a:ln w="12700">
            <a:solidFill>
              <a:srgbClr val="DDE5E1"/>
            </a:solidFill>
            <a:prstDash val="solid"/>
          </a:ln>
        </p:spPr>
      </p:sp>
      <p:sp>
        <p:nvSpPr>
          <p:cNvPr id="8" name="Shape 5"/>
          <p:cNvSpPr/>
          <p:nvPr/>
        </p:nvSpPr>
        <p:spPr>
          <a:xfrm>
            <a:off x="8321040" y="1371600"/>
            <a:ext cx="329184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9" name="Text 6"/>
          <p:cNvSpPr txBox="1"/>
          <p:nvPr/>
        </p:nvSpPr>
        <p:spPr>
          <a:xfrm>
            <a:off x="8503920" y="1371600"/>
            <a:ext cx="1463040" cy="804672"/>
          </a:xfrm>
          <a:prstGeom prst="rect">
            <a:avLst/>
          </a:prstGeom>
          <a:noFill/>
          <a:ln/>
        </p:spPr>
        <p:txBody>
          <a:bodyPr wrap="square" lIns="0" tIns="0" rIns="0" bIns="0" rtlCol="0" anchor="ctr"/>
          <a:lstStyle/>
          <a:p>
            <a:pPr marL="0" indent="0">
              <a:buNone/>
            </a:pPr>
            <a:r>
              <a:rPr lang="en-US" sz="2200" b="1" dirty="0">
                <a:solidFill>
                  <a:srgbClr val="0B3B2E"/>
                </a:solidFill>
                <a:latin typeface="Cambria" pitchFamily="34" charset="0"/>
                <a:ea typeface="Cambria" pitchFamily="34" charset="-122"/>
                <a:cs typeface="Cambria" pitchFamily="34" charset="-120"/>
              </a:rPr>
              <a:t>12,850+</a:t>
            </a:r>
            <a:endParaRPr lang="en-US" sz="2200" dirty="0"/>
          </a:p>
        </p:txBody>
      </p:sp>
      <p:sp>
        <p:nvSpPr>
          <p:cNvPr id="10" name="Text 7"/>
          <p:cNvSpPr txBox="1"/>
          <p:nvPr/>
        </p:nvSpPr>
        <p:spPr>
          <a:xfrm>
            <a:off x="9966960" y="1371600"/>
            <a:ext cx="1554480" cy="804672"/>
          </a:xfrm>
          <a:prstGeom prst="rect">
            <a:avLst/>
          </a:prstGeom>
          <a:noFill/>
          <a:ln/>
        </p:spPr>
        <p:txBody>
          <a:bodyPr wrap="square" lIns="0" tIns="0" rIns="0" bIns="0" rtlCol="0" anchor="ctr"/>
          <a:lstStyle/>
          <a:p>
            <a:pPr marL="0" indent="0">
              <a:buNone/>
            </a:pPr>
            <a:r>
              <a:rPr lang="en-US" sz="1200" dirty="0">
                <a:solidFill>
                  <a:srgbClr val="5F6E68"/>
                </a:solidFill>
                <a:latin typeface="Calibri" pitchFamily="34" charset="0"/>
                <a:ea typeface="Calibri" pitchFamily="34" charset="-122"/>
                <a:cs typeface="Calibri" pitchFamily="34" charset="-120"/>
              </a:rPr>
              <a:t>Happy Patients</a:t>
            </a:r>
            <a:endParaRPr lang="en-US" sz="1200" dirty="0"/>
          </a:p>
        </p:txBody>
      </p:sp>
      <p:sp>
        <p:nvSpPr>
          <p:cNvPr id="11" name="Shape 8"/>
          <p:cNvSpPr/>
          <p:nvPr/>
        </p:nvSpPr>
        <p:spPr>
          <a:xfrm>
            <a:off x="8321040" y="2286000"/>
            <a:ext cx="329184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2" name="Text 9"/>
          <p:cNvSpPr txBox="1"/>
          <p:nvPr/>
        </p:nvSpPr>
        <p:spPr>
          <a:xfrm>
            <a:off x="8503920" y="2286000"/>
            <a:ext cx="1463040" cy="804672"/>
          </a:xfrm>
          <a:prstGeom prst="rect">
            <a:avLst/>
          </a:prstGeom>
          <a:noFill/>
          <a:ln/>
        </p:spPr>
        <p:txBody>
          <a:bodyPr wrap="square" lIns="0" tIns="0" rIns="0" bIns="0" rtlCol="0" anchor="ctr"/>
          <a:lstStyle/>
          <a:p>
            <a:pPr marL="0" indent="0">
              <a:buNone/>
            </a:pPr>
            <a:r>
              <a:rPr lang="en-US" sz="2200" b="1" dirty="0">
                <a:solidFill>
                  <a:srgbClr val="0B3B2E"/>
                </a:solidFill>
                <a:latin typeface="Cambria" pitchFamily="34" charset="0"/>
                <a:ea typeface="Cambria" pitchFamily="34" charset="-122"/>
                <a:cs typeface="Cambria" pitchFamily="34" charset="-120"/>
              </a:rPr>
              <a:t>150+</a:t>
            </a:r>
            <a:endParaRPr lang="en-US" sz="2200" dirty="0"/>
          </a:p>
        </p:txBody>
      </p:sp>
      <p:sp>
        <p:nvSpPr>
          <p:cNvPr id="13" name="Text 10"/>
          <p:cNvSpPr txBox="1"/>
          <p:nvPr/>
        </p:nvSpPr>
        <p:spPr>
          <a:xfrm>
            <a:off x="9966960" y="2286000"/>
            <a:ext cx="1554480" cy="804672"/>
          </a:xfrm>
          <a:prstGeom prst="rect">
            <a:avLst/>
          </a:prstGeom>
          <a:noFill/>
          <a:ln/>
        </p:spPr>
        <p:txBody>
          <a:bodyPr wrap="square" lIns="0" tIns="0" rIns="0" bIns="0" rtlCol="0" anchor="ctr"/>
          <a:lstStyle/>
          <a:p>
            <a:pPr marL="0" indent="0">
              <a:buNone/>
            </a:pPr>
            <a:r>
              <a:rPr lang="en-US" sz="1200" dirty="0">
                <a:solidFill>
                  <a:srgbClr val="5F6E68"/>
                </a:solidFill>
                <a:latin typeface="Calibri" pitchFamily="34" charset="0"/>
                <a:ea typeface="Calibri" pitchFamily="34" charset="-122"/>
                <a:cs typeface="Calibri" pitchFamily="34" charset="-120"/>
              </a:rPr>
              <a:t>Certified Vaidyas</a:t>
            </a:r>
            <a:endParaRPr lang="en-US" sz="1200" dirty="0"/>
          </a:p>
        </p:txBody>
      </p:sp>
      <p:sp>
        <p:nvSpPr>
          <p:cNvPr id="14" name="Shape 11"/>
          <p:cNvSpPr/>
          <p:nvPr/>
        </p:nvSpPr>
        <p:spPr>
          <a:xfrm>
            <a:off x="8321040" y="3200400"/>
            <a:ext cx="329184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5" name="Text 12"/>
          <p:cNvSpPr txBox="1"/>
          <p:nvPr/>
        </p:nvSpPr>
        <p:spPr>
          <a:xfrm>
            <a:off x="8503920" y="3200400"/>
            <a:ext cx="1463040" cy="804672"/>
          </a:xfrm>
          <a:prstGeom prst="rect">
            <a:avLst/>
          </a:prstGeom>
          <a:noFill/>
          <a:ln/>
        </p:spPr>
        <p:txBody>
          <a:bodyPr wrap="square" lIns="0" tIns="0" rIns="0" bIns="0" rtlCol="0" anchor="ctr"/>
          <a:lstStyle/>
          <a:p>
            <a:pPr marL="0" indent="0">
              <a:buNone/>
            </a:pPr>
            <a:r>
              <a:rPr lang="en-US" sz="2200" b="1" dirty="0">
                <a:solidFill>
                  <a:srgbClr val="0B3B2E"/>
                </a:solidFill>
                <a:latin typeface="Cambria" pitchFamily="34" charset="0"/>
                <a:ea typeface="Cambria" pitchFamily="34" charset="-122"/>
                <a:cs typeface="Cambria" pitchFamily="34" charset="-120"/>
              </a:rPr>
              <a:t>0.8s</a:t>
            </a:r>
            <a:endParaRPr lang="en-US" sz="2200" dirty="0"/>
          </a:p>
        </p:txBody>
      </p:sp>
      <p:sp>
        <p:nvSpPr>
          <p:cNvPr id="16" name="Text 13"/>
          <p:cNvSpPr txBox="1"/>
          <p:nvPr/>
        </p:nvSpPr>
        <p:spPr>
          <a:xfrm>
            <a:off x="9966960" y="3200400"/>
            <a:ext cx="1554480" cy="804672"/>
          </a:xfrm>
          <a:prstGeom prst="rect">
            <a:avLst/>
          </a:prstGeom>
          <a:noFill/>
          <a:ln/>
        </p:spPr>
        <p:txBody>
          <a:bodyPr wrap="square" lIns="0" tIns="0" rIns="0" bIns="0" rtlCol="0" anchor="ctr"/>
          <a:lstStyle/>
          <a:p>
            <a:pPr marL="0" indent="0">
              <a:buNone/>
            </a:pPr>
            <a:r>
              <a:rPr lang="en-US" sz="1200" dirty="0">
                <a:solidFill>
                  <a:srgbClr val="5F6E68"/>
                </a:solidFill>
                <a:latin typeface="Calibri" pitchFamily="34" charset="0"/>
                <a:ea typeface="Calibri" pitchFamily="34" charset="-122"/>
                <a:cs typeface="Calibri" pitchFamily="34" charset="-120"/>
              </a:rPr>
              <a:t>AI Response Time</a:t>
            </a:r>
            <a:endParaRPr lang="en-US" sz="1200" dirty="0"/>
          </a:p>
        </p:txBody>
      </p:sp>
      <p:sp>
        <p:nvSpPr>
          <p:cNvPr id="17" name="Shape 14"/>
          <p:cNvSpPr/>
          <p:nvPr/>
        </p:nvSpPr>
        <p:spPr>
          <a:xfrm>
            <a:off x="8321040" y="4114800"/>
            <a:ext cx="3291840" cy="804672"/>
          </a:xfrm>
          <a:prstGeom prst="roundRect">
            <a:avLst>
              <a:gd name="adj" fmla="val 9091"/>
            </a:avLst>
          </a:prstGeom>
          <a:solidFill>
            <a:srgbClr val="FFFFFF"/>
          </a:solidFill>
          <a:ln w="9525">
            <a:solidFill>
              <a:srgbClr val="DDE5E1"/>
            </a:solidFill>
            <a:prstDash val="solid"/>
          </a:ln>
          <a:effectLst>
            <a:outerShdw blurRad="101600" dist="25400" dir="5400000" algn="bl" rotWithShape="0">
              <a:srgbClr val="000000">
                <a:alpha val="8000"/>
              </a:srgbClr>
            </a:outerShdw>
          </a:effectLst>
        </p:spPr>
      </p:sp>
      <p:sp>
        <p:nvSpPr>
          <p:cNvPr id="18" name="Text 15"/>
          <p:cNvSpPr txBox="1"/>
          <p:nvPr/>
        </p:nvSpPr>
        <p:spPr>
          <a:xfrm>
            <a:off x="8503920" y="4114800"/>
            <a:ext cx="1463040" cy="804672"/>
          </a:xfrm>
          <a:prstGeom prst="rect">
            <a:avLst/>
          </a:prstGeom>
          <a:noFill/>
          <a:ln/>
        </p:spPr>
        <p:txBody>
          <a:bodyPr wrap="square" lIns="0" tIns="0" rIns="0" bIns="0" rtlCol="0" anchor="ctr"/>
          <a:lstStyle/>
          <a:p>
            <a:pPr marL="0" indent="0">
              <a:buNone/>
            </a:pPr>
            <a:r>
              <a:rPr lang="en-US" sz="2200" b="1" dirty="0">
                <a:solidFill>
                  <a:srgbClr val="0B3B2E"/>
                </a:solidFill>
                <a:latin typeface="Cambria" pitchFamily="34" charset="0"/>
                <a:ea typeface="Cambria" pitchFamily="34" charset="-122"/>
                <a:cs typeface="Cambria" pitchFamily="34" charset="-120"/>
              </a:rPr>
              <a:t>100%</a:t>
            </a:r>
            <a:endParaRPr lang="en-US" sz="2200" dirty="0"/>
          </a:p>
        </p:txBody>
      </p:sp>
      <p:sp>
        <p:nvSpPr>
          <p:cNvPr id="19" name="Text 16"/>
          <p:cNvSpPr txBox="1"/>
          <p:nvPr/>
        </p:nvSpPr>
        <p:spPr>
          <a:xfrm>
            <a:off x="9966960" y="4114800"/>
            <a:ext cx="1554480" cy="804672"/>
          </a:xfrm>
          <a:prstGeom prst="rect">
            <a:avLst/>
          </a:prstGeom>
          <a:noFill/>
          <a:ln/>
        </p:spPr>
        <p:txBody>
          <a:bodyPr wrap="square" lIns="0" tIns="0" rIns="0" bIns="0" rtlCol="0" anchor="ctr"/>
          <a:lstStyle/>
          <a:p>
            <a:pPr marL="0" indent="0">
              <a:buNone/>
            </a:pPr>
            <a:r>
              <a:rPr lang="en-US" sz="1200" dirty="0">
                <a:solidFill>
                  <a:srgbClr val="5F6E68"/>
                </a:solidFill>
                <a:latin typeface="Calibri" pitchFamily="34" charset="0"/>
                <a:ea typeface="Calibri" pitchFamily="34" charset="-122"/>
                <a:cs typeface="Calibri" pitchFamily="34" charset="-120"/>
              </a:rPr>
              <a:t>Evidence-Based</a:t>
            </a:r>
            <a:endParaRPr lang="en-US" sz="1200" dirty="0"/>
          </a:p>
        </p:txBody>
      </p:sp>
      <p:sp>
        <p:nvSpPr>
          <p:cNvPr id="20" name="Text 17"/>
          <p:cNvSpPr txBox="1"/>
          <p:nvPr/>
        </p:nvSpPr>
        <p:spPr>
          <a:xfrm>
            <a:off x="548640" y="5212080"/>
            <a:ext cx="11064240" cy="548640"/>
          </a:xfrm>
          <a:prstGeom prst="rect">
            <a:avLst/>
          </a:prstGeom>
          <a:noFill/>
          <a:ln/>
        </p:spPr>
        <p:txBody>
          <a:bodyPr wrap="square" lIns="0" tIns="0" rIns="0" bIns="0" rtlCol="0" anchor="t"/>
          <a:lstStyle/>
          <a:p>
            <a:pPr marL="0" indent="0">
              <a:buNone/>
            </a:pPr>
            <a:r>
              <a:rPr lang="en-US" sz="1300" dirty="0">
                <a:solidFill>
                  <a:srgbClr val="5F6E68"/>
                </a:solidFill>
                <a:latin typeface="Calibri" pitchFamily="34" charset="0"/>
                <a:ea typeface="Calibri" pitchFamily="34" charset="-122"/>
                <a:cs typeface="Calibri" pitchFamily="34" charset="-120"/>
              </a:rPr>
              <a:t>Zeniva AI public overview: Patient Login, Talk with Zeniva AI Voice and the Doctor Portal — now including Hospital ERP &amp; Pharmacy.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3B2E"/>
        </a:solidFill>
        <a:effectLst/>
      </p:bgPr>
    </p:bg>
    <p:spTree>
      <p:nvGrpSpPr>
        <p:cNvPr id="1" name=""/>
        <p:cNvGrpSpPr/>
        <p:nvPr/>
      </p:nvGrpSpPr>
      <p:grpSpPr>
        <a:xfrm>
          <a:off x="0" y="0"/>
          <a:ext cx="0" cy="0"/>
          <a:chOff x="0" y="0"/>
          <a:chExt cx="0" cy="0"/>
        </a:xfrm>
      </p:grpSpPr>
      <p:sp>
        <p:nvSpPr>
          <p:cNvPr id="2" name="Text 0"/>
          <p:cNvSpPr txBox="1"/>
          <p:nvPr/>
        </p:nvSpPr>
        <p:spPr>
          <a:xfrm>
            <a:off x="548640" y="6428232"/>
            <a:ext cx="5486400" cy="228600"/>
          </a:xfrm>
          <a:prstGeom prst="rect">
            <a:avLst/>
          </a:prstGeom>
          <a:noFill/>
          <a:ln/>
        </p:spPr>
        <p:txBody>
          <a:bodyPr wrap="square" lIns="0" tIns="0" rIns="0" bIns="0" rtlCol="0" anchor="t"/>
          <a:lstStyle/>
          <a:p>
            <a:pPr marL="0" indent="0">
              <a:buNone/>
            </a:pPr>
            <a:r>
              <a:rPr lang="en-US" sz="1000" dirty="0">
                <a:solidFill>
                  <a:srgbClr val="9FB8AE"/>
                </a:solidFill>
                <a:latin typeface="Calibri" pitchFamily="34" charset="0"/>
                <a:ea typeface="Calibri" pitchFamily="34" charset="-122"/>
                <a:cs typeface="Calibri" pitchFamily="34" charset="-120"/>
              </a:rPr>
              <a:t>ZENIVA | Dept. of Information Technology</a:t>
            </a:r>
            <a:endParaRPr lang="en-US" sz="1000" dirty="0"/>
          </a:p>
        </p:txBody>
      </p:sp>
      <p:sp>
        <p:nvSpPr>
          <p:cNvPr id="3" name="Text 1"/>
          <p:cNvSpPr txBox="1"/>
          <p:nvPr/>
        </p:nvSpPr>
        <p:spPr>
          <a:xfrm>
            <a:off x="10698480" y="6428232"/>
            <a:ext cx="941832" cy="228600"/>
          </a:xfrm>
          <a:prstGeom prst="rect">
            <a:avLst/>
          </a:prstGeom>
          <a:noFill/>
          <a:ln/>
        </p:spPr>
        <p:txBody>
          <a:bodyPr wrap="square" lIns="0" tIns="0" rIns="0" bIns="0" rtlCol="0" anchor="t"/>
          <a:lstStyle/>
          <a:p>
            <a:pPr marL="0" indent="0" algn="r">
              <a:buNone/>
            </a:pPr>
            <a:r>
              <a:rPr lang="en-US" sz="1000" dirty="0">
                <a:solidFill>
                  <a:srgbClr val="9FB8AE"/>
                </a:solidFill>
                <a:latin typeface="Calibri" pitchFamily="34" charset="0"/>
                <a:ea typeface="Calibri" pitchFamily="34" charset="-122"/>
                <a:cs typeface="Calibri" pitchFamily="34" charset="-120"/>
              </a:rPr>
              <a:t>14 / 14</a:t>
            </a:r>
            <a:endParaRPr lang="en-US" sz="1000" dirty="0"/>
          </a:p>
        </p:txBody>
      </p:sp>
      <p:sp>
        <p:nvSpPr>
          <p:cNvPr id="4" name="Shape 2"/>
          <p:cNvSpPr/>
          <p:nvPr/>
        </p:nvSpPr>
        <p:spPr>
          <a:xfrm>
            <a:off x="5641848" y="914400"/>
            <a:ext cx="914400" cy="914400"/>
          </a:xfrm>
          <a:prstGeom prst="ellipse">
            <a:avLst/>
          </a:prstGeom>
          <a:solidFill>
            <a:srgbClr val="C9973B"/>
          </a:solidFill>
          <a:ln w="12700">
            <a:solidFill>
              <a:srgbClr val="C9973B"/>
            </a:solidFill>
            <a:prstDash val="solid"/>
          </a:ln>
        </p:spPr>
      </p:sp>
      <p:pic>
        <p:nvPicPr>
          <p:cNvPr id="5" name="Image 0" descr="preencoded.png"/>
          <p:cNvPicPr>
            <a:picLocks noChangeAspect="1"/>
          </p:cNvPicPr>
          <p:nvPr/>
        </p:nvPicPr>
        <p:blipFill>
          <a:blip r:embed="rId3"/>
          <a:stretch>
            <a:fillRect/>
          </a:stretch>
        </p:blipFill>
        <p:spPr>
          <a:xfrm>
            <a:off x="5888736" y="1161288"/>
            <a:ext cx="420624" cy="420624"/>
          </a:xfrm>
          <a:prstGeom prst="rect">
            <a:avLst/>
          </a:prstGeom>
        </p:spPr>
      </p:pic>
      <p:sp>
        <p:nvSpPr>
          <p:cNvPr id="6" name="Text 3"/>
          <p:cNvSpPr txBox="1"/>
          <p:nvPr/>
        </p:nvSpPr>
        <p:spPr>
          <a:xfrm>
            <a:off x="548640" y="2057400"/>
            <a:ext cx="11091672" cy="914400"/>
          </a:xfrm>
          <a:prstGeom prst="rect">
            <a:avLst/>
          </a:prstGeom>
          <a:noFill/>
          <a:ln/>
        </p:spPr>
        <p:txBody>
          <a:bodyPr wrap="square" lIns="0" tIns="0" rIns="0" bIns="0" rtlCol="0" anchor="t"/>
          <a:lstStyle/>
          <a:p>
            <a:pPr marL="0" indent="0" algn="ctr">
              <a:buNone/>
            </a:pPr>
            <a:r>
              <a:rPr lang="en-US" sz="5400" b="1" dirty="0">
                <a:solidFill>
                  <a:srgbClr val="FFFFFF"/>
                </a:solidFill>
                <a:latin typeface="Cambria" pitchFamily="34" charset="0"/>
                <a:ea typeface="Cambria" pitchFamily="34" charset="-122"/>
                <a:cs typeface="Cambria" pitchFamily="34" charset="-120"/>
              </a:rPr>
              <a:t>Thank You</a:t>
            </a:r>
            <a:endParaRPr lang="en-US" sz="5400" dirty="0"/>
          </a:p>
        </p:txBody>
      </p:sp>
      <p:sp>
        <p:nvSpPr>
          <p:cNvPr id="7" name="Text 4"/>
          <p:cNvSpPr txBox="1"/>
          <p:nvPr/>
        </p:nvSpPr>
        <p:spPr>
          <a:xfrm>
            <a:off x="548640" y="3017520"/>
            <a:ext cx="11091672" cy="457200"/>
          </a:xfrm>
          <a:prstGeom prst="rect">
            <a:avLst/>
          </a:prstGeom>
          <a:noFill/>
          <a:ln/>
        </p:spPr>
        <p:txBody>
          <a:bodyPr wrap="square" lIns="0" tIns="0" rIns="0" bIns="0" rtlCol="0" anchor="t"/>
          <a:lstStyle/>
          <a:p>
            <a:pPr marL="0" indent="0" algn="ctr">
              <a:buNone/>
            </a:pPr>
            <a:r>
              <a:rPr lang="en-US" sz="2000" dirty="0">
                <a:solidFill>
                  <a:srgbClr val="C9973B"/>
                </a:solidFill>
                <a:latin typeface="Calibri" pitchFamily="34" charset="0"/>
                <a:ea typeface="Calibri" pitchFamily="34" charset="-122"/>
                <a:cs typeface="Calibri" pitchFamily="34" charset="-120"/>
              </a:rPr>
              <a:t>Questions &amp; Discussion — Zeniva</a:t>
            </a:r>
            <a:endParaRPr lang="en-US" sz="2000" dirty="0"/>
          </a:p>
        </p:txBody>
      </p:sp>
      <p:sp>
        <p:nvSpPr>
          <p:cNvPr id="8" name="Text 5"/>
          <p:cNvSpPr txBox="1"/>
          <p:nvPr/>
        </p:nvSpPr>
        <p:spPr>
          <a:xfrm>
            <a:off x="548640" y="3611880"/>
            <a:ext cx="11091672" cy="731520"/>
          </a:xfrm>
          <a:prstGeom prst="rect">
            <a:avLst/>
          </a:prstGeom>
          <a:noFill/>
          <a:ln/>
        </p:spPr>
        <p:txBody>
          <a:bodyPr wrap="square" lIns="0" tIns="0" rIns="0" bIns="0" rtlCol="0" anchor="t"/>
          <a:lstStyle/>
          <a:p>
            <a:pPr marL="0" indent="0" algn="ctr">
              <a:buNone/>
            </a:pPr>
            <a:r>
              <a:rPr lang="en-US" sz="1400" dirty="0">
                <a:solidFill>
                  <a:srgbClr val="BBD0C7"/>
                </a:solidFill>
                <a:latin typeface="Calibri" pitchFamily="34" charset="0"/>
                <a:ea typeface="Calibri" pitchFamily="34" charset="-122"/>
                <a:cs typeface="Calibri" pitchFamily="34" charset="-120"/>
              </a:rPr>
              <a:t>Department of Information Technology</a:t>
            </a:r>
            <a:endParaRPr lang="en-US" sz="1400" dirty="0"/>
          </a:p>
          <a:p>
            <a:pPr marL="0" indent="0" algn="ctr">
              <a:buNone/>
            </a:pPr>
            <a:r>
              <a:rPr lang="en-US" sz="1400" dirty="0">
                <a:solidFill>
                  <a:srgbClr val="BBD0C7"/>
                </a:solidFill>
                <a:latin typeface="Calibri" pitchFamily="34" charset="0"/>
                <a:ea typeface="Calibri" pitchFamily="34" charset="-122"/>
                <a:cs typeface="Calibri" pitchFamily="34" charset="-120"/>
              </a:rPr>
              <a:t>Tulsiramji Gaikwad-Patil College of Engineering &amp; Technology</a:t>
            </a:r>
            <a:endParaRPr lang="en-US" sz="1400" dirty="0"/>
          </a:p>
        </p:txBody>
      </p:sp>
      <p:sp>
        <p:nvSpPr>
          <p:cNvPr id="9" name="Text 6"/>
          <p:cNvSpPr txBox="1"/>
          <p:nvPr/>
        </p:nvSpPr>
        <p:spPr>
          <a:xfrm>
            <a:off x="548640" y="4617720"/>
            <a:ext cx="11091672" cy="274320"/>
          </a:xfrm>
          <a:prstGeom prst="rect">
            <a:avLst/>
          </a:prstGeom>
          <a:noFill/>
          <a:ln/>
        </p:spPr>
        <p:txBody>
          <a:bodyPr wrap="square" lIns="0" tIns="0" rIns="0" bIns="0" rtlCol="0" anchor="t"/>
          <a:lstStyle/>
          <a:p>
            <a:pPr marL="0" indent="0" algn="ctr">
              <a:buNone/>
            </a:pPr>
            <a:r>
              <a:rPr lang="en-US" sz="1100" b="1" kern="0" spc="300" dirty="0">
                <a:solidFill>
                  <a:srgbClr val="C9973B"/>
                </a:solidFill>
                <a:latin typeface="Calibri" pitchFamily="34" charset="0"/>
                <a:ea typeface="Calibri" pitchFamily="34" charset="-122"/>
                <a:cs typeface="Calibri" pitchFamily="34" charset="-120"/>
              </a:rPr>
              <a:t>TEAM MEMBERS</a:t>
            </a:r>
            <a:endParaRPr lang="en-US" sz="1100" dirty="0"/>
          </a:p>
        </p:txBody>
      </p:sp>
      <p:sp>
        <p:nvSpPr>
          <p:cNvPr id="10" name="Text 7"/>
          <p:cNvSpPr txBox="1"/>
          <p:nvPr/>
        </p:nvSpPr>
        <p:spPr>
          <a:xfrm>
            <a:off x="548640" y="4937760"/>
            <a:ext cx="11091672" cy="32004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Bhupesh Indurkar  •  Vivek Rathod  •  Dhrup Sonkar</a:t>
            </a:r>
            <a:endParaRPr lang="en-US" sz="1500" dirty="0"/>
          </a:p>
        </p:txBody>
      </p:sp>
      <p:sp>
        <p:nvSpPr>
          <p:cNvPr id="11" name="Text 8"/>
          <p:cNvSpPr txBox="1"/>
          <p:nvPr/>
        </p:nvSpPr>
        <p:spPr>
          <a:xfrm>
            <a:off x="548640" y="5303520"/>
            <a:ext cx="11091672" cy="320040"/>
          </a:xfrm>
          <a:prstGeom prst="rect">
            <a:avLst/>
          </a:prstGeom>
          <a:noFill/>
          <a:ln/>
        </p:spPr>
        <p:txBody>
          <a:bodyPr wrap="square" lIns="0" tIns="0" rIns="0" bIns="0" rtlCol="0" anchor="t"/>
          <a:lstStyle/>
          <a:p>
            <a:pPr marL="0" indent="0" algn="ctr">
              <a:buNone/>
            </a:pPr>
            <a:r>
              <a:rPr lang="en-US" sz="1500" dirty="0">
                <a:solidFill>
                  <a:srgbClr val="FFFFFF"/>
                </a:solidFill>
                <a:latin typeface="Calibri" pitchFamily="34" charset="0"/>
                <a:ea typeface="Calibri" pitchFamily="34" charset="-122"/>
                <a:cs typeface="Calibri" pitchFamily="34" charset="-120"/>
              </a:rPr>
              <a:t>Momita Lande  •  Shreya Satpute  •  Sachin Limbule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1702</Words>
  <Application>Microsoft Office PowerPoint</Application>
  <PresentationFormat>Widescreen</PresentationFormat>
  <Paragraphs>334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BHUPESH INDURKAR</cp:lastModifiedBy>
  <cp:revision>2</cp:revision>
  <dcterms:created xsi:type="dcterms:W3CDTF">2026-09-29T15:29:35Z</dcterms:created>
  <dcterms:modified xsi:type="dcterms:W3CDTF">2026-09-29T15:31:33Z</dcterms:modified>
</cp:coreProperties>
</file>